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a single screen, the reason this exists. Whizlabs ships a lot of surfaces — a marketing site, a learner app, practice tests, labs — and right now every one of them is a fresh set of decisions. Someone picks an orange, someone picks a spacing, someone picks a shadow. None of it is wrong on its own, but together it stops looking like one company. This deck is the fix: one place where those decisions are already made, so nobody has to make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where we're going. Foundations first — logo, colour, type, space — because those are the pieces everything else is built from. Then motion and states, then the components, then two full product surfaces built out of them. And I'll finish honestly, on what's still open. Roughly twenty minutes, and stop me wherever.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logo, because it's the thing that gets misused most. Three variants, and the reason there are exactly three is that people were previously improvising — stretching the lockup, dropping it on a dark background where the wordmark disappeared, or re-typing WHIZLABS in whatever font was to hand. Now there's a correct answer for every context. And critically, size sets the height, not the width — that one rule prevents most of the distortion I used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decision that saved the most time. Rather than invent a palette and hope it matched the logo, I pulled the three gradient stops straight out of the vector and built everything outward from them. So when you ask why the primary button is this particular orange — it isn't a taste call anybody has to defend. It's the middle of your own logo. That means nobody has to argue about brand colour again, and nothing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ramps are what make that usable in practice. One brand orange isn't enough to build an interface — you need a hover state, a selected row, a disabled state, a tint behind a warning. Without a defined ramp, people eyeball those, and eyeballed tints are where inconsistency creeps in fastest. The neutral is worth a word too: it's deliberately warm with no blue in it, because a cool grey next to this orange makes both look slightly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Poppins is your typeface, so it's the system's typeface — no substitution, no negotiation. What's needed here isn't the font choice, it's the settings. Left alone, Poppins gets used at whatever weight and tracking each person likes, and the result reads as several different brands. Fixing the weights, the tracking and the line-height means a heading built by someone who's never seen this deck still comes out looking like Whizlabs.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rules are the ones people push back on, so let me justify them. Poppins is geometric and wide, which means the habits borrowed from other typefaces actively hurt it — 800 goes clumsy at headline sizes, tight tracking closes the counters, and standard web line-height makes paragraphs feel cramped because there's more ink on every line. Encoding that as three rules means nobody has to learn it the slow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 radius and elevation are the least glamorous slide here and probably the highest-value one. This is where inconsistency is most visible and least defensible — a card with a fourteen-pixel corner next to one with eight, padding that's sixteen here and twenty there. Nobody notices any single instance. Everybody notices the accumulation. Fixing it to one scale means a screen assembled by two different people still lines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states matter more than they look like they should, because they're what makes an interface feel finished. Hover, press, focus, selection — one behaviour each, applied everywhere. And focus is the accessibility one I'd ask you not to trade away: it's the only way a keyboard user knows where they are. Note also what's absent. No bounce, no spring, no scroll animation. On a platform where people sit timed exams, motion that draws attention to itself is a cost,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Twenty-six components, and the point of the inventory is coverage. If something a designer needs isn't in here, they'll build it themselves, and that's the moment the system starts leaking. So this set is sized to actually build your screens — not a showcase, a working kit. Each one carries a props contract and a usage note, so an engineer can pick it up without asking a designer what it's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seeing the components as real objects rather than a list. This is the payoff of everything before it — the button is the logo gradient, the badge tones are the status colours, the selected answer uses the one selection idiom, the progress fill is the same ramp. None of that was decided on this slide. It all came for free from the foundations, which is exactly the test of whether a system 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Buttons carry more weight than any other component, so they get the most definition. Six variants, four sizes, and a rule I'd hold to: one primary per view. The moment a screen has two gradient buttons, neither reads as the main action. Notice the primary is the logo gradient and hover flattens it to solid — that's not decoration, it's how you tell pressed-and-loading apart from idle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components people constantly confuse, so the distinction is worth stating out loud. A badge is read-only — it tells you something's state. A tag is interactive — you click it to filter. Same rough shape, completely different contract, and mixing them teaches users that some pills do nothing when clicked. That's why the badge is a pill and the tag is a rectangle: the shape itself signals which one you're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recipe, and I mean one. White, hairline border, fourteen-pixel corner, small shadow. The only permitted decoration is that four-pixel gradient rule across the top. I'm being deliberately strict because cards are where systems fall apart fastest — everyone wants their own variant, and six card styles on a page is what makes a product look assembled by committee. Hover lifts two pixels, which is enough to say clickable without anything jumping.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are where accessibility either happens or doesn't. Every one of these has a visible label, room for a hint, and a distinct error state — because a red border alone doesn't tell a screen reader anything, and a placeholder that vanishes when you type isn't a label. The focus ring is the orange at twenty-eight percent, and I'd ask you never to remove it. The pill-shaped search is the one intentional exception to the ten-pixel radius, because search reads as a different kind of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Checkbox, radio, switch — and the rule that decides between them. Checkbox for many-of-many, radio for one-of-many, switch only for something that applies the instant you flip it. A switch sitting above a Save button is a bug, not a style choice. The boxed radio on the right is the one I'd draw your attention to: it's the practice-test answer option, and it's a distinct treatment because tapping a small circle on a phone during a timed exam is genuinely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components exist so that nothing on the platform fails silently. Four alert tones, and the important one for you is warning — it sits far enough from brand orange to still read as a caution rather than as branding, which matters when the message is fifteen minutes remaining. The score ring is purpose-built: it knows the pass mark, so it turns green or red on its own rather than making a designer remember to colour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Navigation is where a learner either knows where they are or doesn't. Underline tabs for page-level sections, pill tabs for switching a view inside a card — two different jobs that look similar enough that people reach for the wrong one. Counts on the tabs matter more than they look: telling someone there are forty-two curriculum items before they click is the difference between confident navigation and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ones that don't exist in a generic component library, and they're the reason this is a Whizlabs system rather than a starter kit. A course card has to hold a vendor, a level, a question count and a price without becoming a wall of text. A lesson row has to show done, current and not-yet at a glance. A stat tile has to make one number the hero. If we got only these four right, the system would still earn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enter a number, and the choice between them isn't arbitrary. A slider is for approximate values where feeling the range matters. A stepper is for exact small integers — seat counts, attempt limits. A rating is a scale with social meaning. Getting this wrong is how you end up with a slider for someone's team size, which nobody can set precisely, or a text field for a rating, which nobody fills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Autocomplete is doing real work on a platform with five hundred exams — nobody browses to find SAA-C03, they type it. The meta column on the right carries the question count, so the choice is informed before the click. Transfer list is deliberately scoped to admin surfaces only: it's a good pattern for a manager assigning exams to a team, and a bad one for a learner mid-study.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are where the mono face earns its place. Scores, exam codes and durations all go mono so the digits align down the column — scan a list of results and your eye finds the outlier immediately. That's not a stylistic preference, it's the difference between a table you can read and one you have to parse. The uppercase header band and the hairline rows keep the structure visible without adding borders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versus Card is the distinction people skip, and it causes real mess. A card represents one content object — a course, a result, a lesson. Paper is just a surface: a panel, a well, a sheet. If everything is a Card, then card-specific behaviour like hover-lift starts appearing on things that aren't clickable, and the interface lies about what you can press. Accordion gets the orange-50 open state, which is the same selection idiom as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interrupt, ordered by how much they cost the learner. A snackbar confirms and disappears. A tooltip explains on hover. A dialog demands a decision. A backdrop stops everything. The rule I'd hold to: use the cheapest one that does the job. On a platform where people sit timed exams, a modal that didn't need to be a modal costs someone real seconds — and the submit-attempt dialog is the one case where interrupting is the right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group answers where am I and where can I go. Stepper for a flow with a known end — checkout, onboarding, building a study plan. Menu for actions, with destructive ones pushed last after a divider so nobody signs out by muscle memory. Bottom nav for mobile, three to five destinations only, and every row at least fifty-six pixels because a learner tapping through an exam on a phone cannot afford to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This is a marketing site assembled entirely from the components you just saw — no new one-off pieces. That's the real argument for a design system: a new page becomes composition rather than invention. What I'd flag is that the layout itself is my reconstruction. I had your logo and your font, not your screens, so treat the arrangement as a proposal and the parts as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story for the learner app — dashboard, test library, exam player, results, all built from the kit. The exam player is the one I'd most want your eyes on, because it's where your product is genuinely different from a generic course platform. Timed state, flagging, a question navigator: those needed purpose-built components, and they're the ones most likely to be wrong without your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Iconography is a gap I want to name rather than paper over. No Whizlabs icon set was supplied, so this is Lucide standing in — matched on stroke weight and geometry, and routed through a single component. That last detail is the important one: when you send the real set, it swaps in behind that component and every screen updates at once. Nobody hunts down individual icons. Also, no emoji anywhere,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this actually stands. The logo, the three gradient stops and Poppins came from you and are exact — build on those with confidence. The mono, the icons and both screen layouts are my proposals, and I'd rather you correct them now than discover them in production. Send real screens or a Figma file and the UI kits become accurate instead of merely plausible. Everything here is built to be corrected, and that's the point — a system nobody edits is a system nobody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image" Target="../media/image-25-5.png"/><Relationship Id="rId6" Type="http://schemas.openxmlformats.org/officeDocument/2006/relationships/image" Target="../media/image-25-6.svg"/><Relationship Id="rId7" Type="http://schemas.openxmlformats.org/officeDocument/2006/relationships/image" Target="../media/image-25-7.png"/><Relationship Id="rId8" Type="http://schemas.openxmlformats.org/officeDocument/2006/relationships/image" Target="../media/image-25-8.sv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image" Target="../media/image-28-5.png"/><Relationship Id="rId6" Type="http://schemas.openxmlformats.org/officeDocument/2006/relationships/image" Target="../media/image-28-6.svg"/><Relationship Id="rId7" Type="http://schemas.openxmlformats.org/officeDocument/2006/relationships/image" Target="../media/image-28-7.png"/><Relationship Id="rId8" Type="http://schemas.openxmlformats.org/officeDocument/2006/relationships/image" Target="../media/image-28-8.svg"/><Relationship Id="rId9" Type="http://schemas.openxmlformats.org/officeDocument/2006/relationships/image" Target="../media/image-28-9.png"/><Relationship Id="rId10" Type="http://schemas.openxmlformats.org/officeDocument/2006/relationships/image" Target="../media/image-28-10.svg"/><Relationship Id="rId11" Type="http://schemas.openxmlformats.org/officeDocument/2006/relationships/image" Target="../media/image-28-11.png"/><Relationship Id="rId12" Type="http://schemas.openxmlformats.org/officeDocument/2006/relationships/image" Target="../media/image-28-12.svg"/><Relationship Id="rId13" Type="http://schemas.openxmlformats.org/officeDocument/2006/relationships/image" Target="../media/image-28-13.png"/><Relationship Id="rId14" Type="http://schemas.openxmlformats.org/officeDocument/2006/relationships/image" Target="../media/image-28-14.svg"/><Relationship Id="rId15" Type="http://schemas.openxmlformats.org/officeDocument/2006/relationships/image" Target="../media/image-28-15.png"/><Relationship Id="rId16" Type="http://schemas.openxmlformats.org/officeDocument/2006/relationships/image" Target="../media/image-28-16.svg"/><Relationship Id="rId17" Type="http://schemas.openxmlformats.org/officeDocument/2006/relationships/image" Target="../media/image-28-17.png"/><Relationship Id="rId18" Type="http://schemas.openxmlformats.org/officeDocument/2006/relationships/image" Target="../media/image-28-18.svg"/><Relationship Id="rId19" Type="http://schemas.openxmlformats.org/officeDocument/2006/relationships/image" Target="../media/image-28-19.png"/><Relationship Id="rId20" Type="http://schemas.openxmlformats.org/officeDocument/2006/relationships/image" Target="../media/image-28-20.svg"/><Relationship Id="rId21" Type="http://schemas.openxmlformats.org/officeDocument/2006/relationships/image" Target="../media/image-28-21.png"/><Relationship Id="rId22" Type="http://schemas.openxmlformats.org/officeDocument/2006/relationships/image" Target="../media/image-28-22.svg"/><Relationship Id="rId23" Type="http://schemas.openxmlformats.org/officeDocument/2006/relationships/image" Target="../media/image-28-23.png"/><Relationship Id="rId24" Type="http://schemas.openxmlformats.org/officeDocument/2006/relationships/image" Target="../media/image-28-24.svg"/><Relationship Id="rId25" Type="http://schemas.openxmlformats.org/officeDocument/2006/relationships/image" Target="../media/image-28-25.png"/><Relationship Id="rId26" Type="http://schemas.openxmlformats.org/officeDocument/2006/relationships/image" Target="../media/image-28-26.svg"/><Relationship Id="rId27" Type="http://schemas.openxmlformats.org/officeDocument/2006/relationships/image" Target="../media/image-28-27.png"/><Relationship Id="rId28" Type="http://schemas.openxmlformats.org/officeDocument/2006/relationships/image" Target="../media/image-28-28.svg"/><Relationship Id="rId29" Type="http://schemas.openxmlformats.org/officeDocument/2006/relationships/slideLayout" Target="../slideLayouts/slideLayout1.xml"/><Relationship Id="rId3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917"/>
        </a:solidFill>
      </p:bgPr>
    </p:bg>
    <p:spTree>
      <p:nvGrpSpPr>
        <p:cNvPr id="1" name=""/>
        <p:cNvGrpSpPr/>
        <p:nvPr/>
      </p:nvGrpSpPr>
      <p:grpSpPr>
        <a:xfrm>
          <a:off x="0" y="0"/>
          <a:ext cx="0" cy="0"/>
          <a:chOff x="0" y="0"/>
          <a:chExt cx="0" cy="0"/>
        </a:xfrm>
      </p:grpSpPr>
      <p:sp>
        <p:nvSpPr>
          <p:cNvPr id="2" name="Shape 0"/>
          <p:cNvSpPr/>
          <p:nvPr/>
        </p:nvSpPr>
        <p:spPr>
          <a:xfrm>
            <a:off x="0" y="0"/>
            <a:ext cx="18288000" cy="95250"/>
          </a:xfrm>
          <a:prstGeom prst="rect">
            <a:avLst/>
          </a:prstGeom>
          <a:gradFill rotWithShape="1">
            <a:gsLst>
              <a:gs pos="0">
                <a:srgbClr val="E8402B">
                  <a:alpha val="100000"/>
                </a:srgbClr>
              </a:gs>
              <a:gs pos="52000">
                <a:srgbClr val="F0602A">
                  <a:alpha val="100000"/>
                </a:srgbClr>
              </a:gs>
              <a:gs pos="100000">
                <a:srgbClr val="F78B20">
                  <a:alpha val="100000"/>
                </a:srgbClr>
              </a:gs>
            </a:gsLst>
            <a:lin ang="0" scaled="0"/>
          </a:gradFill>
          <a:ln/>
        </p:spPr>
      </p:sp>
      <p:pic>
        <p:nvPicPr>
          <p:cNvPr id="3" name="Image 0" descr="preencoded.png">    </p:cNvPr>
          <p:cNvPicPr>
            <a:picLocks noChangeAspect="1"/>
          </p:cNvPicPr>
          <p:nvPr/>
        </p:nvPicPr>
        <p:blipFill>
          <a:blip r:embed="rId1"/>
          <a:stretch>
            <a:fillRect/>
          </a:stretch>
        </p:blipFill>
        <p:spPr>
          <a:xfrm>
            <a:off x="952500" y="952500"/>
            <a:ext cx="4472583" cy="609600"/>
          </a:xfrm>
          <a:prstGeom prst="rect">
            <a:avLst/>
          </a:prstGeom>
        </p:spPr>
      </p:pic>
      <p:sp>
        <p:nvSpPr>
          <p:cNvPr id="4" name="Text 1"/>
          <p:cNvSpPr/>
          <p:nvPr/>
        </p:nvSpPr>
        <p:spPr>
          <a:xfrm>
            <a:off x="952500" y="3868713"/>
            <a:ext cx="18021300" cy="1158180"/>
          </a:xfrm>
          <a:prstGeom prst="rect">
            <a:avLst/>
          </a:prstGeom>
          <a:noFill/>
          <a:ln/>
        </p:spPr>
        <p:txBody>
          <a:bodyPr wrap="square" lIns="25400" tIns="25400" rIns="25400" bIns="25400" rtlCol="0" anchor="t">
            <a:normAutofit/>
          </a:bodyPr>
          <a:lstStyle/>
          <a:p>
            <a:pPr algn="l" indent="0" marL="0">
              <a:lnSpc>
                <a:spcPct val="70209"/>
              </a:lnSpc>
              <a:buNone/>
            </a:pPr>
            <a:r>
              <a:rPr lang="en-US" sz="8400" b="1" spc="-210" kern="0" dirty="0">
                <a:solidFill>
                  <a:srgbClr val="FFFFFF"/>
                </a:solidFill>
                <a:latin typeface="Poppins" pitchFamily="34" charset="0"/>
                <a:ea typeface="Poppins" pitchFamily="34" charset="-122"/>
                <a:cs typeface="Poppins" pitchFamily="34" charset="-120"/>
              </a:rPr>
              <a:t>Design System</a:t>
            </a:r>
            <a:endParaRPr lang="en-US" sz="8400" dirty="0"/>
          </a:p>
        </p:txBody>
      </p:sp>
      <p:sp>
        <p:nvSpPr>
          <p:cNvPr id="5" name="Text 2"/>
          <p:cNvSpPr/>
          <p:nvPr/>
        </p:nvSpPr>
        <p:spPr>
          <a:xfrm>
            <a:off x="952500" y="5293593"/>
            <a:ext cx="6889446" cy="1558156"/>
          </a:xfrm>
          <a:prstGeom prst="rect">
            <a:avLst/>
          </a:prstGeom>
          <a:noFill/>
          <a:ln/>
        </p:spPr>
        <p:txBody>
          <a:bodyPr wrap="square" lIns="25400" tIns="25400" rIns="25400" bIns="25400" rtlCol="0" anchor="t">
            <a:normAutofit/>
          </a:bodyPr>
          <a:lstStyle/>
          <a:p>
            <a:pPr algn="l" indent="0" marL="0">
              <a:lnSpc>
                <a:spcPct val="92522"/>
              </a:lnSpc>
              <a:buNone/>
            </a:pPr>
            <a:r>
              <a:rPr lang="en-US" sz="2850" dirty="0">
                <a:solidFill>
                  <a:srgbClr val="CBC6BD"/>
                </a:solidFill>
                <a:latin typeface="Poppins" pitchFamily="34" charset="0"/>
                <a:ea typeface="Poppins" pitchFamily="34" charset="-122"/>
                <a:cs typeface="Poppins" pitchFamily="34" charset="-120"/>
              </a:rPr>
              <a:t>Foundations, components and UI kits for the Whizlabs certification-training platform.</a:t>
            </a:r>
            <a:endParaRPr lang="en-US" sz="2850" dirty="0"/>
          </a:p>
        </p:txBody>
      </p:sp>
      <p:sp>
        <p:nvSpPr>
          <p:cNvPr id="6" name="Text 3"/>
          <p:cNvSpPr/>
          <p:nvPr/>
        </p:nvSpPr>
        <p:spPr>
          <a:xfrm>
            <a:off x="952500" y="9120188"/>
            <a:ext cx="18021300" cy="442913"/>
          </a:xfrm>
          <a:prstGeom prst="rect">
            <a:avLst/>
          </a:prstGeom>
          <a:noFill/>
          <a:ln/>
        </p:spPr>
        <p:txBody>
          <a:bodyPr wrap="square" lIns="25400" tIns="25400" rIns="25400" bIns="25400" rtlCol="0" anchor="t">
            <a:normAutofit/>
          </a:bodyPr>
          <a:lstStyle/>
          <a:p>
            <a:pPr algn="l" indent="0" marL="0">
              <a:buNone/>
            </a:pPr>
            <a:r>
              <a:rPr lang="en-US" sz="2100" spc="210" kern="0" dirty="0">
                <a:solidFill>
                  <a:srgbClr val="8A847A"/>
                </a:solidFill>
                <a:latin typeface="Poppins" pitchFamily="34" charset="0"/>
                <a:ea typeface="Poppins" pitchFamily="34" charset="-122"/>
                <a:cs typeface="Poppins" pitchFamily="34" charset="-120"/>
              </a:rPr>
              <a:t>VERSION 1 · AUGUST 2026</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Contents</a:t>
            </a:r>
            <a:endParaRPr lang="en-US" sz="4800" dirty="0"/>
          </a:p>
        </p:txBody>
      </p:sp>
      <p:sp>
        <p:nvSpPr>
          <p:cNvPr id="3" name="Shape 1"/>
          <p:cNvSpPr/>
          <p:nvPr/>
        </p:nvSpPr>
        <p:spPr>
          <a:xfrm>
            <a:off x="952500" y="2476500"/>
            <a:ext cx="7810500" cy="19050"/>
          </a:xfrm>
          <a:prstGeom prst="rect">
            <a:avLst/>
          </a:prstGeom>
          <a:solidFill>
            <a:srgbClr val="EFECE7"/>
          </a:solidFill>
          <a:ln/>
        </p:spPr>
      </p:sp>
      <p:sp>
        <p:nvSpPr>
          <p:cNvPr id="4" name="Text 2"/>
          <p:cNvSpPr/>
          <p:nvPr/>
        </p:nvSpPr>
        <p:spPr>
          <a:xfrm>
            <a:off x="952500" y="28289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01</a:t>
            </a:r>
            <a:endParaRPr lang="en-US" sz="2100" dirty="0"/>
          </a:p>
        </p:txBody>
      </p:sp>
      <p:sp>
        <p:nvSpPr>
          <p:cNvPr id="5" name="Text 3"/>
          <p:cNvSpPr/>
          <p:nvPr/>
        </p:nvSpPr>
        <p:spPr>
          <a:xfrm>
            <a:off x="1539255" y="2724150"/>
            <a:ext cx="1624995"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The logo</a:t>
            </a:r>
            <a:endParaRPr lang="en-US" sz="2700" dirty="0"/>
          </a:p>
        </p:txBody>
      </p:sp>
      <p:sp>
        <p:nvSpPr>
          <p:cNvPr id="6" name="Shape 4"/>
          <p:cNvSpPr/>
          <p:nvPr/>
        </p:nvSpPr>
        <p:spPr>
          <a:xfrm>
            <a:off x="9525000" y="2476500"/>
            <a:ext cx="7810500" cy="19050"/>
          </a:xfrm>
          <a:prstGeom prst="rect">
            <a:avLst/>
          </a:prstGeom>
          <a:solidFill>
            <a:srgbClr val="EFECE7"/>
          </a:solidFill>
          <a:ln/>
        </p:spPr>
      </p:sp>
      <p:sp>
        <p:nvSpPr>
          <p:cNvPr id="7" name="Text 5"/>
          <p:cNvSpPr/>
          <p:nvPr/>
        </p:nvSpPr>
        <p:spPr>
          <a:xfrm>
            <a:off x="9525000" y="28289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05</a:t>
            </a:r>
            <a:endParaRPr lang="en-US" sz="2100" dirty="0"/>
          </a:p>
        </p:txBody>
      </p:sp>
      <p:sp>
        <p:nvSpPr>
          <p:cNvPr id="8" name="Text 6"/>
          <p:cNvSpPr/>
          <p:nvPr/>
        </p:nvSpPr>
        <p:spPr>
          <a:xfrm>
            <a:off x="10111755" y="2724150"/>
            <a:ext cx="3423032"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Motion and states</a:t>
            </a:r>
            <a:endParaRPr lang="en-US" sz="2700" dirty="0"/>
          </a:p>
        </p:txBody>
      </p:sp>
      <p:sp>
        <p:nvSpPr>
          <p:cNvPr id="9" name="Shape 7"/>
          <p:cNvSpPr/>
          <p:nvPr/>
        </p:nvSpPr>
        <p:spPr>
          <a:xfrm>
            <a:off x="952500" y="3581400"/>
            <a:ext cx="7810500" cy="19050"/>
          </a:xfrm>
          <a:prstGeom prst="rect">
            <a:avLst/>
          </a:prstGeom>
          <a:solidFill>
            <a:srgbClr val="EFECE7"/>
          </a:solidFill>
          <a:ln/>
        </p:spPr>
      </p:sp>
      <p:sp>
        <p:nvSpPr>
          <p:cNvPr id="10" name="Text 8"/>
          <p:cNvSpPr/>
          <p:nvPr/>
        </p:nvSpPr>
        <p:spPr>
          <a:xfrm>
            <a:off x="952500" y="39338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02</a:t>
            </a:r>
            <a:endParaRPr lang="en-US" sz="2100" dirty="0"/>
          </a:p>
        </p:txBody>
      </p:sp>
      <p:sp>
        <p:nvSpPr>
          <p:cNvPr id="11" name="Text 9"/>
          <p:cNvSpPr/>
          <p:nvPr/>
        </p:nvSpPr>
        <p:spPr>
          <a:xfrm>
            <a:off x="1539255" y="3829050"/>
            <a:ext cx="1223590"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Colour</a:t>
            </a:r>
            <a:endParaRPr lang="en-US" sz="2700" dirty="0"/>
          </a:p>
        </p:txBody>
      </p:sp>
      <p:sp>
        <p:nvSpPr>
          <p:cNvPr id="12" name="Shape 10"/>
          <p:cNvSpPr/>
          <p:nvPr/>
        </p:nvSpPr>
        <p:spPr>
          <a:xfrm>
            <a:off x="9525000" y="3581400"/>
            <a:ext cx="7810500" cy="19050"/>
          </a:xfrm>
          <a:prstGeom prst="rect">
            <a:avLst/>
          </a:prstGeom>
          <a:solidFill>
            <a:srgbClr val="EFECE7"/>
          </a:solidFill>
          <a:ln/>
        </p:spPr>
      </p:sp>
      <p:sp>
        <p:nvSpPr>
          <p:cNvPr id="13" name="Text 11"/>
          <p:cNvSpPr/>
          <p:nvPr/>
        </p:nvSpPr>
        <p:spPr>
          <a:xfrm>
            <a:off x="9525000" y="39338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06</a:t>
            </a:r>
            <a:endParaRPr lang="en-US" sz="2100" dirty="0"/>
          </a:p>
        </p:txBody>
      </p:sp>
      <p:sp>
        <p:nvSpPr>
          <p:cNvPr id="14" name="Text 12"/>
          <p:cNvSpPr/>
          <p:nvPr/>
        </p:nvSpPr>
        <p:spPr>
          <a:xfrm>
            <a:off x="10111755" y="3829050"/>
            <a:ext cx="4710046"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49 components, in detail</a:t>
            </a:r>
            <a:endParaRPr lang="en-US" sz="2700" dirty="0"/>
          </a:p>
        </p:txBody>
      </p:sp>
      <p:sp>
        <p:nvSpPr>
          <p:cNvPr id="15" name="Shape 13"/>
          <p:cNvSpPr/>
          <p:nvPr/>
        </p:nvSpPr>
        <p:spPr>
          <a:xfrm>
            <a:off x="952500" y="4686300"/>
            <a:ext cx="7810500" cy="19050"/>
          </a:xfrm>
          <a:prstGeom prst="rect">
            <a:avLst/>
          </a:prstGeom>
          <a:solidFill>
            <a:srgbClr val="EFECE7"/>
          </a:solidFill>
          <a:ln/>
        </p:spPr>
      </p:sp>
      <p:sp>
        <p:nvSpPr>
          <p:cNvPr id="16" name="Text 14"/>
          <p:cNvSpPr/>
          <p:nvPr/>
        </p:nvSpPr>
        <p:spPr>
          <a:xfrm>
            <a:off x="952500" y="50387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03</a:t>
            </a:r>
            <a:endParaRPr lang="en-US" sz="2100" dirty="0"/>
          </a:p>
        </p:txBody>
      </p:sp>
      <p:sp>
        <p:nvSpPr>
          <p:cNvPr id="17" name="Text 15"/>
          <p:cNvSpPr/>
          <p:nvPr/>
        </p:nvSpPr>
        <p:spPr>
          <a:xfrm>
            <a:off x="1539255" y="4933950"/>
            <a:ext cx="2305050"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Typography</a:t>
            </a:r>
            <a:endParaRPr lang="en-US" sz="2700" dirty="0"/>
          </a:p>
        </p:txBody>
      </p:sp>
      <p:sp>
        <p:nvSpPr>
          <p:cNvPr id="18" name="Shape 16"/>
          <p:cNvSpPr/>
          <p:nvPr/>
        </p:nvSpPr>
        <p:spPr>
          <a:xfrm>
            <a:off x="9525000" y="4686300"/>
            <a:ext cx="7810500" cy="19050"/>
          </a:xfrm>
          <a:prstGeom prst="rect">
            <a:avLst/>
          </a:prstGeom>
          <a:solidFill>
            <a:srgbClr val="EFECE7"/>
          </a:solidFill>
          <a:ln/>
        </p:spPr>
      </p:sp>
      <p:sp>
        <p:nvSpPr>
          <p:cNvPr id="19" name="Text 17"/>
          <p:cNvSpPr/>
          <p:nvPr/>
        </p:nvSpPr>
        <p:spPr>
          <a:xfrm>
            <a:off x="9525000" y="50387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07</a:t>
            </a:r>
            <a:endParaRPr lang="en-US" sz="2100" dirty="0"/>
          </a:p>
        </p:txBody>
      </p:sp>
      <p:sp>
        <p:nvSpPr>
          <p:cNvPr id="20" name="Text 18"/>
          <p:cNvSpPr/>
          <p:nvPr/>
        </p:nvSpPr>
        <p:spPr>
          <a:xfrm>
            <a:off x="10111755" y="4933950"/>
            <a:ext cx="1083692"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UI kits</a:t>
            </a:r>
            <a:endParaRPr lang="en-US" sz="2700" dirty="0"/>
          </a:p>
        </p:txBody>
      </p:sp>
      <p:sp>
        <p:nvSpPr>
          <p:cNvPr id="21" name="Shape 19"/>
          <p:cNvSpPr/>
          <p:nvPr/>
        </p:nvSpPr>
        <p:spPr>
          <a:xfrm>
            <a:off x="952500" y="5791200"/>
            <a:ext cx="7810500" cy="19050"/>
          </a:xfrm>
          <a:prstGeom prst="rect">
            <a:avLst/>
          </a:prstGeom>
          <a:solidFill>
            <a:srgbClr val="EFECE7"/>
          </a:solidFill>
          <a:ln/>
        </p:spPr>
      </p:sp>
      <p:sp>
        <p:nvSpPr>
          <p:cNvPr id="22" name="Text 20"/>
          <p:cNvSpPr/>
          <p:nvPr/>
        </p:nvSpPr>
        <p:spPr>
          <a:xfrm>
            <a:off x="952500" y="61436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04</a:t>
            </a:r>
            <a:endParaRPr lang="en-US" sz="2100" dirty="0"/>
          </a:p>
        </p:txBody>
      </p:sp>
      <p:sp>
        <p:nvSpPr>
          <p:cNvPr id="23" name="Text 21"/>
          <p:cNvSpPr/>
          <p:nvPr/>
        </p:nvSpPr>
        <p:spPr>
          <a:xfrm>
            <a:off x="1539255" y="6038850"/>
            <a:ext cx="4529718"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Space, radius, elevation</a:t>
            </a:r>
            <a:endParaRPr lang="en-US" sz="2700" dirty="0"/>
          </a:p>
        </p:txBody>
      </p:sp>
      <p:sp>
        <p:nvSpPr>
          <p:cNvPr id="24" name="Shape 22"/>
          <p:cNvSpPr/>
          <p:nvPr/>
        </p:nvSpPr>
        <p:spPr>
          <a:xfrm>
            <a:off x="9525000" y="5791200"/>
            <a:ext cx="7810500" cy="19050"/>
          </a:xfrm>
          <a:prstGeom prst="rect">
            <a:avLst/>
          </a:prstGeom>
          <a:solidFill>
            <a:srgbClr val="EFECE7"/>
          </a:solidFill>
          <a:ln/>
        </p:spPr>
      </p:sp>
      <p:sp>
        <p:nvSpPr>
          <p:cNvPr id="25" name="Text 23"/>
          <p:cNvSpPr/>
          <p:nvPr/>
        </p:nvSpPr>
        <p:spPr>
          <a:xfrm>
            <a:off x="9525000" y="6143625"/>
            <a:ext cx="39625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08</a:t>
            </a:r>
            <a:endParaRPr lang="en-US" sz="2100" dirty="0"/>
          </a:p>
        </p:txBody>
      </p:sp>
      <p:sp>
        <p:nvSpPr>
          <p:cNvPr id="26" name="Text 24"/>
          <p:cNvSpPr/>
          <p:nvPr/>
        </p:nvSpPr>
        <p:spPr>
          <a:xfrm>
            <a:off x="10111755" y="6038850"/>
            <a:ext cx="2192990" cy="552450"/>
          </a:xfrm>
          <a:prstGeom prst="rect">
            <a:avLst/>
          </a:prstGeom>
          <a:noFill/>
          <a:ln/>
        </p:spPr>
        <p:txBody>
          <a:bodyPr wrap="square" lIns="25400" tIns="25400" rIns="25400" bIns="25400" rtlCol="0" anchor="t">
            <a:normAutofit/>
          </a:bodyPr>
          <a:lstStyle/>
          <a:p>
            <a:pPr algn="l" indent="0" marL="0">
              <a:buNone/>
            </a:pPr>
            <a:r>
              <a:rPr lang="en-US" sz="2700" dirty="0">
                <a:solidFill>
                  <a:srgbClr val="1A1917"/>
                </a:solidFill>
                <a:latin typeface="Poppins" pitchFamily="34" charset="0"/>
                <a:ea typeface="Poppins" pitchFamily="34" charset="-122"/>
                <a:cs typeface="Poppins" pitchFamily="34" charset="-120"/>
              </a:rPr>
              <a:t>Open items</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The logo</a:t>
            </a:r>
            <a:endParaRPr lang="en-US" sz="4800" dirty="0"/>
          </a:p>
        </p:txBody>
      </p:sp>
      <p:sp>
        <p:nvSpPr>
          <p:cNvPr id="3" name="Text 1"/>
          <p:cNvSpPr/>
          <p:nvPr/>
        </p:nvSpPr>
        <p:spPr>
          <a:xfrm>
            <a:off x="952500" y="2019300"/>
            <a:ext cx="10684750"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Three vector variants. Size sets the height — width follows the artwork.</a:t>
            </a:r>
            <a:endParaRPr lang="en-US" sz="2550" dirty="0"/>
          </a:p>
        </p:txBody>
      </p:sp>
      <p:sp>
        <p:nvSpPr>
          <p:cNvPr id="4" name="Shape 2"/>
          <p:cNvSpPr/>
          <p:nvPr/>
        </p:nvSpPr>
        <p:spPr>
          <a:xfrm>
            <a:off x="952500" y="3524250"/>
            <a:ext cx="9917683" cy="2409825"/>
          </a:xfrm>
          <a:prstGeom prst="roundRect">
            <a:avLst>
              <a:gd name="adj" fmla="val 7905"/>
            </a:avLst>
          </a:prstGeom>
          <a:ln w="19050">
            <a:solidFill>
              <a:srgbClr val="EFECE7"/>
            </a:solidFill>
            <a:prstDash val="solid"/>
          </a:ln>
        </p:spPr>
      </p:sp>
      <p:pic>
        <p:nvPicPr>
          <p:cNvPr id="5" name="Image 0" descr="preencoded.png">    </p:cNvPr>
          <p:cNvPicPr>
            <a:picLocks noChangeAspect="1"/>
          </p:cNvPicPr>
          <p:nvPr/>
        </p:nvPicPr>
        <p:blipFill>
          <a:blip r:embed="rId1"/>
          <a:stretch>
            <a:fillRect/>
          </a:stretch>
        </p:blipFill>
        <p:spPr>
          <a:xfrm>
            <a:off x="3255764" y="4367213"/>
            <a:ext cx="5311155" cy="723900"/>
          </a:xfrm>
          <a:prstGeom prst="rect">
            <a:avLst/>
          </a:prstGeom>
        </p:spPr>
      </p:pic>
      <p:sp>
        <p:nvSpPr>
          <p:cNvPr id="6" name="Shape 3"/>
          <p:cNvSpPr/>
          <p:nvPr/>
        </p:nvSpPr>
        <p:spPr>
          <a:xfrm>
            <a:off x="11136883" y="3524250"/>
            <a:ext cx="6198617" cy="2409825"/>
          </a:xfrm>
          <a:prstGeom prst="roundRect">
            <a:avLst>
              <a:gd name="adj" fmla="val 7905"/>
            </a:avLst>
          </a:prstGeom>
          <a:ln w="19050">
            <a:solidFill>
              <a:srgbClr val="EFECE7"/>
            </a:solidFill>
            <a:prstDash val="solid"/>
          </a:ln>
        </p:spPr>
      </p:sp>
      <p:pic>
        <p:nvPicPr>
          <p:cNvPr id="7" name="Image 1" descr="preencoded.png">    </p:cNvPr>
          <p:cNvPicPr>
            <a:picLocks noChangeAspect="1"/>
          </p:cNvPicPr>
          <p:nvPr/>
        </p:nvPicPr>
        <p:blipFill>
          <a:blip r:embed="rId2"/>
          <a:stretch>
            <a:fillRect/>
          </a:stretch>
        </p:blipFill>
        <p:spPr>
          <a:xfrm>
            <a:off x="13324582" y="4233863"/>
            <a:ext cx="1823219" cy="990600"/>
          </a:xfrm>
          <a:prstGeom prst="rect">
            <a:avLst/>
          </a:prstGeom>
        </p:spPr>
      </p:pic>
      <p:sp>
        <p:nvSpPr>
          <p:cNvPr id="8" name="Shape 4"/>
          <p:cNvSpPr/>
          <p:nvPr/>
        </p:nvSpPr>
        <p:spPr>
          <a:xfrm>
            <a:off x="952500" y="6200775"/>
            <a:ext cx="9917683" cy="2105025"/>
          </a:xfrm>
          <a:prstGeom prst="roundRect">
            <a:avLst>
              <a:gd name="adj" fmla="val 9050"/>
            </a:avLst>
          </a:prstGeom>
          <a:solidFill>
            <a:srgbClr val="1A1917"/>
          </a:solidFill>
          <a:ln/>
        </p:spPr>
      </p:sp>
      <p:pic>
        <p:nvPicPr>
          <p:cNvPr id="9" name="Image 2" descr="preencoded.png">    </p:cNvPr>
          <p:cNvPicPr>
            <a:picLocks noChangeAspect="1"/>
          </p:cNvPicPr>
          <p:nvPr/>
        </p:nvPicPr>
        <p:blipFill>
          <a:blip r:embed="rId3"/>
          <a:stretch>
            <a:fillRect/>
          </a:stretch>
        </p:blipFill>
        <p:spPr>
          <a:xfrm>
            <a:off x="3255764" y="6891338"/>
            <a:ext cx="5311155" cy="723900"/>
          </a:xfrm>
          <a:prstGeom prst="rect">
            <a:avLst/>
          </a:prstGeom>
        </p:spPr>
      </p:pic>
      <p:sp>
        <p:nvSpPr>
          <p:cNvPr id="10" name="Shape 5"/>
          <p:cNvSpPr/>
          <p:nvPr/>
        </p:nvSpPr>
        <p:spPr>
          <a:xfrm>
            <a:off x="11136883" y="6200775"/>
            <a:ext cx="6198617" cy="2105025"/>
          </a:xfrm>
          <a:prstGeom prst="roundRect">
            <a:avLst>
              <a:gd name="adj" fmla="val 9050"/>
            </a:avLst>
          </a:prstGeom>
          <a:gradFill rotWithShape="1">
            <a:gsLst>
              <a:gs pos="0">
                <a:srgbClr val="FFF3EE">
                  <a:alpha val="100000"/>
                </a:srgbClr>
              </a:gs>
              <a:gs pos="100000">
                <a:srgbClr val="FFF8EA">
                  <a:alpha val="100000"/>
                </a:srgbClr>
              </a:gs>
            </a:gsLst>
            <a:lin ang="2700000" scaled="0"/>
          </a:gradFill>
          <a:ln w="19050">
            <a:solidFill>
              <a:srgbClr val="FFE7DC"/>
            </a:solidFill>
            <a:prstDash val="solid"/>
          </a:ln>
        </p:spPr>
      </p:sp>
      <p:pic>
        <p:nvPicPr>
          <p:cNvPr id="11" name="Image 3" descr="preencoded.png">    </p:cNvPr>
          <p:cNvPicPr>
            <a:picLocks noChangeAspect="1"/>
          </p:cNvPicPr>
          <p:nvPr/>
        </p:nvPicPr>
        <p:blipFill>
          <a:blip r:embed="rId4"/>
          <a:stretch>
            <a:fillRect/>
          </a:stretch>
        </p:blipFill>
        <p:spPr>
          <a:xfrm>
            <a:off x="12419186" y="7005638"/>
            <a:ext cx="3633936" cy="495300"/>
          </a:xfrm>
          <a:prstGeom prst="rect">
            <a:avLst/>
          </a:prstGeom>
        </p:spPr>
      </p:pic>
      <p:sp>
        <p:nvSpPr>
          <p:cNvPr id="12" name="Text 6"/>
          <p:cNvSpPr/>
          <p:nvPr/>
        </p:nvSpPr>
        <p:spPr>
          <a:xfrm>
            <a:off x="952500" y="8724900"/>
            <a:ext cx="16874490"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6A655C"/>
                </a:solidFill>
                <a:latin typeface="Poppins" pitchFamily="34" charset="0"/>
                <a:ea typeface="Poppins" pitchFamily="34" charset="-122"/>
                <a:cs typeface="Poppins" pitchFamily="34" charset="-120"/>
              </a:rPr>
              <a:t>Clear space equals the mark height. Minimum lockup height 16px. Never re-typeset the wordmark, recolour the gradient, or add effects.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3" name="Text 1"/>
          <p:cNvSpPr/>
          <p:nvPr/>
        </p:nvSpPr>
        <p:spPr>
          <a:xfrm>
            <a:off x="952500" y="952500"/>
            <a:ext cx="10492889"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FFFFF"/>
                </a:solidFill>
                <a:latin typeface="Poppins" pitchFamily="34" charset="0"/>
                <a:ea typeface="Poppins" pitchFamily="34" charset="-122"/>
                <a:cs typeface="Poppins" pitchFamily="34" charset="-120"/>
              </a:rPr>
              <a:t>The gradient is the palette</a:t>
            </a:r>
            <a:endParaRPr lang="en-US" sz="4800" dirty="0"/>
          </a:p>
        </p:txBody>
      </p:sp>
      <p:sp>
        <p:nvSpPr>
          <p:cNvPr id="4" name="Text 2"/>
          <p:cNvSpPr/>
          <p:nvPr/>
        </p:nvSpPr>
        <p:spPr>
          <a:xfrm>
            <a:off x="952500" y="4169569"/>
            <a:ext cx="1408241"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BM Plex Mono" pitchFamily="34" charset="0"/>
                <a:ea typeface="IBM Plex Mono" pitchFamily="34" charset="-122"/>
                <a:cs typeface="IBM Plex Mono" pitchFamily="34" charset="-120"/>
              </a:rPr>
              <a:t>#e8402b</a:t>
            </a:r>
            <a:endParaRPr lang="en-US" sz="2400" dirty="0"/>
          </a:p>
        </p:txBody>
      </p:sp>
      <p:sp>
        <p:nvSpPr>
          <p:cNvPr id="5" name="Text 3"/>
          <p:cNvSpPr/>
          <p:nvPr/>
        </p:nvSpPr>
        <p:spPr>
          <a:xfrm>
            <a:off x="952500" y="4683919"/>
            <a:ext cx="1408241" cy="442913"/>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85000"/>
                  </a:srgbClr>
                </a:solidFill>
                <a:latin typeface="Poppins" pitchFamily="34" charset="0"/>
                <a:ea typeface="Poppins" pitchFamily="34" charset="-122"/>
                <a:cs typeface="Poppins" pitchFamily="34" charset="-120"/>
              </a:rPr>
              <a:t>Red · 0%</a:t>
            </a:r>
            <a:endParaRPr lang="en-US" sz="2100" dirty="0"/>
          </a:p>
        </p:txBody>
      </p:sp>
      <p:sp>
        <p:nvSpPr>
          <p:cNvPr id="6" name="Text 4"/>
          <p:cNvSpPr/>
          <p:nvPr/>
        </p:nvSpPr>
        <p:spPr>
          <a:xfrm>
            <a:off x="2994720" y="4169569"/>
            <a:ext cx="2133727"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BM Plex Mono" pitchFamily="34" charset="0"/>
                <a:ea typeface="IBM Plex Mono" pitchFamily="34" charset="-122"/>
                <a:cs typeface="IBM Plex Mono" pitchFamily="34" charset="-120"/>
              </a:rPr>
              <a:t>#f0602a</a:t>
            </a:r>
            <a:endParaRPr lang="en-US" sz="2400" dirty="0"/>
          </a:p>
        </p:txBody>
      </p:sp>
      <p:sp>
        <p:nvSpPr>
          <p:cNvPr id="7" name="Text 5"/>
          <p:cNvSpPr/>
          <p:nvPr/>
        </p:nvSpPr>
        <p:spPr>
          <a:xfrm>
            <a:off x="2994720" y="4683919"/>
            <a:ext cx="2133727" cy="442913"/>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85000"/>
                  </a:srgbClr>
                </a:solidFill>
                <a:latin typeface="Poppins" pitchFamily="34" charset="0"/>
                <a:ea typeface="Poppins" pitchFamily="34" charset="-122"/>
                <a:cs typeface="Poppins" pitchFamily="34" charset="-120"/>
              </a:rPr>
              <a:t>Vermilion · 52%</a:t>
            </a:r>
            <a:endParaRPr lang="en-US" sz="2100" dirty="0"/>
          </a:p>
        </p:txBody>
      </p:sp>
      <p:sp>
        <p:nvSpPr>
          <p:cNvPr id="8" name="Text 6"/>
          <p:cNvSpPr/>
          <p:nvPr/>
        </p:nvSpPr>
        <p:spPr>
          <a:xfrm>
            <a:off x="5696471" y="4169569"/>
            <a:ext cx="1976155"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BM Plex Mono" pitchFamily="34" charset="0"/>
                <a:ea typeface="IBM Plex Mono" pitchFamily="34" charset="-122"/>
                <a:cs typeface="IBM Plex Mono" pitchFamily="34" charset="-120"/>
              </a:rPr>
              <a:t>#f78b20</a:t>
            </a:r>
            <a:endParaRPr lang="en-US" sz="2400" dirty="0"/>
          </a:p>
        </p:txBody>
      </p:sp>
      <p:sp>
        <p:nvSpPr>
          <p:cNvPr id="9" name="Text 7"/>
          <p:cNvSpPr/>
          <p:nvPr/>
        </p:nvSpPr>
        <p:spPr>
          <a:xfrm>
            <a:off x="5696471" y="4683919"/>
            <a:ext cx="1976155" cy="442913"/>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85000"/>
                  </a:srgbClr>
                </a:solidFill>
                <a:latin typeface="Poppins" pitchFamily="34" charset="0"/>
                <a:ea typeface="Poppins" pitchFamily="34" charset="-122"/>
                <a:cs typeface="Poppins" pitchFamily="34" charset="-120"/>
              </a:rPr>
              <a:t>Orange · 100%</a:t>
            </a:r>
            <a:endParaRPr lang="en-US" sz="2100" dirty="0"/>
          </a:p>
        </p:txBody>
      </p:sp>
      <p:sp>
        <p:nvSpPr>
          <p:cNvPr id="10" name="Text 8"/>
          <p:cNvSpPr/>
          <p:nvPr/>
        </p:nvSpPr>
        <p:spPr>
          <a:xfrm>
            <a:off x="952500" y="7391400"/>
            <a:ext cx="12328510" cy="198120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FFFFFF"/>
                </a:solidFill>
                <a:latin typeface="Poppins" pitchFamily="34" charset="0"/>
                <a:ea typeface="Poppins" pitchFamily="34" charset="-122"/>
                <a:cs typeface="Poppins" pitchFamily="34" charset="-120"/>
              </a:rPr>
              <a:t>Every tint and shade in the system is built outward from these three stops, lifted straight from the logo vector. Allowed on primary buttons, 4px accent rules, thumbnail bands and progress fills — never as a page background.</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Colour ramps</a:t>
            </a:r>
            <a:endParaRPr lang="en-US" sz="4800" dirty="0"/>
          </a:p>
        </p:txBody>
      </p:sp>
      <p:sp>
        <p:nvSpPr>
          <p:cNvPr id="3" name="Text 1"/>
          <p:cNvSpPr/>
          <p:nvPr/>
        </p:nvSpPr>
        <p:spPr>
          <a:xfrm>
            <a:off x="952500" y="2400300"/>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ORANGE — PRIMARY</a:t>
            </a:r>
            <a:endParaRPr lang="en-US" sz="2100" dirty="0"/>
          </a:p>
        </p:txBody>
      </p:sp>
      <p:sp>
        <p:nvSpPr>
          <p:cNvPr id="4" name="Shape 2"/>
          <p:cNvSpPr/>
          <p:nvPr/>
        </p:nvSpPr>
        <p:spPr>
          <a:xfrm>
            <a:off x="952500" y="2995613"/>
            <a:ext cx="1569690" cy="914400"/>
          </a:xfrm>
          <a:prstGeom prst="roundRect">
            <a:avLst>
              <a:gd name="adj" fmla="val 10417"/>
            </a:avLst>
          </a:prstGeom>
          <a:solidFill>
            <a:srgbClr val="FFF5F0"/>
          </a:solidFill>
          <a:ln/>
        </p:spPr>
      </p:sp>
      <p:sp>
        <p:nvSpPr>
          <p:cNvPr id="5" name="Shape 3"/>
          <p:cNvSpPr/>
          <p:nvPr/>
        </p:nvSpPr>
        <p:spPr>
          <a:xfrm>
            <a:off x="2598390" y="2995613"/>
            <a:ext cx="1569765" cy="914400"/>
          </a:xfrm>
          <a:prstGeom prst="roundRect">
            <a:avLst>
              <a:gd name="adj" fmla="val 10417"/>
            </a:avLst>
          </a:prstGeom>
          <a:solidFill>
            <a:srgbClr val="FFE7DC"/>
          </a:solidFill>
          <a:ln/>
        </p:spPr>
      </p:sp>
      <p:sp>
        <p:nvSpPr>
          <p:cNvPr id="6" name="Shape 4"/>
          <p:cNvSpPr/>
          <p:nvPr/>
        </p:nvSpPr>
        <p:spPr>
          <a:xfrm>
            <a:off x="4244355" y="2995613"/>
            <a:ext cx="1569690" cy="914400"/>
          </a:xfrm>
          <a:prstGeom prst="roundRect">
            <a:avLst>
              <a:gd name="adj" fmla="val 10417"/>
            </a:avLst>
          </a:prstGeom>
          <a:solidFill>
            <a:srgbClr val="FFCAB2"/>
          </a:solidFill>
          <a:ln/>
        </p:spPr>
      </p:sp>
      <p:sp>
        <p:nvSpPr>
          <p:cNvPr id="7" name="Shape 5"/>
          <p:cNvSpPr/>
          <p:nvPr/>
        </p:nvSpPr>
        <p:spPr>
          <a:xfrm>
            <a:off x="5890245" y="2995613"/>
            <a:ext cx="1569765" cy="914400"/>
          </a:xfrm>
          <a:prstGeom prst="roundRect">
            <a:avLst>
              <a:gd name="adj" fmla="val 10417"/>
            </a:avLst>
          </a:prstGeom>
          <a:solidFill>
            <a:srgbClr val="FCA781"/>
          </a:solidFill>
          <a:ln/>
        </p:spPr>
      </p:sp>
      <p:sp>
        <p:nvSpPr>
          <p:cNvPr id="8" name="Shape 6"/>
          <p:cNvSpPr/>
          <p:nvPr/>
        </p:nvSpPr>
        <p:spPr>
          <a:xfrm>
            <a:off x="7536210" y="2995613"/>
            <a:ext cx="1569690" cy="914400"/>
          </a:xfrm>
          <a:prstGeom prst="roundRect">
            <a:avLst>
              <a:gd name="adj" fmla="val 10417"/>
            </a:avLst>
          </a:prstGeom>
          <a:solidFill>
            <a:srgbClr val="F78454"/>
          </a:solidFill>
          <a:ln/>
        </p:spPr>
      </p:sp>
      <p:sp>
        <p:nvSpPr>
          <p:cNvPr id="9" name="Shape 7"/>
          <p:cNvSpPr/>
          <p:nvPr/>
        </p:nvSpPr>
        <p:spPr>
          <a:xfrm>
            <a:off x="9182100" y="2995613"/>
            <a:ext cx="1569765" cy="914400"/>
          </a:xfrm>
          <a:prstGeom prst="roundRect">
            <a:avLst>
              <a:gd name="adj" fmla="val 10417"/>
            </a:avLst>
          </a:prstGeom>
          <a:solidFill>
            <a:srgbClr val="F0602A"/>
          </a:solidFill>
          <a:ln/>
        </p:spPr>
      </p:sp>
      <p:sp>
        <p:nvSpPr>
          <p:cNvPr id="10" name="Shape 8"/>
          <p:cNvSpPr/>
          <p:nvPr/>
        </p:nvSpPr>
        <p:spPr>
          <a:xfrm>
            <a:off x="10828065" y="2995613"/>
            <a:ext cx="1569690" cy="914400"/>
          </a:xfrm>
          <a:prstGeom prst="roundRect">
            <a:avLst>
              <a:gd name="adj" fmla="val 10417"/>
            </a:avLst>
          </a:prstGeom>
          <a:solidFill>
            <a:srgbClr val="D94B1C"/>
          </a:solidFill>
          <a:ln/>
        </p:spPr>
      </p:sp>
      <p:sp>
        <p:nvSpPr>
          <p:cNvPr id="11" name="Shape 9"/>
          <p:cNvSpPr/>
          <p:nvPr/>
        </p:nvSpPr>
        <p:spPr>
          <a:xfrm>
            <a:off x="12473955" y="2995613"/>
            <a:ext cx="1569765" cy="914400"/>
          </a:xfrm>
          <a:prstGeom prst="roundRect">
            <a:avLst>
              <a:gd name="adj" fmla="val 10417"/>
            </a:avLst>
          </a:prstGeom>
          <a:solidFill>
            <a:srgbClr val="B23B17"/>
          </a:solidFill>
          <a:ln/>
        </p:spPr>
      </p:sp>
      <p:sp>
        <p:nvSpPr>
          <p:cNvPr id="12" name="Shape 10"/>
          <p:cNvSpPr/>
          <p:nvPr/>
        </p:nvSpPr>
        <p:spPr>
          <a:xfrm>
            <a:off x="14119920" y="2995613"/>
            <a:ext cx="1569690" cy="914400"/>
          </a:xfrm>
          <a:prstGeom prst="roundRect">
            <a:avLst>
              <a:gd name="adj" fmla="val 10417"/>
            </a:avLst>
          </a:prstGeom>
          <a:solidFill>
            <a:srgbClr val="8C2F14"/>
          </a:solidFill>
          <a:ln/>
        </p:spPr>
      </p:sp>
      <p:sp>
        <p:nvSpPr>
          <p:cNvPr id="13" name="Shape 11"/>
          <p:cNvSpPr/>
          <p:nvPr/>
        </p:nvSpPr>
        <p:spPr>
          <a:xfrm>
            <a:off x="15765810" y="2995613"/>
            <a:ext cx="1569690" cy="914400"/>
          </a:xfrm>
          <a:prstGeom prst="roundRect">
            <a:avLst>
              <a:gd name="adj" fmla="val 10417"/>
            </a:avLst>
          </a:prstGeom>
          <a:solidFill>
            <a:srgbClr val="6B2511"/>
          </a:solidFill>
          <a:ln/>
        </p:spPr>
      </p:sp>
      <p:sp>
        <p:nvSpPr>
          <p:cNvPr id="14" name="Text 12"/>
          <p:cNvSpPr/>
          <p:nvPr/>
        </p:nvSpPr>
        <p:spPr>
          <a:xfrm>
            <a:off x="952500" y="4329113"/>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INK — WARM NEUTRAL</a:t>
            </a:r>
            <a:endParaRPr lang="en-US" sz="2100" dirty="0"/>
          </a:p>
        </p:txBody>
      </p:sp>
      <p:sp>
        <p:nvSpPr>
          <p:cNvPr id="15" name="Shape 13"/>
          <p:cNvSpPr/>
          <p:nvPr/>
        </p:nvSpPr>
        <p:spPr>
          <a:xfrm>
            <a:off x="952500" y="4924425"/>
            <a:ext cx="1569690" cy="914400"/>
          </a:xfrm>
          <a:prstGeom prst="roundRect">
            <a:avLst>
              <a:gd name="adj" fmla="val 10417"/>
            </a:avLst>
          </a:prstGeom>
          <a:solidFill>
            <a:srgbClr val="F9F7F4"/>
          </a:solidFill>
          <a:ln/>
        </p:spPr>
      </p:sp>
      <p:sp>
        <p:nvSpPr>
          <p:cNvPr id="16" name="Shape 14"/>
          <p:cNvSpPr/>
          <p:nvPr/>
        </p:nvSpPr>
        <p:spPr>
          <a:xfrm>
            <a:off x="2598390" y="4924425"/>
            <a:ext cx="1569765" cy="914400"/>
          </a:xfrm>
          <a:prstGeom prst="roundRect">
            <a:avLst>
              <a:gd name="adj" fmla="val 10417"/>
            </a:avLst>
          </a:prstGeom>
          <a:solidFill>
            <a:srgbClr val="EFECE7"/>
          </a:solidFill>
          <a:ln/>
        </p:spPr>
      </p:sp>
      <p:sp>
        <p:nvSpPr>
          <p:cNvPr id="17" name="Shape 15"/>
          <p:cNvSpPr/>
          <p:nvPr/>
        </p:nvSpPr>
        <p:spPr>
          <a:xfrm>
            <a:off x="4244355" y="4924425"/>
            <a:ext cx="1569690" cy="914400"/>
          </a:xfrm>
          <a:prstGeom prst="roundRect">
            <a:avLst>
              <a:gd name="adj" fmla="val 10417"/>
            </a:avLst>
          </a:prstGeom>
          <a:solidFill>
            <a:srgbClr val="E2DED7"/>
          </a:solidFill>
          <a:ln/>
        </p:spPr>
      </p:sp>
      <p:sp>
        <p:nvSpPr>
          <p:cNvPr id="18" name="Shape 16"/>
          <p:cNvSpPr/>
          <p:nvPr/>
        </p:nvSpPr>
        <p:spPr>
          <a:xfrm>
            <a:off x="5890245" y="4924425"/>
            <a:ext cx="1569765" cy="914400"/>
          </a:xfrm>
          <a:prstGeom prst="roundRect">
            <a:avLst>
              <a:gd name="adj" fmla="val 10417"/>
            </a:avLst>
          </a:prstGeom>
          <a:solidFill>
            <a:srgbClr val="CBC6BD"/>
          </a:solidFill>
          <a:ln/>
        </p:spPr>
      </p:sp>
      <p:sp>
        <p:nvSpPr>
          <p:cNvPr id="19" name="Shape 17"/>
          <p:cNvSpPr/>
          <p:nvPr/>
        </p:nvSpPr>
        <p:spPr>
          <a:xfrm>
            <a:off x="7536210" y="4924425"/>
            <a:ext cx="1569690" cy="914400"/>
          </a:xfrm>
          <a:prstGeom prst="roundRect">
            <a:avLst>
              <a:gd name="adj" fmla="val 10417"/>
            </a:avLst>
          </a:prstGeom>
          <a:solidFill>
            <a:srgbClr val="ACA69C"/>
          </a:solidFill>
          <a:ln/>
        </p:spPr>
      </p:sp>
      <p:sp>
        <p:nvSpPr>
          <p:cNvPr id="20" name="Shape 18"/>
          <p:cNvSpPr/>
          <p:nvPr/>
        </p:nvSpPr>
        <p:spPr>
          <a:xfrm>
            <a:off x="9182100" y="4924425"/>
            <a:ext cx="1569765" cy="914400"/>
          </a:xfrm>
          <a:prstGeom prst="roundRect">
            <a:avLst>
              <a:gd name="adj" fmla="val 10417"/>
            </a:avLst>
          </a:prstGeom>
          <a:solidFill>
            <a:srgbClr val="8A847A"/>
          </a:solidFill>
          <a:ln/>
        </p:spPr>
      </p:sp>
      <p:sp>
        <p:nvSpPr>
          <p:cNvPr id="21" name="Shape 19"/>
          <p:cNvSpPr/>
          <p:nvPr/>
        </p:nvSpPr>
        <p:spPr>
          <a:xfrm>
            <a:off x="10828065" y="4924425"/>
            <a:ext cx="1569690" cy="914400"/>
          </a:xfrm>
          <a:prstGeom prst="roundRect">
            <a:avLst>
              <a:gd name="adj" fmla="val 10417"/>
            </a:avLst>
          </a:prstGeom>
          <a:solidFill>
            <a:srgbClr val="6A655C"/>
          </a:solidFill>
          <a:ln/>
        </p:spPr>
      </p:sp>
      <p:sp>
        <p:nvSpPr>
          <p:cNvPr id="22" name="Shape 20"/>
          <p:cNvSpPr/>
          <p:nvPr/>
        </p:nvSpPr>
        <p:spPr>
          <a:xfrm>
            <a:off x="12473955" y="4924425"/>
            <a:ext cx="1569765" cy="914400"/>
          </a:xfrm>
          <a:prstGeom prst="roundRect">
            <a:avLst>
              <a:gd name="adj" fmla="val 10417"/>
            </a:avLst>
          </a:prstGeom>
          <a:solidFill>
            <a:srgbClr val="4E4A43"/>
          </a:solidFill>
          <a:ln/>
        </p:spPr>
      </p:sp>
      <p:sp>
        <p:nvSpPr>
          <p:cNvPr id="23" name="Shape 21"/>
          <p:cNvSpPr/>
          <p:nvPr/>
        </p:nvSpPr>
        <p:spPr>
          <a:xfrm>
            <a:off x="14119920" y="4924425"/>
            <a:ext cx="1569690" cy="914400"/>
          </a:xfrm>
          <a:prstGeom prst="roundRect">
            <a:avLst>
              <a:gd name="adj" fmla="val 10417"/>
            </a:avLst>
          </a:prstGeom>
          <a:solidFill>
            <a:srgbClr val="37342E"/>
          </a:solidFill>
          <a:ln/>
        </p:spPr>
      </p:sp>
      <p:sp>
        <p:nvSpPr>
          <p:cNvPr id="24" name="Shape 22"/>
          <p:cNvSpPr/>
          <p:nvPr/>
        </p:nvSpPr>
        <p:spPr>
          <a:xfrm>
            <a:off x="15765810" y="4924425"/>
            <a:ext cx="1569690" cy="914400"/>
          </a:xfrm>
          <a:prstGeom prst="roundRect">
            <a:avLst>
              <a:gd name="adj" fmla="val 10417"/>
            </a:avLst>
          </a:prstGeom>
          <a:solidFill>
            <a:srgbClr val="1A1917"/>
          </a:solidFill>
          <a:ln/>
        </p:spPr>
      </p:sp>
      <p:sp>
        <p:nvSpPr>
          <p:cNvPr id="25" name="Text 23"/>
          <p:cNvSpPr/>
          <p:nvPr/>
        </p:nvSpPr>
        <p:spPr>
          <a:xfrm>
            <a:off x="952500" y="6257925"/>
            <a:ext cx="13150467"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The neutral carries a trace of the brand's warmth and no blue at all, so nothing on the page competes with the orange or fights the near-black wordmark.</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Poppins</a:t>
            </a:r>
            <a:endParaRPr lang="en-US" sz="4800" dirty="0"/>
          </a:p>
        </p:txBody>
      </p:sp>
      <p:sp>
        <p:nvSpPr>
          <p:cNvPr id="3" name="Text 1"/>
          <p:cNvSpPr/>
          <p:nvPr/>
        </p:nvSpPr>
        <p:spPr>
          <a:xfrm>
            <a:off x="952500" y="2019300"/>
            <a:ext cx="11506630"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One family for structure and reading text, with IBM Plex Mono for exam machinery.</a:t>
            </a:r>
            <a:endParaRPr lang="en-US" sz="2550" dirty="0"/>
          </a:p>
        </p:txBody>
      </p:sp>
      <p:sp>
        <p:nvSpPr>
          <p:cNvPr id="4" name="Text 2"/>
          <p:cNvSpPr/>
          <p:nvPr/>
        </p:nvSpPr>
        <p:spPr>
          <a:xfrm>
            <a:off x="952500" y="3562350"/>
            <a:ext cx="18021300" cy="792435"/>
          </a:xfrm>
          <a:prstGeom prst="rect">
            <a:avLst/>
          </a:prstGeom>
          <a:noFill/>
          <a:ln/>
        </p:spPr>
        <p:txBody>
          <a:bodyPr wrap="square" lIns="25400" tIns="25400" rIns="25400" bIns="25400" rtlCol="0" anchor="t">
            <a:normAutofit/>
          </a:bodyPr>
          <a:lstStyle/>
          <a:p>
            <a:pPr algn="l" indent="0" marL="0">
              <a:lnSpc>
                <a:spcPct val="73674"/>
              </a:lnSpc>
              <a:buNone/>
            </a:pPr>
            <a:r>
              <a:rPr lang="en-US" sz="5400" b="1" spc="-108" kern="0" dirty="0">
                <a:solidFill>
                  <a:srgbClr val="1A1917"/>
                </a:solidFill>
                <a:latin typeface="Poppins" pitchFamily="34" charset="0"/>
                <a:ea typeface="Poppins" pitchFamily="34" charset="-122"/>
                <a:cs typeface="Poppins" pitchFamily="34" charset="-120"/>
              </a:rPr>
              <a:t>Get certified. Faster.</a:t>
            </a:r>
            <a:endParaRPr lang="en-US" sz="5400" dirty="0"/>
          </a:p>
        </p:txBody>
      </p:sp>
      <p:sp>
        <p:nvSpPr>
          <p:cNvPr id="5" name="Text 3"/>
          <p:cNvSpPr/>
          <p:nvPr/>
        </p:nvSpPr>
        <p:spPr>
          <a:xfrm>
            <a:off x="952500" y="4545285"/>
            <a:ext cx="18021300" cy="66675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37342E"/>
                </a:solidFill>
                <a:latin typeface="Poppins" pitchFamily="34" charset="0"/>
                <a:ea typeface="Poppins" pitchFamily="34" charset="-122"/>
                <a:cs typeface="Poppins" pitchFamily="34" charset="-120"/>
              </a:rPr>
              <a:t>Section heading, 600</a:t>
            </a:r>
            <a:endParaRPr lang="en-US" sz="3300" dirty="0"/>
          </a:p>
        </p:txBody>
      </p:sp>
      <p:sp>
        <p:nvSpPr>
          <p:cNvPr id="6" name="Text 4"/>
          <p:cNvSpPr/>
          <p:nvPr/>
        </p:nvSpPr>
        <p:spPr>
          <a:xfrm>
            <a:off x="952500" y="5554935"/>
            <a:ext cx="10892845" cy="1139130"/>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4E4A43"/>
                </a:solidFill>
                <a:latin typeface="Poppins" pitchFamily="34" charset="0"/>
                <a:ea typeface="Poppins" pitchFamily="34" charset="-122"/>
                <a:cs typeface="Poppins" pitchFamily="34" charset="-120"/>
              </a:rPr>
              <a:t>Every practice test is written against the current exam blueprint, and every question carries a written explanation.</a:t>
            </a:r>
            <a:endParaRPr lang="en-US" sz="2550" dirty="0"/>
          </a:p>
        </p:txBody>
      </p:sp>
      <p:sp>
        <p:nvSpPr>
          <p:cNvPr id="7" name="Shape 5"/>
          <p:cNvSpPr/>
          <p:nvPr/>
        </p:nvSpPr>
        <p:spPr>
          <a:xfrm>
            <a:off x="952500" y="7113166"/>
            <a:ext cx="16383000" cy="19050"/>
          </a:xfrm>
          <a:prstGeom prst="rect">
            <a:avLst/>
          </a:prstGeom>
          <a:solidFill>
            <a:srgbClr val="E2DED7"/>
          </a:solidFill>
          <a:ln/>
        </p:spPr>
      </p:sp>
      <p:sp>
        <p:nvSpPr>
          <p:cNvPr id="8" name="Text 6"/>
          <p:cNvSpPr/>
          <p:nvPr/>
        </p:nvSpPr>
        <p:spPr>
          <a:xfrm>
            <a:off x="952500" y="7475116"/>
            <a:ext cx="1634490" cy="685800"/>
          </a:xfrm>
          <a:prstGeom prst="rect">
            <a:avLst/>
          </a:prstGeom>
          <a:noFill/>
          <a:ln/>
        </p:spPr>
        <p:txBody>
          <a:bodyPr wrap="square" lIns="25400" tIns="25400" rIns="25400" bIns="25400" rtlCol="0" anchor="t">
            <a:normAutofit/>
          </a:bodyPr>
          <a:lstStyle/>
          <a:p>
            <a:pPr algn="l" indent="0" marL="0">
              <a:buNone/>
            </a:pPr>
            <a:r>
              <a:rPr lang="en-US" sz="3900" b="1" dirty="0">
                <a:solidFill>
                  <a:srgbClr val="1A1917"/>
                </a:solidFill>
                <a:latin typeface="IBM Plex Mono" pitchFamily="34" charset="0"/>
                <a:ea typeface="IBM Plex Mono" pitchFamily="34" charset="-122"/>
                <a:cs typeface="IBM Plex Mono" pitchFamily="34" charset="-120"/>
              </a:rPr>
              <a:t>42:17</a:t>
            </a:r>
            <a:endParaRPr lang="en-US" sz="3900" dirty="0"/>
          </a:p>
        </p:txBody>
      </p:sp>
      <p:sp>
        <p:nvSpPr>
          <p:cNvPr id="9" name="Text 7"/>
          <p:cNvSpPr/>
          <p:nvPr/>
        </p:nvSpPr>
        <p:spPr>
          <a:xfrm>
            <a:off x="2971800" y="7632278"/>
            <a:ext cx="1584231" cy="485775"/>
          </a:xfrm>
          <a:prstGeom prst="rect">
            <a:avLst/>
          </a:prstGeom>
          <a:noFill/>
          <a:ln/>
        </p:spPr>
        <p:txBody>
          <a:bodyPr wrap="square" lIns="25400" tIns="25400" rIns="25400" bIns="25400" rtlCol="0" anchor="t">
            <a:normAutofit/>
          </a:bodyPr>
          <a:lstStyle/>
          <a:p>
            <a:pPr algn="l" indent="0" marL="0">
              <a:buNone/>
            </a:pPr>
            <a:r>
              <a:rPr lang="en-US" sz="2700" dirty="0">
                <a:solidFill>
                  <a:srgbClr val="6A655C"/>
                </a:solidFill>
                <a:latin typeface="IBM Plex Mono" pitchFamily="34" charset="0"/>
                <a:ea typeface="IBM Plex Mono" pitchFamily="34" charset="-122"/>
                <a:cs typeface="IBM Plex Mono" pitchFamily="34" charset="-120"/>
              </a:rPr>
              <a:t>SAA-C03</a:t>
            </a:r>
            <a:endParaRPr lang="en-US" sz="2700" dirty="0"/>
          </a:p>
        </p:txBody>
      </p:sp>
      <p:sp>
        <p:nvSpPr>
          <p:cNvPr id="10" name="Text 8"/>
          <p:cNvSpPr/>
          <p:nvPr/>
        </p:nvSpPr>
        <p:spPr>
          <a:xfrm>
            <a:off x="4945410" y="7694191"/>
            <a:ext cx="5865372"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6A655C"/>
                </a:solidFill>
                <a:latin typeface="Poppins" pitchFamily="34" charset="0"/>
                <a:ea typeface="Poppins" pitchFamily="34" charset="-122"/>
                <a:cs typeface="Poppins" pitchFamily="34" charset="-120"/>
              </a:rPr>
              <a:t>Mono is reserved for codes, timers, scores and question numbers.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Three rules Poppins forces</a:t>
            </a:r>
            <a:endParaRPr lang="en-US" sz="4800" dirty="0"/>
          </a:p>
        </p:txBody>
      </p:sp>
      <p:sp>
        <p:nvSpPr>
          <p:cNvPr id="3" name="Text 1"/>
          <p:cNvSpPr/>
          <p:nvPr/>
        </p:nvSpPr>
        <p:spPr>
          <a:xfrm>
            <a:off x="952500" y="2019300"/>
            <a:ext cx="11506630"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It is geometric, wide and near-monolinear, and the system encodes the consequences.</a:t>
            </a:r>
            <a:endParaRPr lang="en-US" sz="2550" dirty="0"/>
          </a:p>
        </p:txBody>
      </p:sp>
      <p:sp>
        <p:nvSpPr>
          <p:cNvPr id="4" name="Shape 2"/>
          <p:cNvSpPr/>
          <p:nvPr/>
        </p:nvSpPr>
        <p:spPr>
          <a:xfrm>
            <a:off x="952500" y="3600450"/>
            <a:ext cx="5206975" cy="4705350"/>
          </a:xfrm>
          <a:prstGeom prst="roundRect">
            <a:avLst>
              <a:gd name="adj" fmla="val 4049"/>
            </a:avLst>
          </a:prstGeom>
          <a:solidFill>
            <a:srgbClr val="F9F7F4"/>
          </a:solidFill>
          <a:ln/>
        </p:spPr>
      </p:sp>
      <p:sp>
        <p:nvSpPr>
          <p:cNvPr id="5" name="Text 3"/>
          <p:cNvSpPr/>
          <p:nvPr/>
        </p:nvSpPr>
        <p:spPr>
          <a:xfrm>
            <a:off x="1409700" y="4057650"/>
            <a:ext cx="4721833"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01</a:t>
            </a:r>
            <a:endParaRPr lang="en-US" sz="2100" dirty="0"/>
          </a:p>
        </p:txBody>
      </p:sp>
      <p:sp>
        <p:nvSpPr>
          <p:cNvPr id="6" name="Text 4"/>
          <p:cNvSpPr/>
          <p:nvPr/>
        </p:nvSpPr>
        <p:spPr>
          <a:xfrm>
            <a:off x="1409700" y="4591050"/>
            <a:ext cx="4721833"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30" kern="0" dirty="0">
                <a:solidFill>
                  <a:srgbClr val="1A1917"/>
                </a:solidFill>
                <a:latin typeface="Poppins" pitchFamily="34" charset="0"/>
                <a:ea typeface="Poppins" pitchFamily="34" charset="-122"/>
                <a:cs typeface="Poppins" pitchFamily="34" charset="-120"/>
              </a:rPr>
              <a:t>Weights stop at 700</a:t>
            </a:r>
            <a:endParaRPr lang="en-US" sz="3000" dirty="0"/>
          </a:p>
        </p:txBody>
      </p:sp>
      <p:sp>
        <p:nvSpPr>
          <p:cNvPr id="7" name="Text 5"/>
          <p:cNvSpPr/>
          <p:nvPr/>
        </p:nvSpPr>
        <p:spPr>
          <a:xfrm>
            <a:off x="1409700" y="5238750"/>
            <a:ext cx="4421352" cy="1318171"/>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4E4A43"/>
                </a:solidFill>
                <a:latin typeface="Poppins" pitchFamily="34" charset="0"/>
                <a:ea typeface="Poppins" pitchFamily="34" charset="-122"/>
                <a:cs typeface="Poppins" pitchFamily="34" charset="-120"/>
              </a:rPr>
              <a:t>800 is clumsy at headline sizes. Display and H1 are 700, H2 and H3 are 600, labels 500.</a:t>
            </a:r>
            <a:endParaRPr lang="en-US" sz="2100" dirty="0"/>
          </a:p>
        </p:txBody>
      </p:sp>
      <p:sp>
        <p:nvSpPr>
          <p:cNvPr id="8" name="Shape 6"/>
          <p:cNvSpPr/>
          <p:nvPr/>
        </p:nvSpPr>
        <p:spPr>
          <a:xfrm>
            <a:off x="6540475" y="3600450"/>
            <a:ext cx="5206975" cy="4705350"/>
          </a:xfrm>
          <a:prstGeom prst="roundRect">
            <a:avLst>
              <a:gd name="adj" fmla="val 4049"/>
            </a:avLst>
          </a:prstGeom>
          <a:solidFill>
            <a:srgbClr val="F9F7F4"/>
          </a:solidFill>
          <a:ln/>
        </p:spPr>
      </p:sp>
      <p:sp>
        <p:nvSpPr>
          <p:cNvPr id="9" name="Text 7"/>
          <p:cNvSpPr/>
          <p:nvPr/>
        </p:nvSpPr>
        <p:spPr>
          <a:xfrm>
            <a:off x="6997675" y="4057650"/>
            <a:ext cx="4721833"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02</a:t>
            </a:r>
            <a:endParaRPr lang="en-US" sz="2100" dirty="0"/>
          </a:p>
        </p:txBody>
      </p:sp>
      <p:sp>
        <p:nvSpPr>
          <p:cNvPr id="10" name="Text 8"/>
          <p:cNvSpPr/>
          <p:nvPr/>
        </p:nvSpPr>
        <p:spPr>
          <a:xfrm>
            <a:off x="6997675" y="4591050"/>
            <a:ext cx="4721833"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30" kern="0" dirty="0">
                <a:solidFill>
                  <a:srgbClr val="1A1917"/>
                </a:solidFill>
                <a:latin typeface="Poppins" pitchFamily="34" charset="0"/>
                <a:ea typeface="Poppins" pitchFamily="34" charset="-122"/>
                <a:cs typeface="Poppins" pitchFamily="34" charset="-120"/>
              </a:rPr>
              <a:t>Tracking stays light</a:t>
            </a:r>
            <a:endParaRPr lang="en-US" sz="3000" dirty="0"/>
          </a:p>
        </p:txBody>
      </p:sp>
      <p:sp>
        <p:nvSpPr>
          <p:cNvPr id="11" name="Text 9"/>
          <p:cNvSpPr/>
          <p:nvPr/>
        </p:nvSpPr>
        <p:spPr>
          <a:xfrm>
            <a:off x="6997675" y="5238750"/>
            <a:ext cx="4421352" cy="1318171"/>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4E4A43"/>
                </a:solidFill>
                <a:latin typeface="Poppins" pitchFamily="34" charset="0"/>
                <a:ea typeface="Poppins" pitchFamily="34" charset="-122"/>
                <a:cs typeface="Poppins" pitchFamily="34" charset="-120"/>
              </a:rPr>
              <a:t>Minus .01em normally, minus .02em at display sizes. Tighter would close the counters.</a:t>
            </a:r>
            <a:endParaRPr lang="en-US" sz="2100" dirty="0"/>
          </a:p>
        </p:txBody>
      </p:sp>
      <p:sp>
        <p:nvSpPr>
          <p:cNvPr id="12" name="Shape 10"/>
          <p:cNvSpPr/>
          <p:nvPr/>
        </p:nvSpPr>
        <p:spPr>
          <a:xfrm>
            <a:off x="12128450" y="3600450"/>
            <a:ext cx="5207050" cy="4705350"/>
          </a:xfrm>
          <a:prstGeom prst="roundRect">
            <a:avLst>
              <a:gd name="adj" fmla="val 4049"/>
            </a:avLst>
          </a:prstGeom>
          <a:solidFill>
            <a:srgbClr val="F9F7F4"/>
          </a:solidFill>
          <a:ln/>
        </p:spPr>
      </p:sp>
      <p:sp>
        <p:nvSpPr>
          <p:cNvPr id="13" name="Text 11"/>
          <p:cNvSpPr/>
          <p:nvPr/>
        </p:nvSpPr>
        <p:spPr>
          <a:xfrm>
            <a:off x="12585650" y="4057650"/>
            <a:ext cx="472191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F0602A"/>
                </a:solidFill>
                <a:latin typeface="IBM Plex Mono" pitchFamily="34" charset="0"/>
                <a:ea typeface="IBM Plex Mono" pitchFamily="34" charset="-122"/>
                <a:cs typeface="IBM Plex Mono" pitchFamily="34" charset="-120"/>
              </a:rPr>
              <a:t>03</a:t>
            </a:r>
            <a:endParaRPr lang="en-US" sz="2100" dirty="0"/>
          </a:p>
        </p:txBody>
      </p:sp>
      <p:sp>
        <p:nvSpPr>
          <p:cNvPr id="14" name="Text 12"/>
          <p:cNvSpPr/>
          <p:nvPr/>
        </p:nvSpPr>
        <p:spPr>
          <a:xfrm>
            <a:off x="12585650" y="4591050"/>
            <a:ext cx="4721915"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30" kern="0" dirty="0">
                <a:solidFill>
                  <a:srgbClr val="1A1917"/>
                </a:solidFill>
                <a:latin typeface="Poppins" pitchFamily="34" charset="0"/>
                <a:ea typeface="Poppins" pitchFamily="34" charset="-122"/>
                <a:cs typeface="Poppins" pitchFamily="34" charset="-120"/>
              </a:rPr>
              <a:t>Lines breathe more</a:t>
            </a:r>
            <a:endParaRPr lang="en-US" sz="3000" dirty="0"/>
          </a:p>
        </p:txBody>
      </p:sp>
      <p:sp>
        <p:nvSpPr>
          <p:cNvPr id="15" name="Text 13"/>
          <p:cNvSpPr/>
          <p:nvPr/>
        </p:nvSpPr>
        <p:spPr>
          <a:xfrm>
            <a:off x="12585650" y="5238750"/>
            <a:ext cx="4421429" cy="1318171"/>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4E4A43"/>
                </a:solidFill>
                <a:latin typeface="Poppins" pitchFamily="34" charset="0"/>
                <a:ea typeface="Poppins" pitchFamily="34" charset="-122"/>
                <a:cs typeface="Poppins" pitchFamily="34" charset="-120"/>
              </a:rPr>
              <a:t>Body is 16 on 1.7 and paragraphs cap near 58 characters, not 68.</a:t>
            </a:r>
            <a:endParaRPr lang="en-US" sz="2100" dirty="0"/>
          </a:p>
        </p:txBody>
      </p:sp>
      <p:sp>
        <p:nvSpPr>
          <p:cNvPr id="16" name="Text 14"/>
          <p:cNvSpPr/>
          <p:nvPr/>
        </p:nvSpPr>
        <p:spPr>
          <a:xfrm>
            <a:off x="952500" y="8724900"/>
            <a:ext cx="16874490"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6A655C"/>
                </a:solidFill>
                <a:latin typeface="Poppins" pitchFamily="34" charset="0"/>
                <a:ea typeface="Poppins" pitchFamily="34" charset="-122"/>
                <a:cs typeface="Poppins" pitchFamily="34" charset="-120"/>
              </a:rPr>
              <a:t>Poppins Light 300 is loaded but reserved — it is the weight the logotype resembles, so keeping it out of the interface preserves the distinction.</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Space, radius, elevation</a:t>
            </a:r>
            <a:endParaRPr lang="en-US" sz="4800" dirty="0"/>
          </a:p>
        </p:txBody>
      </p:sp>
      <p:sp>
        <p:nvSpPr>
          <p:cNvPr id="3" name="Text 1"/>
          <p:cNvSpPr/>
          <p:nvPr/>
        </p:nvSpPr>
        <p:spPr>
          <a:xfrm>
            <a:off x="952500" y="2400300"/>
            <a:ext cx="859155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SPACING — 4PX BASE</a:t>
            </a:r>
            <a:endParaRPr lang="en-US" sz="2100" dirty="0"/>
          </a:p>
        </p:txBody>
      </p:sp>
      <p:sp>
        <p:nvSpPr>
          <p:cNvPr id="4" name="Shape 2"/>
          <p:cNvSpPr/>
          <p:nvPr/>
        </p:nvSpPr>
        <p:spPr>
          <a:xfrm>
            <a:off x="952500" y="3833812"/>
            <a:ext cx="228600" cy="228600"/>
          </a:xfrm>
          <a:prstGeom prst="roundRect">
            <a:avLst>
              <a:gd name="adj" fmla="val 16667"/>
            </a:avLst>
          </a:prstGeom>
          <a:solidFill>
            <a:srgbClr val="FFCAB2"/>
          </a:solidFill>
          <a:ln/>
        </p:spPr>
      </p:sp>
      <p:sp>
        <p:nvSpPr>
          <p:cNvPr id="5" name="Shape 3"/>
          <p:cNvSpPr/>
          <p:nvPr/>
        </p:nvSpPr>
        <p:spPr>
          <a:xfrm>
            <a:off x="1314450" y="3757613"/>
            <a:ext cx="304800" cy="304800"/>
          </a:xfrm>
          <a:prstGeom prst="roundRect">
            <a:avLst>
              <a:gd name="adj" fmla="val 12500"/>
            </a:avLst>
          </a:prstGeom>
          <a:solidFill>
            <a:srgbClr val="FCA781"/>
          </a:solidFill>
          <a:ln/>
        </p:spPr>
      </p:sp>
      <p:sp>
        <p:nvSpPr>
          <p:cNvPr id="6" name="Shape 4"/>
          <p:cNvSpPr/>
          <p:nvPr/>
        </p:nvSpPr>
        <p:spPr>
          <a:xfrm>
            <a:off x="1752600" y="3643313"/>
            <a:ext cx="419100" cy="419100"/>
          </a:xfrm>
          <a:prstGeom prst="roundRect">
            <a:avLst>
              <a:gd name="adj" fmla="val 9091"/>
            </a:avLst>
          </a:prstGeom>
          <a:solidFill>
            <a:srgbClr val="F78454"/>
          </a:solidFill>
          <a:ln/>
        </p:spPr>
      </p:sp>
      <p:sp>
        <p:nvSpPr>
          <p:cNvPr id="7" name="Shape 5"/>
          <p:cNvSpPr/>
          <p:nvPr/>
        </p:nvSpPr>
        <p:spPr>
          <a:xfrm>
            <a:off x="2305050" y="3490913"/>
            <a:ext cx="571500" cy="571500"/>
          </a:xfrm>
          <a:prstGeom prst="roundRect">
            <a:avLst>
              <a:gd name="adj" fmla="val 8333"/>
            </a:avLst>
          </a:prstGeom>
          <a:solidFill>
            <a:srgbClr val="F0602A"/>
          </a:solidFill>
          <a:ln/>
        </p:spPr>
      </p:sp>
      <p:sp>
        <p:nvSpPr>
          <p:cNvPr id="8" name="Shape 6"/>
          <p:cNvSpPr/>
          <p:nvPr/>
        </p:nvSpPr>
        <p:spPr>
          <a:xfrm>
            <a:off x="3009900" y="3300413"/>
            <a:ext cx="762000" cy="762000"/>
          </a:xfrm>
          <a:prstGeom prst="roundRect">
            <a:avLst>
              <a:gd name="adj" fmla="val 7500"/>
            </a:avLst>
          </a:prstGeom>
          <a:solidFill>
            <a:srgbClr val="D94B1C"/>
          </a:solidFill>
          <a:ln/>
        </p:spPr>
      </p:sp>
      <p:sp>
        <p:nvSpPr>
          <p:cNvPr id="9" name="Shape 7"/>
          <p:cNvSpPr/>
          <p:nvPr/>
        </p:nvSpPr>
        <p:spPr>
          <a:xfrm>
            <a:off x="3905250" y="3071813"/>
            <a:ext cx="990600" cy="990600"/>
          </a:xfrm>
          <a:prstGeom prst="roundRect">
            <a:avLst>
              <a:gd name="adj" fmla="val 6731"/>
            </a:avLst>
          </a:prstGeom>
          <a:solidFill>
            <a:srgbClr val="B23B17"/>
          </a:solidFill>
          <a:ln/>
        </p:spPr>
      </p:sp>
      <p:sp>
        <p:nvSpPr>
          <p:cNvPr id="10" name="Text 8"/>
          <p:cNvSpPr/>
          <p:nvPr/>
        </p:nvSpPr>
        <p:spPr>
          <a:xfrm>
            <a:off x="952500" y="4329113"/>
            <a:ext cx="8044815"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4E4A43"/>
                </a:solidFill>
                <a:latin typeface="Poppins" pitchFamily="34" charset="0"/>
                <a:ea typeface="Poppins" pitchFamily="34" charset="-122"/>
                <a:cs typeface="Poppins" pitchFamily="34" charset="-120"/>
              </a:rPr>
              <a:t>16 or 24 inside cards, 32 and 48 between blocks, 96 between page sections.</a:t>
            </a:r>
            <a:endParaRPr lang="en-US" sz="2100" dirty="0"/>
          </a:p>
        </p:txBody>
      </p:sp>
      <p:sp>
        <p:nvSpPr>
          <p:cNvPr id="11" name="Text 9"/>
          <p:cNvSpPr/>
          <p:nvPr/>
        </p:nvSpPr>
        <p:spPr>
          <a:xfrm>
            <a:off x="9525000" y="2400300"/>
            <a:ext cx="859155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RADII</a:t>
            </a:r>
            <a:endParaRPr lang="en-US" sz="2100" dirty="0"/>
          </a:p>
        </p:txBody>
      </p:sp>
      <p:sp>
        <p:nvSpPr>
          <p:cNvPr id="12" name="Shape 10"/>
          <p:cNvSpPr/>
          <p:nvPr/>
        </p:nvSpPr>
        <p:spPr>
          <a:xfrm>
            <a:off x="9525000" y="3071813"/>
            <a:ext cx="876300" cy="723900"/>
          </a:xfrm>
          <a:prstGeom prst="roundRect">
            <a:avLst>
              <a:gd name="adj" fmla="val 5263"/>
            </a:avLst>
          </a:prstGeom>
          <a:solidFill>
            <a:srgbClr val="F9F7F4"/>
          </a:solidFill>
          <a:ln w="19050">
            <a:solidFill>
              <a:srgbClr val="E2DED7"/>
            </a:solidFill>
            <a:prstDash val="solid"/>
          </a:ln>
        </p:spPr>
      </p:sp>
      <p:sp>
        <p:nvSpPr>
          <p:cNvPr id="13" name="Shape 11"/>
          <p:cNvSpPr/>
          <p:nvPr/>
        </p:nvSpPr>
        <p:spPr>
          <a:xfrm>
            <a:off x="10591800" y="3071813"/>
            <a:ext cx="876300" cy="723900"/>
          </a:xfrm>
          <a:prstGeom prst="roundRect">
            <a:avLst>
              <a:gd name="adj" fmla="val 7895"/>
            </a:avLst>
          </a:prstGeom>
          <a:solidFill>
            <a:srgbClr val="F9F7F4"/>
          </a:solidFill>
          <a:ln w="19050">
            <a:solidFill>
              <a:srgbClr val="E2DED7"/>
            </a:solidFill>
            <a:prstDash val="solid"/>
          </a:ln>
        </p:spPr>
      </p:sp>
      <p:sp>
        <p:nvSpPr>
          <p:cNvPr id="14" name="Shape 12"/>
          <p:cNvSpPr/>
          <p:nvPr/>
        </p:nvSpPr>
        <p:spPr>
          <a:xfrm>
            <a:off x="11658600" y="3071813"/>
            <a:ext cx="876300" cy="723900"/>
          </a:xfrm>
          <a:prstGeom prst="roundRect">
            <a:avLst>
              <a:gd name="adj" fmla="val 13158"/>
            </a:avLst>
          </a:prstGeom>
          <a:solidFill>
            <a:srgbClr val="F9F7F4"/>
          </a:solidFill>
          <a:ln w="19050">
            <a:solidFill>
              <a:srgbClr val="E2DED7"/>
            </a:solidFill>
            <a:prstDash val="solid"/>
          </a:ln>
        </p:spPr>
      </p:sp>
      <p:sp>
        <p:nvSpPr>
          <p:cNvPr id="15" name="Shape 13"/>
          <p:cNvSpPr/>
          <p:nvPr/>
        </p:nvSpPr>
        <p:spPr>
          <a:xfrm>
            <a:off x="12725400" y="3071813"/>
            <a:ext cx="876300" cy="723900"/>
          </a:xfrm>
          <a:prstGeom prst="roundRect">
            <a:avLst>
              <a:gd name="adj" fmla="val 18421"/>
            </a:avLst>
          </a:prstGeom>
          <a:solidFill>
            <a:srgbClr val="F9F7F4"/>
          </a:solidFill>
          <a:ln w="19050">
            <a:solidFill>
              <a:srgbClr val="E2DED7"/>
            </a:solidFill>
            <a:prstDash val="solid"/>
          </a:ln>
        </p:spPr>
      </p:sp>
      <p:sp>
        <p:nvSpPr>
          <p:cNvPr id="16" name="Shape 14"/>
          <p:cNvSpPr/>
          <p:nvPr/>
        </p:nvSpPr>
        <p:spPr>
          <a:xfrm>
            <a:off x="13792200" y="3071813"/>
            <a:ext cx="876300" cy="723900"/>
          </a:xfrm>
          <a:prstGeom prst="roundRect">
            <a:avLst>
              <a:gd name="adj" fmla="val 26316"/>
            </a:avLst>
          </a:prstGeom>
          <a:solidFill>
            <a:srgbClr val="F9F7F4"/>
          </a:solidFill>
          <a:ln w="19050">
            <a:solidFill>
              <a:srgbClr val="E2DED7"/>
            </a:solidFill>
            <a:prstDash val="solid"/>
          </a:ln>
        </p:spPr>
      </p:sp>
      <p:sp>
        <p:nvSpPr>
          <p:cNvPr id="17" name="Shape 15"/>
          <p:cNvSpPr/>
          <p:nvPr/>
        </p:nvSpPr>
        <p:spPr>
          <a:xfrm>
            <a:off x="14859000" y="3224213"/>
            <a:ext cx="1104900" cy="571500"/>
          </a:xfrm>
          <a:prstGeom prst="roundRect">
            <a:avLst>
              <a:gd name="adj" fmla="val 50000"/>
            </a:avLst>
          </a:prstGeom>
          <a:solidFill>
            <a:srgbClr val="F9F7F4"/>
          </a:solidFill>
          <a:ln w="19050">
            <a:solidFill>
              <a:srgbClr val="E2DED7"/>
            </a:solidFill>
            <a:prstDash val="solid"/>
          </a:ln>
        </p:spPr>
      </p:sp>
      <p:sp>
        <p:nvSpPr>
          <p:cNvPr id="18" name="Text 16"/>
          <p:cNvSpPr/>
          <p:nvPr/>
        </p:nvSpPr>
        <p:spPr>
          <a:xfrm>
            <a:off x="9525000" y="4062412"/>
            <a:ext cx="8044815"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4E4A43"/>
                </a:solidFill>
                <a:latin typeface="Poppins" pitchFamily="34" charset="0"/>
                <a:ea typeface="Poppins" pitchFamily="34" charset="-122"/>
                <a:cs typeface="Poppins" pitchFamily="34" charset="-120"/>
              </a:rPr>
              <a:t>14px is the card workhorse. The pill is for badges, search and progress only.</a:t>
            </a:r>
            <a:endParaRPr lang="en-US" sz="2100" dirty="0"/>
          </a:p>
        </p:txBody>
      </p:sp>
      <p:sp>
        <p:nvSpPr>
          <p:cNvPr id="19" name="Text 17"/>
          <p:cNvSpPr/>
          <p:nvPr/>
        </p:nvSpPr>
        <p:spPr>
          <a:xfrm>
            <a:off x="952500" y="6265069"/>
            <a:ext cx="859155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ELEVATION</a:t>
            </a:r>
            <a:endParaRPr lang="en-US" sz="2100" dirty="0"/>
          </a:p>
        </p:txBody>
      </p:sp>
      <p:sp>
        <p:nvSpPr>
          <p:cNvPr id="20" name="Shape 18"/>
          <p:cNvSpPr/>
          <p:nvPr/>
        </p:nvSpPr>
        <p:spPr>
          <a:xfrm>
            <a:off x="952500" y="6936581"/>
            <a:ext cx="1781175" cy="838200"/>
          </a:xfrm>
          <a:prstGeom prst="roundRect">
            <a:avLst>
              <a:gd name="adj" fmla="val 15909"/>
            </a:avLst>
          </a:prstGeom>
          <a:solidFill>
            <a:srgbClr val="FFFFFF"/>
          </a:solidFill>
          <a:ln/>
          <a:effectLst>
            <a:outerShdw sx="100000" sy="100000" kx="0" ky="0" algn="bl" rotWithShape="0" blurRad="28575" dist="9525" dir="5400000">
              <a:srgbClr val="1A1917">
                <a:alpha val="8000"/>
              </a:srgbClr>
            </a:outerShdw>
          </a:effectLst>
        </p:spPr>
      </p:sp>
      <p:sp>
        <p:nvSpPr>
          <p:cNvPr id="21" name="Shape 19"/>
          <p:cNvSpPr/>
          <p:nvPr/>
        </p:nvSpPr>
        <p:spPr>
          <a:xfrm>
            <a:off x="2962275" y="6936581"/>
            <a:ext cx="1781175" cy="838200"/>
          </a:xfrm>
          <a:prstGeom prst="roundRect">
            <a:avLst>
              <a:gd name="adj" fmla="val 15909"/>
            </a:avLst>
          </a:prstGeom>
          <a:solidFill>
            <a:srgbClr val="FFFFFF"/>
          </a:solidFill>
          <a:ln/>
          <a:effectLst>
            <a:outerShdw sx="100000" sy="100000" kx="0" ky="0" algn="bl" rotWithShape="0" blurRad="114300" dist="38100" dir="5400000">
              <a:srgbClr val="1A1917">
                <a:alpha val="8000"/>
              </a:srgbClr>
            </a:outerShdw>
          </a:effectLst>
        </p:spPr>
      </p:sp>
      <p:sp>
        <p:nvSpPr>
          <p:cNvPr id="22" name="Shape 20"/>
          <p:cNvSpPr/>
          <p:nvPr/>
        </p:nvSpPr>
        <p:spPr>
          <a:xfrm>
            <a:off x="4972050" y="6936581"/>
            <a:ext cx="1781175" cy="838200"/>
          </a:xfrm>
          <a:prstGeom prst="roundRect">
            <a:avLst>
              <a:gd name="adj" fmla="val 15909"/>
            </a:avLst>
          </a:prstGeom>
          <a:solidFill>
            <a:srgbClr val="FFFFFF"/>
          </a:solidFill>
          <a:ln/>
          <a:effectLst>
            <a:outerShdw sx="100000" sy="100000" kx="0" ky="0" algn="bl" rotWithShape="0" blurRad="266700" dist="114300" dir="5400000">
              <a:srgbClr val="1A1917">
                <a:alpha val="10000"/>
              </a:srgbClr>
            </a:outerShdw>
          </a:effectLst>
        </p:spPr>
      </p:sp>
      <p:sp>
        <p:nvSpPr>
          <p:cNvPr id="23" name="Shape 21"/>
          <p:cNvSpPr/>
          <p:nvPr/>
        </p:nvSpPr>
        <p:spPr>
          <a:xfrm>
            <a:off x="6981825" y="6936581"/>
            <a:ext cx="1781175" cy="838200"/>
          </a:xfrm>
          <a:prstGeom prst="roundRect">
            <a:avLst>
              <a:gd name="adj" fmla="val 15909"/>
            </a:avLst>
          </a:prstGeom>
          <a:gradFill rotWithShape="1">
            <a:gsLst>
              <a:gs pos="0">
                <a:srgbClr val="E8402B">
                  <a:alpha val="100000"/>
                </a:srgbClr>
              </a:gs>
              <a:gs pos="52000">
                <a:srgbClr val="F0602A">
                  <a:alpha val="100000"/>
                </a:srgbClr>
              </a:gs>
              <a:gs pos="100000">
                <a:srgbClr val="F78B20">
                  <a:alpha val="100000"/>
                </a:srgbClr>
              </a:gs>
            </a:gsLst>
            <a:lin ang="2700000" scaled="0"/>
          </a:gradFill>
          <a:ln/>
          <a:effectLst>
            <a:outerShdw sx="100000" sy="100000" kx="0" ky="0" algn="bl" rotWithShape="0" blurRad="190500" dist="76200" dir="5400000">
              <a:srgbClr val="F0602A">
                <a:alpha val="28000"/>
              </a:srgbClr>
            </a:outerShdw>
          </a:effectLst>
        </p:spPr>
      </p:sp>
      <p:sp>
        <p:nvSpPr>
          <p:cNvPr id="24" name="Text 22"/>
          <p:cNvSpPr/>
          <p:nvPr/>
        </p:nvSpPr>
        <p:spPr>
          <a:xfrm>
            <a:off x="952500" y="8041481"/>
            <a:ext cx="8044815"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4E4A43"/>
                </a:solidFill>
                <a:latin typeface="Poppins" pitchFamily="34" charset="0"/>
                <a:ea typeface="Poppins" pitchFamily="34" charset="-122"/>
                <a:cs typeface="Poppins" pitchFamily="34" charset="-120"/>
              </a:rPr>
              <a:t>Five neutral steps on the ink value, never black, plus one brand glow.</a:t>
            </a:r>
            <a:endParaRPr lang="en-US" sz="2100" dirty="0"/>
          </a:p>
        </p:txBody>
      </p:sp>
      <p:sp>
        <p:nvSpPr>
          <p:cNvPr id="25" name="Text 23"/>
          <p:cNvSpPr/>
          <p:nvPr/>
        </p:nvSpPr>
        <p:spPr>
          <a:xfrm>
            <a:off x="9525000" y="6265069"/>
            <a:ext cx="859155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THE CARD RECIPE</a:t>
            </a:r>
            <a:endParaRPr lang="en-US" sz="2100" dirty="0"/>
          </a:p>
        </p:txBody>
      </p:sp>
      <p:sp>
        <p:nvSpPr>
          <p:cNvPr id="26" name="Shape 24"/>
          <p:cNvSpPr/>
          <p:nvPr/>
        </p:nvSpPr>
        <p:spPr>
          <a:xfrm>
            <a:off x="9525000" y="6936581"/>
            <a:ext cx="7810500" cy="2062163"/>
          </a:xfrm>
          <a:prstGeom prst="roundRect">
            <a:avLst>
              <a:gd name="adj" fmla="val 6467"/>
            </a:avLst>
          </a:prstGeom>
          <a:solidFill>
            <a:srgbClr val="FFFFFF"/>
          </a:solidFill>
          <a:ln w="19050">
            <a:solidFill>
              <a:srgbClr val="EFECE7"/>
            </a:solidFill>
            <a:prstDash val="solid"/>
          </a:ln>
          <a:effectLst>
            <a:outerShdw sx="100000" sy="100000" kx="0" ky="0" algn="bl" rotWithShape="0" blurRad="28575" dist="9525" dir="5400000">
              <a:srgbClr val="1A1917">
                <a:alpha val="8000"/>
              </a:srgbClr>
            </a:outerShdw>
          </a:effectLst>
        </p:spPr>
      </p:sp>
      <p:sp>
        <p:nvSpPr>
          <p:cNvPr id="27" name="Shape 25"/>
          <p:cNvSpPr/>
          <p:nvPr/>
        </p:nvSpPr>
        <p:spPr>
          <a:xfrm>
            <a:off x="9544050" y="6955631"/>
            <a:ext cx="7772400" cy="57150"/>
          </a:xfrm>
          <a:prstGeom prst="rect">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8" name="Text 26"/>
          <p:cNvSpPr/>
          <p:nvPr/>
        </p:nvSpPr>
        <p:spPr>
          <a:xfrm>
            <a:off x="9848850" y="7336631"/>
            <a:ext cx="7879080" cy="490538"/>
          </a:xfrm>
          <a:prstGeom prst="rect">
            <a:avLst/>
          </a:prstGeom>
          <a:noFill/>
          <a:ln/>
        </p:spPr>
        <p:txBody>
          <a:bodyPr wrap="square" lIns="25400" tIns="25400" rIns="25400" bIns="25400" rtlCol="0" anchor="t">
            <a:normAutofit/>
          </a:bodyPr>
          <a:lstStyle/>
          <a:p>
            <a:pPr algn="l" indent="0" marL="0">
              <a:buNone/>
            </a:pPr>
            <a:r>
              <a:rPr lang="en-US" sz="2400" b="1" dirty="0">
                <a:solidFill>
                  <a:srgbClr val="1A1917"/>
                </a:solidFill>
                <a:latin typeface="Poppins" pitchFamily="34" charset="0"/>
                <a:ea typeface="Poppins" pitchFamily="34" charset="-122"/>
                <a:cs typeface="Poppins" pitchFamily="34" charset="-120"/>
              </a:rPr>
              <a:t>White, hairline, 14px, shadow-sm</a:t>
            </a:r>
            <a:endParaRPr lang="en-US" sz="2400" dirty="0"/>
          </a:p>
        </p:txBody>
      </p:sp>
      <p:sp>
        <p:nvSpPr>
          <p:cNvPr id="29" name="Text 27"/>
          <p:cNvSpPr/>
          <p:nvPr/>
        </p:nvSpPr>
        <p:spPr>
          <a:xfrm>
            <a:off x="9848850" y="7865269"/>
            <a:ext cx="7377684" cy="847725"/>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The only accent is a 4px gradient rule on the top edge. No coloured left borders.</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917"/>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FFFFF"/>
                </a:solidFill>
                <a:latin typeface="Poppins" pitchFamily="34" charset="0"/>
                <a:ea typeface="Poppins" pitchFamily="34" charset="-122"/>
                <a:cs typeface="Poppins" pitchFamily="34" charset="-120"/>
              </a:rPr>
              <a:t>Motion and states</a:t>
            </a:r>
            <a:endParaRPr lang="en-US" sz="4800" dirty="0"/>
          </a:p>
        </p:txBody>
      </p:sp>
      <p:sp>
        <p:nvSpPr>
          <p:cNvPr id="3" name="Text 1"/>
          <p:cNvSpPr/>
          <p:nvPr/>
        </p:nvSpPr>
        <p:spPr>
          <a:xfrm>
            <a:off x="952500" y="2019300"/>
            <a:ext cx="11506630"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CBC6BD"/>
                </a:solidFill>
                <a:latin typeface="Poppins" pitchFamily="34" charset="0"/>
                <a:ea typeface="Poppins" pitchFamily="34" charset="-122"/>
                <a:cs typeface="Poppins" pitchFamily="34" charset="-120"/>
              </a:rPr>
              <a:t>One curve, five durations. Motion confirms an action; it never decorates.</a:t>
            </a:r>
            <a:endParaRPr lang="en-US" sz="2550" dirty="0"/>
          </a:p>
        </p:txBody>
      </p:sp>
      <p:sp>
        <p:nvSpPr>
          <p:cNvPr id="4" name="Shape 2"/>
          <p:cNvSpPr/>
          <p:nvPr/>
        </p:nvSpPr>
        <p:spPr>
          <a:xfrm>
            <a:off x="952500" y="3600450"/>
            <a:ext cx="7810500" cy="19050"/>
          </a:xfrm>
          <a:prstGeom prst="rect">
            <a:avLst/>
          </a:prstGeom>
          <a:solidFill>
            <a:srgbClr val="4E4A43"/>
          </a:solidFill>
          <a:ln/>
        </p:spPr>
      </p:sp>
      <p:sp>
        <p:nvSpPr>
          <p:cNvPr id="5" name="Text 3"/>
          <p:cNvSpPr/>
          <p:nvPr/>
        </p:nvSpPr>
        <p:spPr>
          <a:xfrm>
            <a:off x="952500" y="3886200"/>
            <a:ext cx="859155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Hover</a:t>
            </a:r>
            <a:endParaRPr lang="en-US" sz="2700" dirty="0"/>
          </a:p>
        </p:txBody>
      </p:sp>
      <p:sp>
        <p:nvSpPr>
          <p:cNvPr id="6" name="Text 4"/>
          <p:cNvSpPr/>
          <p:nvPr/>
        </p:nvSpPr>
        <p:spPr>
          <a:xfrm>
            <a:off x="952500" y="4514850"/>
            <a:ext cx="8044815" cy="89148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Cards lift 2px and deepen their shadow. Primary buttons flatten to solid orange-600 and gain the brand glow.</a:t>
            </a:r>
            <a:endParaRPr lang="en-US" sz="2100" dirty="0"/>
          </a:p>
        </p:txBody>
      </p:sp>
      <p:sp>
        <p:nvSpPr>
          <p:cNvPr id="7" name="Shape 5"/>
          <p:cNvSpPr/>
          <p:nvPr/>
        </p:nvSpPr>
        <p:spPr>
          <a:xfrm>
            <a:off x="9525000" y="3600450"/>
            <a:ext cx="7810500" cy="19050"/>
          </a:xfrm>
          <a:prstGeom prst="rect">
            <a:avLst/>
          </a:prstGeom>
          <a:solidFill>
            <a:srgbClr val="4E4A43"/>
          </a:solidFill>
          <a:ln/>
        </p:spPr>
      </p:sp>
      <p:sp>
        <p:nvSpPr>
          <p:cNvPr id="8" name="Text 6"/>
          <p:cNvSpPr/>
          <p:nvPr/>
        </p:nvSpPr>
        <p:spPr>
          <a:xfrm>
            <a:off x="9525000" y="3886200"/>
            <a:ext cx="859155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Press</a:t>
            </a:r>
            <a:endParaRPr lang="en-US" sz="2700" dirty="0"/>
          </a:p>
        </p:txBody>
      </p:sp>
      <p:sp>
        <p:nvSpPr>
          <p:cNvPr id="9" name="Text 7"/>
          <p:cNvSpPr/>
          <p:nvPr/>
        </p:nvSpPr>
        <p:spPr>
          <a:xfrm>
            <a:off x="9525000" y="4514850"/>
            <a:ext cx="8044815" cy="89148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Scale .97 with no colour change, 80ms. Identical on every clickable control.</a:t>
            </a:r>
            <a:endParaRPr lang="en-US" sz="2100" dirty="0"/>
          </a:p>
        </p:txBody>
      </p:sp>
      <p:sp>
        <p:nvSpPr>
          <p:cNvPr id="10" name="Shape 8"/>
          <p:cNvSpPr/>
          <p:nvPr/>
        </p:nvSpPr>
        <p:spPr>
          <a:xfrm>
            <a:off x="952500" y="6324600"/>
            <a:ext cx="7810500" cy="19050"/>
          </a:xfrm>
          <a:prstGeom prst="rect">
            <a:avLst/>
          </a:prstGeom>
          <a:solidFill>
            <a:srgbClr val="4E4A43"/>
          </a:solidFill>
          <a:ln/>
        </p:spPr>
      </p:sp>
      <p:sp>
        <p:nvSpPr>
          <p:cNvPr id="11" name="Text 9"/>
          <p:cNvSpPr/>
          <p:nvPr/>
        </p:nvSpPr>
        <p:spPr>
          <a:xfrm>
            <a:off x="952500" y="6610350"/>
            <a:ext cx="859155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Focus</a:t>
            </a:r>
            <a:endParaRPr lang="en-US" sz="2700" dirty="0"/>
          </a:p>
        </p:txBody>
      </p:sp>
      <p:sp>
        <p:nvSpPr>
          <p:cNvPr id="12" name="Text 10"/>
          <p:cNvSpPr/>
          <p:nvPr/>
        </p:nvSpPr>
        <p:spPr>
          <a:xfrm>
            <a:off x="952500" y="7239000"/>
            <a:ext cx="8044815" cy="89148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A 3px orange ring at 28% plus an orange-500 border. Never removed.</a:t>
            </a:r>
            <a:endParaRPr lang="en-US" sz="2100" dirty="0"/>
          </a:p>
        </p:txBody>
      </p:sp>
      <p:sp>
        <p:nvSpPr>
          <p:cNvPr id="13" name="Shape 11"/>
          <p:cNvSpPr/>
          <p:nvPr/>
        </p:nvSpPr>
        <p:spPr>
          <a:xfrm>
            <a:off x="9525000" y="6324600"/>
            <a:ext cx="7810500" cy="19050"/>
          </a:xfrm>
          <a:prstGeom prst="rect">
            <a:avLst/>
          </a:prstGeom>
          <a:solidFill>
            <a:srgbClr val="4E4A43"/>
          </a:solidFill>
          <a:ln/>
        </p:spPr>
      </p:sp>
      <p:sp>
        <p:nvSpPr>
          <p:cNvPr id="14" name="Text 12"/>
          <p:cNvSpPr/>
          <p:nvPr/>
        </p:nvSpPr>
        <p:spPr>
          <a:xfrm>
            <a:off x="9525000" y="6610350"/>
            <a:ext cx="859155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Selection</a:t>
            </a:r>
            <a:endParaRPr lang="en-US" sz="2700" dirty="0"/>
          </a:p>
        </p:txBody>
      </p:sp>
      <p:sp>
        <p:nvSpPr>
          <p:cNvPr id="15" name="Text 13"/>
          <p:cNvSpPr/>
          <p:nvPr/>
        </p:nvSpPr>
        <p:spPr>
          <a:xfrm>
            <a:off x="9525000" y="7239000"/>
            <a:ext cx="8044815" cy="89148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Orange-50 fill, orange-300 border, orange-700 text. The single selection idiom system-wide.</a:t>
            </a:r>
            <a:endParaRPr lang="en-US" sz="2100" dirty="0"/>
          </a:p>
        </p:txBody>
      </p:sp>
      <p:sp>
        <p:nvSpPr>
          <p:cNvPr id="16" name="Text 14"/>
          <p:cNvSpPr/>
          <p:nvPr/>
        </p:nvSpPr>
        <p:spPr>
          <a:xfrm>
            <a:off x="952500" y="9124950"/>
            <a:ext cx="18021300" cy="438150"/>
          </a:xfrm>
          <a:prstGeom prst="rect">
            <a:avLst/>
          </a:prstGeom>
          <a:noFill/>
          <a:ln/>
        </p:spPr>
        <p:txBody>
          <a:bodyPr wrap="square" lIns="25400" tIns="25400" rIns="25400" bIns="25400" rtlCol="0" anchor="t">
            <a:normAutofit/>
          </a:bodyPr>
          <a:lstStyle/>
          <a:p>
            <a:pPr algn="l" indent="0" marL="0">
              <a:buNone/>
            </a:pPr>
            <a:r>
              <a:rPr lang="en-US" sz="2400" dirty="0">
                <a:solidFill>
                  <a:srgbClr val="F78B20"/>
                </a:solidFill>
                <a:latin typeface="IBM Plex Mono" pitchFamily="34" charset="0"/>
                <a:ea typeface="IBM Plex Mono" pitchFamily="34" charset="-122"/>
                <a:cs typeface="IBM Plex Mono" pitchFamily="34" charset="-120"/>
              </a:rPr>
              <a:t>80 · 140 · 200 · 320 · 520ms — cubic-bezier(.2,.7,.3,1)</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Component inventory</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Forty-nine components in eight groups. Each ships with a props contract, a usage note and a live specimen card.</a:t>
            </a:r>
            <a:endParaRPr lang="en-US" sz="2550" dirty="0"/>
          </a:p>
        </p:txBody>
      </p:sp>
      <p:sp>
        <p:nvSpPr>
          <p:cNvPr id="4" name="Shape 2"/>
          <p:cNvSpPr/>
          <p:nvPr/>
        </p:nvSpPr>
        <p:spPr>
          <a:xfrm>
            <a:off x="952500" y="3448050"/>
            <a:ext cx="3867150" cy="38100"/>
          </a:xfrm>
          <a:prstGeom prst="rect">
            <a:avLst/>
          </a:prstGeom>
          <a:solidFill>
            <a:srgbClr val="F0602A"/>
          </a:solidFill>
          <a:ln/>
        </p:spPr>
      </p:sp>
      <p:sp>
        <p:nvSpPr>
          <p:cNvPr id="5" name="Text 3"/>
          <p:cNvSpPr/>
          <p:nvPr/>
        </p:nvSpPr>
        <p:spPr>
          <a:xfrm>
            <a:off x="952500" y="3752850"/>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Brand</a:t>
            </a:r>
            <a:endParaRPr lang="en-US" sz="2250" dirty="0"/>
          </a:p>
        </p:txBody>
      </p:sp>
      <p:sp>
        <p:nvSpPr>
          <p:cNvPr id="6" name="Text 4"/>
          <p:cNvSpPr/>
          <p:nvPr/>
        </p:nvSpPr>
        <p:spPr>
          <a:xfrm>
            <a:off x="952500" y="4314825"/>
            <a:ext cx="4253865" cy="392385"/>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Logo · Icon</a:t>
            </a:r>
            <a:endParaRPr lang="en-US" sz="1800" dirty="0"/>
          </a:p>
        </p:txBody>
      </p:sp>
      <p:sp>
        <p:nvSpPr>
          <p:cNvPr id="7" name="Shape 5"/>
          <p:cNvSpPr/>
          <p:nvPr/>
        </p:nvSpPr>
        <p:spPr>
          <a:xfrm>
            <a:off x="5124450" y="3448050"/>
            <a:ext cx="3867150" cy="38100"/>
          </a:xfrm>
          <a:prstGeom prst="rect">
            <a:avLst/>
          </a:prstGeom>
          <a:solidFill>
            <a:srgbClr val="F0602A"/>
          </a:solidFill>
          <a:ln/>
        </p:spPr>
      </p:sp>
      <p:sp>
        <p:nvSpPr>
          <p:cNvPr id="8" name="Text 6"/>
          <p:cNvSpPr/>
          <p:nvPr/>
        </p:nvSpPr>
        <p:spPr>
          <a:xfrm>
            <a:off x="5124450" y="3752850"/>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Core</a:t>
            </a:r>
            <a:endParaRPr lang="en-US" sz="2250" dirty="0"/>
          </a:p>
        </p:txBody>
      </p:sp>
      <p:sp>
        <p:nvSpPr>
          <p:cNvPr id="9" name="Text 7"/>
          <p:cNvSpPr/>
          <p:nvPr/>
        </p:nvSpPr>
        <p:spPr>
          <a:xfrm>
            <a:off x="5124450" y="4314825"/>
            <a:ext cx="3983165" cy="746671"/>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Button · IconButton · Badge · Tag · Card · Avatar</a:t>
            </a:r>
            <a:endParaRPr lang="en-US" sz="1800" dirty="0"/>
          </a:p>
        </p:txBody>
      </p:sp>
      <p:sp>
        <p:nvSpPr>
          <p:cNvPr id="10" name="Shape 8"/>
          <p:cNvSpPr/>
          <p:nvPr/>
        </p:nvSpPr>
        <p:spPr>
          <a:xfrm>
            <a:off x="9296400" y="3448050"/>
            <a:ext cx="3867150" cy="38100"/>
          </a:xfrm>
          <a:prstGeom prst="rect">
            <a:avLst/>
          </a:prstGeom>
          <a:solidFill>
            <a:srgbClr val="F0602A"/>
          </a:solidFill>
          <a:ln/>
        </p:spPr>
      </p:sp>
      <p:sp>
        <p:nvSpPr>
          <p:cNvPr id="11" name="Text 9"/>
          <p:cNvSpPr/>
          <p:nvPr/>
        </p:nvSpPr>
        <p:spPr>
          <a:xfrm>
            <a:off x="9296400" y="3752850"/>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Forms</a:t>
            </a:r>
            <a:endParaRPr lang="en-US" sz="2250" dirty="0"/>
          </a:p>
        </p:txBody>
      </p:sp>
      <p:sp>
        <p:nvSpPr>
          <p:cNvPr id="12" name="Text 10"/>
          <p:cNvSpPr/>
          <p:nvPr/>
        </p:nvSpPr>
        <p:spPr>
          <a:xfrm>
            <a:off x="9296400" y="4314825"/>
            <a:ext cx="3983165" cy="1809527"/>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Input · Select · Checkbox · Radio · Switch · SearchField · Slider · NumberField · Rating · ToggleButton · ButtonGroup · Fab · Autocomplete · TransferList</a:t>
            </a:r>
            <a:endParaRPr lang="en-US" sz="1800" dirty="0"/>
          </a:p>
        </p:txBody>
      </p:sp>
      <p:sp>
        <p:nvSpPr>
          <p:cNvPr id="13" name="Shape 11"/>
          <p:cNvSpPr/>
          <p:nvPr/>
        </p:nvSpPr>
        <p:spPr>
          <a:xfrm>
            <a:off x="13468350" y="3448050"/>
            <a:ext cx="3867150" cy="38100"/>
          </a:xfrm>
          <a:prstGeom prst="rect">
            <a:avLst/>
          </a:prstGeom>
          <a:solidFill>
            <a:srgbClr val="F0602A"/>
          </a:solidFill>
          <a:ln/>
        </p:spPr>
      </p:sp>
      <p:sp>
        <p:nvSpPr>
          <p:cNvPr id="14" name="Text 12"/>
          <p:cNvSpPr/>
          <p:nvPr/>
        </p:nvSpPr>
        <p:spPr>
          <a:xfrm>
            <a:off x="13468350" y="3752850"/>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Feedback</a:t>
            </a:r>
            <a:endParaRPr lang="en-US" sz="2250" dirty="0"/>
          </a:p>
        </p:txBody>
      </p:sp>
      <p:sp>
        <p:nvSpPr>
          <p:cNvPr id="15" name="Text 13"/>
          <p:cNvSpPr/>
          <p:nvPr/>
        </p:nvSpPr>
        <p:spPr>
          <a:xfrm>
            <a:off x="13468350" y="4314825"/>
            <a:ext cx="3983165" cy="1100956"/>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Alert · ProgressBar · ScoreRing · Skeleton · Dialog · Snackbar · Spinner · Backdrop</a:t>
            </a:r>
            <a:endParaRPr lang="en-US" sz="1800" dirty="0"/>
          </a:p>
        </p:txBody>
      </p:sp>
      <p:sp>
        <p:nvSpPr>
          <p:cNvPr id="16" name="Shape 14"/>
          <p:cNvSpPr/>
          <p:nvPr/>
        </p:nvSpPr>
        <p:spPr>
          <a:xfrm>
            <a:off x="952500" y="6429152"/>
            <a:ext cx="3867150" cy="38100"/>
          </a:xfrm>
          <a:prstGeom prst="rect">
            <a:avLst/>
          </a:prstGeom>
          <a:solidFill>
            <a:srgbClr val="F0602A"/>
          </a:solidFill>
          <a:ln/>
        </p:spPr>
      </p:sp>
      <p:sp>
        <p:nvSpPr>
          <p:cNvPr id="17" name="Text 15"/>
          <p:cNvSpPr/>
          <p:nvPr/>
        </p:nvSpPr>
        <p:spPr>
          <a:xfrm>
            <a:off x="952500" y="6733952"/>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Navigation</a:t>
            </a:r>
            <a:endParaRPr lang="en-US" sz="2250" dirty="0"/>
          </a:p>
        </p:txBody>
      </p:sp>
      <p:sp>
        <p:nvSpPr>
          <p:cNvPr id="18" name="Text 16"/>
          <p:cNvSpPr/>
          <p:nvPr/>
        </p:nvSpPr>
        <p:spPr>
          <a:xfrm>
            <a:off x="952500" y="7295927"/>
            <a:ext cx="3983165" cy="1100956"/>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Tabs · Breadcrumb · Pagination · SidebarNav · Stepper · Menu · BottomNav · Link</a:t>
            </a:r>
            <a:endParaRPr lang="en-US" sz="1800" dirty="0"/>
          </a:p>
        </p:txBody>
      </p:sp>
      <p:sp>
        <p:nvSpPr>
          <p:cNvPr id="19" name="Shape 17"/>
          <p:cNvSpPr/>
          <p:nvPr/>
        </p:nvSpPr>
        <p:spPr>
          <a:xfrm>
            <a:off x="5124450" y="6429152"/>
            <a:ext cx="3867150" cy="38100"/>
          </a:xfrm>
          <a:prstGeom prst="rect">
            <a:avLst/>
          </a:prstGeom>
          <a:solidFill>
            <a:srgbClr val="F0602A"/>
          </a:solidFill>
          <a:ln/>
        </p:spPr>
      </p:sp>
      <p:sp>
        <p:nvSpPr>
          <p:cNvPr id="20" name="Text 18"/>
          <p:cNvSpPr/>
          <p:nvPr/>
        </p:nvSpPr>
        <p:spPr>
          <a:xfrm>
            <a:off x="5124450" y="6733952"/>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Learning</a:t>
            </a:r>
            <a:endParaRPr lang="en-US" sz="2250" dirty="0"/>
          </a:p>
        </p:txBody>
      </p:sp>
      <p:sp>
        <p:nvSpPr>
          <p:cNvPr id="21" name="Text 19"/>
          <p:cNvSpPr/>
          <p:nvPr/>
        </p:nvSpPr>
        <p:spPr>
          <a:xfrm>
            <a:off x="5124450" y="7295927"/>
            <a:ext cx="3983165" cy="746671"/>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CourseCard · StatTile · LessonRow · QuestionCard</a:t>
            </a:r>
            <a:endParaRPr lang="en-US" sz="1800" dirty="0"/>
          </a:p>
        </p:txBody>
      </p:sp>
      <p:sp>
        <p:nvSpPr>
          <p:cNvPr id="22" name="Shape 20"/>
          <p:cNvSpPr/>
          <p:nvPr/>
        </p:nvSpPr>
        <p:spPr>
          <a:xfrm>
            <a:off x="9296400" y="6429152"/>
            <a:ext cx="3867150" cy="38100"/>
          </a:xfrm>
          <a:prstGeom prst="rect">
            <a:avLst/>
          </a:prstGeom>
          <a:solidFill>
            <a:srgbClr val="F0602A"/>
          </a:solidFill>
          <a:ln/>
        </p:spPr>
      </p:sp>
      <p:sp>
        <p:nvSpPr>
          <p:cNvPr id="23" name="Text 21"/>
          <p:cNvSpPr/>
          <p:nvPr/>
        </p:nvSpPr>
        <p:spPr>
          <a:xfrm>
            <a:off x="9296400" y="6733952"/>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Data display</a:t>
            </a:r>
            <a:endParaRPr lang="en-US" sz="2250" dirty="0"/>
          </a:p>
        </p:txBody>
      </p:sp>
      <p:sp>
        <p:nvSpPr>
          <p:cNvPr id="24" name="Text 22"/>
          <p:cNvSpPr/>
          <p:nvPr/>
        </p:nvSpPr>
        <p:spPr>
          <a:xfrm>
            <a:off x="9296400" y="7295927"/>
            <a:ext cx="4253865" cy="392385"/>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Divider · List · Table · Tooltip</a:t>
            </a:r>
            <a:endParaRPr lang="en-US" sz="1800" dirty="0"/>
          </a:p>
        </p:txBody>
      </p:sp>
      <p:sp>
        <p:nvSpPr>
          <p:cNvPr id="25" name="Shape 23"/>
          <p:cNvSpPr/>
          <p:nvPr/>
        </p:nvSpPr>
        <p:spPr>
          <a:xfrm>
            <a:off x="13468350" y="6429152"/>
            <a:ext cx="3867150" cy="38100"/>
          </a:xfrm>
          <a:prstGeom prst="rect">
            <a:avLst/>
          </a:prstGeom>
          <a:solidFill>
            <a:srgbClr val="F0602A"/>
          </a:solidFill>
          <a:ln/>
        </p:spPr>
      </p:sp>
      <p:sp>
        <p:nvSpPr>
          <p:cNvPr id="26" name="Text 24"/>
          <p:cNvSpPr/>
          <p:nvPr/>
        </p:nvSpPr>
        <p:spPr>
          <a:xfrm>
            <a:off x="13468350" y="6733952"/>
            <a:ext cx="4253865"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Surfaces</a:t>
            </a:r>
            <a:endParaRPr lang="en-US" sz="2250" dirty="0"/>
          </a:p>
        </p:txBody>
      </p:sp>
      <p:sp>
        <p:nvSpPr>
          <p:cNvPr id="27" name="Text 25"/>
          <p:cNvSpPr/>
          <p:nvPr/>
        </p:nvSpPr>
        <p:spPr>
          <a:xfrm>
            <a:off x="13468350" y="7295927"/>
            <a:ext cx="4253865" cy="392385"/>
          </a:xfrm>
          <a:prstGeom prst="rect">
            <a:avLst/>
          </a:prstGeom>
          <a:noFill/>
          <a:ln/>
        </p:spPr>
        <p:txBody>
          <a:bodyPr wrap="square" lIns="25400" tIns="25400" rIns="25400" bIns="25400" rtlCol="0" anchor="t">
            <a:normAutofit/>
          </a:bodyPr>
          <a:lstStyle/>
          <a:p>
            <a:pPr algn="l" indent="0" marL="0">
              <a:lnSpc>
                <a:spcPct val="103333"/>
              </a:lnSpc>
              <a:buNone/>
            </a:pPr>
            <a:r>
              <a:rPr lang="en-US" sz="1800" dirty="0">
                <a:solidFill>
                  <a:srgbClr val="4E4A43"/>
                </a:solidFill>
                <a:latin typeface="Poppins" pitchFamily="34" charset="0"/>
                <a:ea typeface="Poppins" pitchFamily="34" charset="-122"/>
                <a:cs typeface="Poppins" pitchFamily="34" charset="-120"/>
              </a:rPr>
              <a:t>Paper · Accordion · AppBar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Controls in the flesh</a:t>
            </a:r>
            <a:endParaRPr lang="en-US" sz="4800" dirty="0"/>
          </a:p>
        </p:txBody>
      </p:sp>
      <p:sp>
        <p:nvSpPr>
          <p:cNvPr id="3" name="Shape 1"/>
          <p:cNvSpPr/>
          <p:nvPr/>
        </p:nvSpPr>
        <p:spPr>
          <a:xfrm>
            <a:off x="952500" y="2419350"/>
            <a:ext cx="2908474" cy="723900"/>
          </a:xfrm>
          <a:prstGeom prst="roundRect">
            <a:avLst>
              <a:gd name="adj" fmla="val 18421"/>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4" name="Text 2"/>
          <p:cNvSpPr/>
          <p:nvPr/>
        </p:nvSpPr>
        <p:spPr>
          <a:xfrm>
            <a:off x="1371600" y="2419350"/>
            <a:ext cx="2157528" cy="762000"/>
          </a:xfrm>
          <a:prstGeom prst="rect">
            <a:avLst/>
          </a:prstGeom>
          <a:noFill/>
          <a:ln/>
        </p:spPr>
        <p:txBody>
          <a:bodyPr wrap="square" lIns="25400" tIns="25400" rIns="25400" bIns="25400" rtlCol="0" anchor="ctr">
            <a:normAutofit/>
          </a:bodyPr>
          <a:lstStyle/>
          <a:p>
            <a:pPr algn="l" indent="0" marL="0">
              <a:buNone/>
            </a:pPr>
            <a:r>
              <a:rPr lang="en-US" sz="2400" b="1" spc="-24" kern="0" dirty="0">
                <a:solidFill>
                  <a:srgbClr val="FFFFFF"/>
                </a:solidFill>
                <a:latin typeface="Poppins" pitchFamily="34" charset="0"/>
                <a:ea typeface="Poppins" pitchFamily="34" charset="-122"/>
                <a:cs typeface="Poppins" pitchFamily="34" charset="-120"/>
              </a:rPr>
              <a:t>Start free trial</a:t>
            </a:r>
            <a:endParaRPr lang="en-US" sz="2400" dirty="0"/>
          </a:p>
        </p:txBody>
      </p:sp>
      <p:sp>
        <p:nvSpPr>
          <p:cNvPr id="5" name="Shape 3"/>
          <p:cNvSpPr/>
          <p:nvPr/>
        </p:nvSpPr>
        <p:spPr>
          <a:xfrm>
            <a:off x="4127674" y="2400300"/>
            <a:ext cx="2956917" cy="762000"/>
          </a:xfrm>
          <a:prstGeom prst="roundRect">
            <a:avLst>
              <a:gd name="adj" fmla="val 17500"/>
            </a:avLst>
          </a:prstGeom>
          <a:solidFill>
            <a:srgbClr val="FFFFFF"/>
          </a:solidFill>
          <a:ln w="19050">
            <a:solidFill>
              <a:srgbClr val="E2DED7"/>
            </a:solidFill>
            <a:prstDash val="solid"/>
          </a:ln>
        </p:spPr>
      </p:sp>
      <p:sp>
        <p:nvSpPr>
          <p:cNvPr id="6" name="Text 4"/>
          <p:cNvSpPr/>
          <p:nvPr/>
        </p:nvSpPr>
        <p:spPr>
          <a:xfrm>
            <a:off x="4565824" y="2419350"/>
            <a:ext cx="2169325" cy="762000"/>
          </a:xfrm>
          <a:prstGeom prst="rect">
            <a:avLst/>
          </a:prstGeom>
          <a:noFill/>
          <a:ln/>
        </p:spPr>
        <p:txBody>
          <a:bodyPr wrap="square" lIns="25400" tIns="25400" rIns="25400" bIns="25400" rtlCol="0" anchor="ctr">
            <a:normAutofit/>
          </a:bodyPr>
          <a:lstStyle/>
          <a:p>
            <a:pPr algn="l" indent="0" marL="0">
              <a:buNone/>
            </a:pPr>
            <a:r>
              <a:rPr lang="en-US" sz="2400" b="1" spc="-24" kern="0" dirty="0">
                <a:solidFill>
                  <a:srgbClr val="26241F"/>
                </a:solidFill>
                <a:latin typeface="Poppins" pitchFamily="34" charset="0"/>
                <a:ea typeface="Poppins" pitchFamily="34" charset="-122"/>
                <a:cs typeface="Poppins" pitchFamily="34" charset="-120"/>
              </a:rPr>
              <a:t>View syllabus</a:t>
            </a:r>
            <a:endParaRPr lang="en-US" sz="2400" dirty="0"/>
          </a:p>
        </p:txBody>
      </p:sp>
      <p:sp>
        <p:nvSpPr>
          <p:cNvPr id="7" name="Shape 5"/>
          <p:cNvSpPr/>
          <p:nvPr/>
        </p:nvSpPr>
        <p:spPr>
          <a:xfrm>
            <a:off x="7351291" y="2400300"/>
            <a:ext cx="1973014" cy="762000"/>
          </a:xfrm>
          <a:prstGeom prst="roundRect">
            <a:avLst>
              <a:gd name="adj" fmla="val 17500"/>
            </a:avLst>
          </a:prstGeom>
          <a:ln w="19050">
            <a:solidFill>
              <a:srgbClr val="F0602A"/>
            </a:solidFill>
            <a:prstDash val="solid"/>
          </a:ln>
        </p:spPr>
      </p:sp>
      <p:sp>
        <p:nvSpPr>
          <p:cNvPr id="8" name="Text 6"/>
          <p:cNvSpPr/>
          <p:nvPr/>
        </p:nvSpPr>
        <p:spPr>
          <a:xfrm>
            <a:off x="7789441" y="2419350"/>
            <a:ext cx="1172914" cy="762000"/>
          </a:xfrm>
          <a:prstGeom prst="rect">
            <a:avLst/>
          </a:prstGeom>
          <a:noFill/>
          <a:ln/>
        </p:spPr>
        <p:txBody>
          <a:bodyPr wrap="square" lIns="25400" tIns="25400" rIns="25400" bIns="25400" rtlCol="0" anchor="ctr">
            <a:normAutofit/>
          </a:bodyPr>
          <a:lstStyle/>
          <a:p>
            <a:pPr algn="l" indent="0" marL="0">
              <a:buNone/>
            </a:pPr>
            <a:r>
              <a:rPr lang="en-US" sz="2400" b="1" spc="-24" kern="0" dirty="0">
                <a:solidFill>
                  <a:srgbClr val="D94B1C"/>
                </a:solidFill>
                <a:latin typeface="Poppins" pitchFamily="34" charset="0"/>
                <a:ea typeface="Poppins" pitchFamily="34" charset="-122"/>
                <a:cs typeface="Poppins" pitchFamily="34" charset="-120"/>
              </a:rPr>
              <a:t>Outline</a:t>
            </a:r>
            <a:endParaRPr lang="en-US" sz="2400" dirty="0"/>
          </a:p>
        </p:txBody>
      </p:sp>
      <p:sp>
        <p:nvSpPr>
          <p:cNvPr id="9" name="Text 7"/>
          <p:cNvSpPr/>
          <p:nvPr/>
        </p:nvSpPr>
        <p:spPr>
          <a:xfrm>
            <a:off x="10010105" y="2419350"/>
            <a:ext cx="975420" cy="762000"/>
          </a:xfrm>
          <a:prstGeom prst="rect">
            <a:avLst/>
          </a:prstGeom>
          <a:noFill/>
          <a:ln/>
        </p:spPr>
        <p:txBody>
          <a:bodyPr wrap="square" lIns="25400" tIns="25400" rIns="25400" bIns="25400" rtlCol="0" anchor="ctr">
            <a:normAutofit/>
          </a:bodyPr>
          <a:lstStyle/>
          <a:p>
            <a:pPr algn="l" indent="0" marL="0">
              <a:buNone/>
            </a:pPr>
            <a:r>
              <a:rPr lang="en-US" sz="2400" b="1" spc="-24" kern="0" dirty="0">
                <a:solidFill>
                  <a:srgbClr val="4E4A43"/>
                </a:solidFill>
                <a:latin typeface="Poppins" pitchFamily="34" charset="0"/>
                <a:ea typeface="Poppins" pitchFamily="34" charset="-122"/>
                <a:cs typeface="Poppins" pitchFamily="34" charset="-120"/>
              </a:rPr>
              <a:t>Ghost</a:t>
            </a:r>
            <a:endParaRPr lang="en-US" sz="2400" dirty="0"/>
          </a:p>
        </p:txBody>
      </p:sp>
      <p:sp>
        <p:nvSpPr>
          <p:cNvPr id="10" name="Shape 8"/>
          <p:cNvSpPr/>
          <p:nvPr/>
        </p:nvSpPr>
        <p:spPr>
          <a:xfrm>
            <a:off x="952500" y="3619500"/>
            <a:ext cx="2128093" cy="600075"/>
          </a:xfrm>
          <a:prstGeom prst="roundRect">
            <a:avLst>
              <a:gd name="adj" fmla="val 500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1" name="Text 9"/>
          <p:cNvSpPr/>
          <p:nvPr/>
        </p:nvSpPr>
        <p:spPr>
          <a:xfrm>
            <a:off x="1200150" y="3733800"/>
            <a:ext cx="1708993" cy="409575"/>
          </a:xfrm>
          <a:prstGeom prst="rect">
            <a:avLst/>
          </a:prstGeom>
          <a:noFill/>
          <a:ln/>
        </p:spPr>
        <p:txBody>
          <a:bodyPr wrap="square" lIns="25400" tIns="25400" rIns="25400" bIns="25400" rtlCol="0" anchor="ctr">
            <a:normAutofit/>
          </a:bodyPr>
          <a:lstStyle/>
          <a:p>
            <a:pPr algn="l" indent="0" marL="0">
              <a:buNone/>
            </a:pPr>
            <a:r>
              <a:rPr lang="en-US" sz="1950" b="1" spc="195" kern="0" dirty="0">
                <a:solidFill>
                  <a:srgbClr val="FFFFFF"/>
                </a:solidFill>
                <a:latin typeface="Poppins" pitchFamily="34" charset="0"/>
                <a:ea typeface="Poppins" pitchFamily="34" charset="-122"/>
                <a:cs typeface="Poppins" pitchFamily="34" charset="-120"/>
              </a:rPr>
              <a:t>BESTSELLER</a:t>
            </a:r>
            <a:endParaRPr lang="en-US" sz="1950" dirty="0"/>
          </a:p>
        </p:txBody>
      </p:sp>
      <p:sp>
        <p:nvSpPr>
          <p:cNvPr id="12" name="Shape 10"/>
          <p:cNvSpPr/>
          <p:nvPr/>
        </p:nvSpPr>
        <p:spPr>
          <a:xfrm>
            <a:off x="3271093" y="3619500"/>
            <a:ext cx="1735336" cy="600075"/>
          </a:xfrm>
          <a:prstGeom prst="roundRect">
            <a:avLst>
              <a:gd name="adj" fmla="val 50000"/>
            </a:avLst>
          </a:prstGeom>
          <a:solidFill>
            <a:srgbClr val="EFECE7"/>
          </a:solidFill>
          <a:ln/>
        </p:spPr>
      </p:sp>
      <p:sp>
        <p:nvSpPr>
          <p:cNvPr id="13" name="Text 11"/>
          <p:cNvSpPr/>
          <p:nvPr/>
        </p:nvSpPr>
        <p:spPr>
          <a:xfrm>
            <a:off x="3518743" y="3733800"/>
            <a:ext cx="1316236"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Associate</a:t>
            </a:r>
            <a:endParaRPr lang="en-US" sz="1950" dirty="0"/>
          </a:p>
        </p:txBody>
      </p:sp>
      <p:sp>
        <p:nvSpPr>
          <p:cNvPr id="14" name="Shape 12"/>
          <p:cNvSpPr/>
          <p:nvPr/>
        </p:nvSpPr>
        <p:spPr>
          <a:xfrm>
            <a:off x="5196929" y="3619500"/>
            <a:ext cx="1404491" cy="600075"/>
          </a:xfrm>
          <a:prstGeom prst="roundRect">
            <a:avLst>
              <a:gd name="adj" fmla="val 50000"/>
            </a:avLst>
          </a:prstGeom>
          <a:solidFill>
            <a:srgbClr val="D8F3E3"/>
          </a:solidFill>
          <a:ln/>
        </p:spPr>
      </p:sp>
      <p:sp>
        <p:nvSpPr>
          <p:cNvPr id="15" name="Text 13"/>
          <p:cNvSpPr/>
          <p:nvPr/>
        </p:nvSpPr>
        <p:spPr>
          <a:xfrm>
            <a:off x="5444579" y="3733800"/>
            <a:ext cx="985391"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0B7A3C"/>
                </a:solidFill>
                <a:latin typeface="Poppins" pitchFamily="34" charset="0"/>
                <a:ea typeface="Poppins" pitchFamily="34" charset="-122"/>
                <a:cs typeface="Poppins" pitchFamily="34" charset="-120"/>
              </a:rPr>
              <a:t>Passed</a:t>
            </a:r>
            <a:endParaRPr lang="en-US" sz="1950" dirty="0"/>
          </a:p>
        </p:txBody>
      </p:sp>
      <p:sp>
        <p:nvSpPr>
          <p:cNvPr id="16" name="Shape 14"/>
          <p:cNvSpPr/>
          <p:nvPr/>
        </p:nvSpPr>
        <p:spPr>
          <a:xfrm>
            <a:off x="6791920" y="3619500"/>
            <a:ext cx="1498104" cy="600075"/>
          </a:xfrm>
          <a:prstGeom prst="roundRect">
            <a:avLst>
              <a:gd name="adj" fmla="val 50000"/>
            </a:avLst>
          </a:prstGeom>
          <a:solidFill>
            <a:srgbClr val="FDF0D5"/>
          </a:solidFill>
          <a:ln/>
        </p:spPr>
      </p:sp>
      <p:sp>
        <p:nvSpPr>
          <p:cNvPr id="17" name="Text 15"/>
          <p:cNvSpPr/>
          <p:nvPr/>
        </p:nvSpPr>
        <p:spPr>
          <a:xfrm>
            <a:off x="7039570" y="3733800"/>
            <a:ext cx="1079004"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8A5A06"/>
                </a:solidFill>
                <a:latin typeface="Poppins" pitchFamily="34" charset="0"/>
                <a:ea typeface="Poppins" pitchFamily="34" charset="-122"/>
                <a:cs typeface="Poppins" pitchFamily="34" charset="-120"/>
              </a:rPr>
              <a:t>Expiring</a:t>
            </a:r>
            <a:endParaRPr lang="en-US" sz="1950" dirty="0"/>
          </a:p>
        </p:txBody>
      </p:sp>
      <p:sp>
        <p:nvSpPr>
          <p:cNvPr id="18" name="Shape 16"/>
          <p:cNvSpPr/>
          <p:nvPr/>
        </p:nvSpPr>
        <p:spPr>
          <a:xfrm>
            <a:off x="8480524" y="3619500"/>
            <a:ext cx="1252910" cy="600075"/>
          </a:xfrm>
          <a:prstGeom prst="roundRect">
            <a:avLst>
              <a:gd name="adj" fmla="val 50000"/>
            </a:avLst>
          </a:prstGeom>
          <a:solidFill>
            <a:srgbClr val="FEF2F0"/>
          </a:solidFill>
          <a:ln/>
        </p:spPr>
      </p:sp>
      <p:sp>
        <p:nvSpPr>
          <p:cNvPr id="19" name="Text 17"/>
          <p:cNvSpPr/>
          <p:nvPr/>
        </p:nvSpPr>
        <p:spPr>
          <a:xfrm>
            <a:off x="8728174" y="3733800"/>
            <a:ext cx="833810"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A4271A"/>
                </a:solidFill>
                <a:latin typeface="Poppins" pitchFamily="34" charset="0"/>
                <a:ea typeface="Poppins" pitchFamily="34" charset="-122"/>
                <a:cs typeface="Poppins" pitchFamily="34" charset="-120"/>
              </a:rPr>
              <a:t>Failed</a:t>
            </a:r>
            <a:endParaRPr lang="en-US" sz="1950" dirty="0"/>
          </a:p>
        </p:txBody>
      </p:sp>
      <p:sp>
        <p:nvSpPr>
          <p:cNvPr id="20" name="Shape 18"/>
          <p:cNvSpPr/>
          <p:nvPr/>
        </p:nvSpPr>
        <p:spPr>
          <a:xfrm>
            <a:off x="952500" y="4752975"/>
            <a:ext cx="8001000" cy="4772025"/>
          </a:xfrm>
          <a:prstGeom prst="roundRect">
            <a:avLst>
              <a:gd name="adj" fmla="val 2794"/>
            </a:avLst>
          </a:prstGeom>
          <a:solidFill>
            <a:srgbClr val="FFFFFF"/>
          </a:solidFill>
          <a:ln w="19050">
            <a:solidFill>
              <a:srgbClr val="EFECE7"/>
            </a:solidFill>
            <a:prstDash val="solid"/>
          </a:ln>
          <a:effectLst>
            <a:outerShdw sx="100000" sy="100000" kx="0" ky="0" algn="bl" rotWithShape="0" blurRad="28575" dist="9525" dir="5400000">
              <a:srgbClr val="1A1917">
                <a:alpha val="8000"/>
              </a:srgbClr>
            </a:outerShdw>
          </a:effectLst>
        </p:spPr>
      </p:sp>
      <p:sp>
        <p:nvSpPr>
          <p:cNvPr id="21" name="Text 19"/>
          <p:cNvSpPr/>
          <p:nvPr/>
        </p:nvSpPr>
        <p:spPr>
          <a:xfrm>
            <a:off x="1314450" y="5114925"/>
            <a:ext cx="8004810"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6A655C"/>
                </a:solidFill>
                <a:latin typeface="IBM Plex Mono" pitchFamily="34" charset="0"/>
                <a:ea typeface="IBM Plex Mono" pitchFamily="34" charset="-122"/>
                <a:cs typeface="IBM Plex Mono" pitchFamily="34" charset="-120"/>
              </a:rPr>
              <a:t>Q12 / 65</a:t>
            </a:r>
            <a:endParaRPr lang="en-US" sz="1950" dirty="0"/>
          </a:p>
        </p:txBody>
      </p:sp>
      <p:sp>
        <p:nvSpPr>
          <p:cNvPr id="22" name="Text 20"/>
          <p:cNvSpPr/>
          <p:nvPr/>
        </p:nvSpPr>
        <p:spPr>
          <a:xfrm>
            <a:off x="1314450" y="5624513"/>
            <a:ext cx="7495413" cy="923925"/>
          </a:xfrm>
          <a:prstGeom prst="rect">
            <a:avLst/>
          </a:prstGeom>
          <a:noFill/>
          <a:ln/>
        </p:spPr>
        <p:txBody>
          <a:bodyPr wrap="square" lIns="25400" tIns="25400" rIns="25400" bIns="25400" rtlCol="0" anchor="t">
            <a:normAutofit/>
          </a:bodyPr>
          <a:lstStyle/>
          <a:p>
            <a:pPr algn="l" indent="0" marL="0">
              <a:lnSpc>
                <a:spcPct val="103333"/>
              </a:lnSpc>
              <a:buNone/>
            </a:pPr>
            <a:r>
              <a:rPr lang="en-US" sz="2250" dirty="0">
                <a:solidFill>
                  <a:srgbClr val="1A1917"/>
                </a:solidFill>
                <a:latin typeface="Poppins" pitchFamily="34" charset="0"/>
                <a:ea typeface="Poppins" pitchFamily="34" charset="-122"/>
                <a:cs typeface="Poppins" pitchFamily="34" charset="-120"/>
              </a:rPr>
              <a:t>An application must decouple order intake from fulfilment and guarantee exactly-once processing.</a:t>
            </a:r>
            <a:endParaRPr lang="en-US" sz="2250" dirty="0"/>
          </a:p>
        </p:txBody>
      </p:sp>
      <p:sp>
        <p:nvSpPr>
          <p:cNvPr id="23" name="Shape 21"/>
          <p:cNvSpPr/>
          <p:nvPr/>
        </p:nvSpPr>
        <p:spPr>
          <a:xfrm>
            <a:off x="1314450" y="6777038"/>
            <a:ext cx="7277100" cy="862013"/>
          </a:xfrm>
          <a:prstGeom prst="roundRect">
            <a:avLst>
              <a:gd name="adj" fmla="val 11050"/>
            </a:avLst>
          </a:prstGeom>
          <a:solidFill>
            <a:srgbClr val="FFF5F0"/>
          </a:solidFill>
          <a:ln w="19050">
            <a:solidFill>
              <a:srgbClr val="FCA781"/>
            </a:solidFill>
            <a:prstDash val="solid"/>
          </a:ln>
        </p:spPr>
      </p:sp>
      <p:sp>
        <p:nvSpPr>
          <p:cNvPr id="24" name="Text 22"/>
          <p:cNvSpPr/>
          <p:nvPr/>
        </p:nvSpPr>
        <p:spPr>
          <a:xfrm>
            <a:off x="1581150" y="7005638"/>
            <a:ext cx="6962013" cy="442913"/>
          </a:xfrm>
          <a:prstGeom prst="rect">
            <a:avLst/>
          </a:prstGeom>
          <a:noFill/>
          <a:ln/>
        </p:spPr>
        <p:txBody>
          <a:bodyPr wrap="square" lIns="25400" tIns="25400" rIns="25400" bIns="25400" rtlCol="0" anchor="t">
            <a:normAutofit/>
          </a:bodyPr>
          <a:lstStyle/>
          <a:p>
            <a:pPr algn="l" indent="0" marL="0">
              <a:buNone/>
            </a:pPr>
            <a:r>
              <a:rPr lang="en-US" sz="2100" dirty="0">
                <a:solidFill>
                  <a:srgbClr val="37342E"/>
                </a:solidFill>
                <a:latin typeface="Poppins" pitchFamily="34" charset="0"/>
                <a:ea typeface="Poppins" pitchFamily="34" charset="-122"/>
                <a:cs typeface="Poppins" pitchFamily="34" charset="-120"/>
              </a:rPr>
              <a:t>Amazon SQS FIFO queue</a:t>
            </a:r>
            <a:endParaRPr lang="en-US" sz="2100" dirty="0"/>
          </a:p>
        </p:txBody>
      </p:sp>
      <p:sp>
        <p:nvSpPr>
          <p:cNvPr id="25" name="Shape 23"/>
          <p:cNvSpPr/>
          <p:nvPr/>
        </p:nvSpPr>
        <p:spPr>
          <a:xfrm>
            <a:off x="9334500" y="4752975"/>
            <a:ext cx="8001000" cy="4772025"/>
          </a:xfrm>
          <a:prstGeom prst="roundRect">
            <a:avLst>
              <a:gd name="adj" fmla="val 2794"/>
            </a:avLst>
          </a:prstGeom>
          <a:solidFill>
            <a:srgbClr val="FFFFFF"/>
          </a:solidFill>
          <a:ln w="19050">
            <a:solidFill>
              <a:srgbClr val="EFECE7"/>
            </a:solidFill>
            <a:prstDash val="solid"/>
          </a:ln>
          <a:effectLst>
            <a:outerShdw sx="100000" sy="100000" kx="0" ky="0" algn="bl" rotWithShape="0" blurRad="28575" dist="9525" dir="5400000">
              <a:srgbClr val="1A1917">
                <a:alpha val="8000"/>
              </a:srgbClr>
            </a:outerShdw>
          </a:effectLst>
        </p:spPr>
      </p:sp>
      <p:sp>
        <p:nvSpPr>
          <p:cNvPr id="26" name="Text 24"/>
          <p:cNvSpPr/>
          <p:nvPr/>
        </p:nvSpPr>
        <p:spPr>
          <a:xfrm>
            <a:off x="9696450" y="5826919"/>
            <a:ext cx="8004810"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Course progress</a:t>
            </a:r>
            <a:endParaRPr lang="en-US" sz="2250" dirty="0"/>
          </a:p>
        </p:txBody>
      </p:sp>
      <p:sp>
        <p:nvSpPr>
          <p:cNvPr id="27" name="Shape 25"/>
          <p:cNvSpPr/>
          <p:nvPr/>
        </p:nvSpPr>
        <p:spPr>
          <a:xfrm>
            <a:off x="9696450" y="6522244"/>
            <a:ext cx="7277100" cy="190500"/>
          </a:xfrm>
          <a:prstGeom prst="roundRect">
            <a:avLst>
              <a:gd name="adj" fmla="val 50000"/>
            </a:avLst>
          </a:prstGeom>
          <a:solidFill>
            <a:srgbClr val="EFECE7"/>
          </a:solidFill>
          <a:ln/>
        </p:spPr>
      </p:sp>
      <p:sp>
        <p:nvSpPr>
          <p:cNvPr id="28" name="Shape 26"/>
          <p:cNvSpPr/>
          <p:nvPr/>
        </p:nvSpPr>
        <p:spPr>
          <a:xfrm>
            <a:off x="9696450" y="6522244"/>
            <a:ext cx="4511799" cy="190500"/>
          </a:xfrm>
          <a:prstGeom prst="roundRect">
            <a:avLst>
              <a:gd name="adj" fmla="val 500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9" name="Text 27"/>
          <p:cNvSpPr/>
          <p:nvPr/>
        </p:nvSpPr>
        <p:spPr>
          <a:xfrm>
            <a:off x="9696450" y="6979444"/>
            <a:ext cx="8004810" cy="838200"/>
          </a:xfrm>
          <a:prstGeom prst="rect">
            <a:avLst/>
          </a:prstGeom>
          <a:noFill/>
          <a:ln/>
        </p:spPr>
        <p:txBody>
          <a:bodyPr wrap="square" lIns="25400" tIns="25400" rIns="25400" bIns="25400" rtlCol="0" anchor="t">
            <a:normAutofit/>
          </a:bodyPr>
          <a:lstStyle/>
          <a:p>
            <a:pPr algn="l" indent="0" marL="0">
              <a:buNone/>
            </a:pPr>
            <a:r>
              <a:rPr lang="en-US" sz="4200" b="1" spc="-84" kern="0" dirty="0">
                <a:solidFill>
                  <a:srgbClr val="1A1917"/>
                </a:solidFill>
                <a:latin typeface="Poppins" pitchFamily="34" charset="0"/>
                <a:ea typeface="Poppins" pitchFamily="34" charset="-122"/>
                <a:cs typeface="Poppins" pitchFamily="34" charset="-120"/>
              </a:rPr>
              <a:t>82%</a:t>
            </a:r>
            <a:endParaRPr lang="en-US" sz="4200" dirty="0"/>
          </a:p>
        </p:txBody>
      </p:sp>
      <p:sp>
        <p:nvSpPr>
          <p:cNvPr id="30" name="Text 28"/>
          <p:cNvSpPr/>
          <p:nvPr/>
        </p:nvSpPr>
        <p:spPr>
          <a:xfrm>
            <a:off x="9696450" y="8046244"/>
            <a:ext cx="800481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Average mock score</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Buttons</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Six variants, four sizes. One primary per view — a second gradient button means neither reads as the main action.</a:t>
            </a:r>
            <a:endParaRPr lang="en-US" sz="2550" dirty="0"/>
          </a:p>
        </p:txBody>
      </p:sp>
      <p:sp>
        <p:nvSpPr>
          <p:cNvPr id="4" name="Text 2"/>
          <p:cNvSpPr/>
          <p:nvPr/>
        </p:nvSpPr>
        <p:spPr>
          <a:xfrm>
            <a:off x="952500" y="3524250"/>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VARIANTS</a:t>
            </a:r>
            <a:endParaRPr lang="en-US" sz="2100" dirty="0"/>
          </a:p>
        </p:txBody>
      </p:sp>
      <p:sp>
        <p:nvSpPr>
          <p:cNvPr id="5" name="Shape 3"/>
          <p:cNvSpPr/>
          <p:nvPr/>
        </p:nvSpPr>
        <p:spPr>
          <a:xfrm>
            <a:off x="952500" y="4157663"/>
            <a:ext cx="2702868" cy="685800"/>
          </a:xfrm>
          <a:prstGeom prst="roundRect">
            <a:avLst>
              <a:gd name="adj" fmla="val 19444"/>
            </a:avLst>
          </a:prstGeom>
          <a:gradFill rotWithShape="1">
            <a:gsLst>
              <a:gs pos="0">
                <a:srgbClr val="E8402B">
                  <a:alpha val="100000"/>
                </a:srgbClr>
              </a:gs>
              <a:gs pos="52000">
                <a:srgbClr val="F0602A">
                  <a:alpha val="100000"/>
                </a:srgbClr>
              </a:gs>
              <a:gs pos="100000">
                <a:srgbClr val="F78B20">
                  <a:alpha val="100000"/>
                </a:srgbClr>
              </a:gs>
            </a:gsLst>
            <a:lin ang="2700000" scaled="0"/>
          </a:gradFill>
          <a:ln/>
          <a:effectLst>
            <a:outerShdw sx="100000" sy="100000" kx="0" ky="0" algn="bl" rotWithShape="0" blurRad="19050" dist="9525" dir="5400000">
              <a:srgbClr val="1A1917">
                <a:alpha val="6000"/>
              </a:srgbClr>
            </a:outerShdw>
          </a:effectLst>
        </p:spPr>
      </p:sp>
      <p:sp>
        <p:nvSpPr>
          <p:cNvPr id="6" name="Text 4"/>
          <p:cNvSpPr/>
          <p:nvPr/>
        </p:nvSpPr>
        <p:spPr>
          <a:xfrm>
            <a:off x="1292957" y="4157663"/>
            <a:ext cx="2021954" cy="723900"/>
          </a:xfrm>
          <a:prstGeom prst="rect">
            <a:avLst/>
          </a:prstGeom>
          <a:noFill/>
          <a:ln/>
        </p:spPr>
        <p:txBody>
          <a:bodyPr wrap="square" lIns="25400" tIns="25400" rIns="25400" bIns="25400" rtlCol="0" anchor="ctr">
            <a:normAutofit/>
          </a:bodyPr>
          <a:lstStyle/>
          <a:p>
            <a:pPr algn="ctr" indent="0" marL="0">
              <a:buNone/>
            </a:pPr>
            <a:r>
              <a:rPr lang="en-US" sz="2250" b="1" spc="-22" kern="0" dirty="0">
                <a:solidFill>
                  <a:srgbClr val="FFFFFF"/>
                </a:solidFill>
                <a:latin typeface="Poppins" pitchFamily="34" charset="0"/>
                <a:ea typeface="Poppins" pitchFamily="34" charset="-122"/>
                <a:cs typeface="Poppins" pitchFamily="34" charset="-120"/>
              </a:rPr>
              <a:t>Start free trial</a:t>
            </a:r>
            <a:endParaRPr lang="en-US" sz="2250" dirty="0"/>
          </a:p>
        </p:txBody>
      </p:sp>
      <p:sp>
        <p:nvSpPr>
          <p:cNvPr id="7" name="Shape 5"/>
          <p:cNvSpPr/>
          <p:nvPr/>
        </p:nvSpPr>
        <p:spPr>
          <a:xfrm>
            <a:off x="3883968" y="4157663"/>
            <a:ext cx="2750641" cy="723900"/>
          </a:xfrm>
          <a:prstGeom prst="roundRect">
            <a:avLst>
              <a:gd name="adj" fmla="val 18421"/>
            </a:avLst>
          </a:prstGeom>
          <a:solidFill>
            <a:srgbClr val="FFFFFF"/>
          </a:solidFill>
          <a:ln w="19050">
            <a:solidFill>
              <a:srgbClr val="E2DED7"/>
            </a:solidFill>
            <a:prstDash val="solid"/>
          </a:ln>
        </p:spPr>
      </p:sp>
      <p:sp>
        <p:nvSpPr>
          <p:cNvPr id="8" name="Text 6"/>
          <p:cNvSpPr/>
          <p:nvPr/>
        </p:nvSpPr>
        <p:spPr>
          <a:xfrm>
            <a:off x="4242758" y="4176712"/>
            <a:ext cx="2033061" cy="723900"/>
          </a:xfrm>
          <a:prstGeom prst="rect">
            <a:avLst/>
          </a:prstGeom>
          <a:noFill/>
          <a:ln/>
        </p:spPr>
        <p:txBody>
          <a:bodyPr wrap="square" lIns="25400" tIns="25400" rIns="25400" bIns="25400" rtlCol="0" anchor="ctr">
            <a:normAutofit/>
          </a:bodyPr>
          <a:lstStyle/>
          <a:p>
            <a:pPr algn="ctr" indent="0" marL="0">
              <a:buNone/>
            </a:pPr>
            <a:r>
              <a:rPr lang="en-US" sz="2250" b="1" spc="-22" kern="0" dirty="0">
                <a:solidFill>
                  <a:srgbClr val="26241F"/>
                </a:solidFill>
                <a:latin typeface="Poppins" pitchFamily="34" charset="0"/>
                <a:ea typeface="Poppins" pitchFamily="34" charset="-122"/>
                <a:cs typeface="Poppins" pitchFamily="34" charset="-120"/>
              </a:rPr>
              <a:t>View syllabus</a:t>
            </a:r>
            <a:endParaRPr lang="en-US" sz="2250" dirty="0"/>
          </a:p>
        </p:txBody>
      </p:sp>
      <p:sp>
        <p:nvSpPr>
          <p:cNvPr id="9" name="Shape 7"/>
          <p:cNvSpPr/>
          <p:nvPr/>
        </p:nvSpPr>
        <p:spPr>
          <a:xfrm>
            <a:off x="6863209" y="4157663"/>
            <a:ext cx="1828279" cy="723900"/>
          </a:xfrm>
          <a:prstGeom prst="roundRect">
            <a:avLst>
              <a:gd name="adj" fmla="val 18421"/>
            </a:avLst>
          </a:prstGeom>
          <a:ln w="19050">
            <a:solidFill>
              <a:srgbClr val="F0602A"/>
            </a:solidFill>
            <a:prstDash val="solid"/>
          </a:ln>
        </p:spPr>
      </p:sp>
      <p:sp>
        <p:nvSpPr>
          <p:cNvPr id="10" name="Text 8"/>
          <p:cNvSpPr/>
          <p:nvPr/>
        </p:nvSpPr>
        <p:spPr>
          <a:xfrm>
            <a:off x="7225159" y="4176712"/>
            <a:ext cx="1104379" cy="723900"/>
          </a:xfrm>
          <a:prstGeom prst="rect">
            <a:avLst/>
          </a:prstGeom>
          <a:noFill/>
          <a:ln/>
        </p:spPr>
        <p:txBody>
          <a:bodyPr wrap="square" lIns="25400" tIns="25400" rIns="25400" bIns="25400" rtlCol="0" anchor="ctr">
            <a:normAutofit/>
          </a:bodyPr>
          <a:lstStyle/>
          <a:p>
            <a:pPr algn="ctr" indent="0" marL="0">
              <a:buNone/>
            </a:pPr>
            <a:r>
              <a:rPr lang="en-US" sz="2250" b="1" spc="-22" kern="0" dirty="0">
                <a:solidFill>
                  <a:srgbClr val="D94B1C"/>
                </a:solidFill>
                <a:latin typeface="Poppins" pitchFamily="34" charset="0"/>
                <a:ea typeface="Poppins" pitchFamily="34" charset="-122"/>
                <a:cs typeface="Poppins" pitchFamily="34" charset="-120"/>
              </a:rPr>
              <a:t>Outline</a:t>
            </a:r>
            <a:endParaRPr lang="en-US" sz="2250" dirty="0"/>
          </a:p>
        </p:txBody>
      </p:sp>
      <p:sp>
        <p:nvSpPr>
          <p:cNvPr id="11" name="Text 9"/>
          <p:cNvSpPr/>
          <p:nvPr/>
        </p:nvSpPr>
        <p:spPr>
          <a:xfrm>
            <a:off x="9262988" y="4157663"/>
            <a:ext cx="919237" cy="723900"/>
          </a:xfrm>
          <a:prstGeom prst="rect">
            <a:avLst/>
          </a:prstGeom>
          <a:noFill/>
          <a:ln/>
        </p:spPr>
        <p:txBody>
          <a:bodyPr wrap="square" lIns="25400" tIns="25400" rIns="25400" bIns="25400" rtlCol="0" anchor="ctr">
            <a:normAutofit/>
          </a:bodyPr>
          <a:lstStyle/>
          <a:p>
            <a:pPr algn="ctr" indent="0" marL="0">
              <a:buNone/>
            </a:pPr>
            <a:r>
              <a:rPr lang="en-US" sz="2250" b="1" spc="-22" kern="0" dirty="0">
                <a:solidFill>
                  <a:srgbClr val="4E4A43"/>
                </a:solidFill>
                <a:latin typeface="Poppins" pitchFamily="34" charset="0"/>
                <a:ea typeface="Poppins" pitchFamily="34" charset="-122"/>
                <a:cs typeface="Poppins" pitchFamily="34" charset="-120"/>
              </a:rPr>
              <a:t>Ghost</a:t>
            </a:r>
            <a:endParaRPr lang="en-US" sz="2250" dirty="0"/>
          </a:p>
        </p:txBody>
      </p:sp>
      <p:sp>
        <p:nvSpPr>
          <p:cNvPr id="12" name="Shape 10"/>
          <p:cNvSpPr/>
          <p:nvPr/>
        </p:nvSpPr>
        <p:spPr>
          <a:xfrm>
            <a:off x="10753725" y="4157663"/>
            <a:ext cx="1843385" cy="723900"/>
          </a:xfrm>
          <a:prstGeom prst="roundRect">
            <a:avLst>
              <a:gd name="adj" fmla="val 18421"/>
            </a:avLst>
          </a:prstGeom>
          <a:solidFill>
            <a:srgbClr val="37342E"/>
          </a:solidFill>
          <a:ln w="19050">
            <a:solidFill>
              <a:srgbClr val="FFFFFF">
                <a:alpha val="50000"/>
              </a:srgbClr>
            </a:solidFill>
            <a:prstDash val="solid"/>
          </a:ln>
        </p:spPr>
      </p:sp>
      <p:sp>
        <p:nvSpPr>
          <p:cNvPr id="13" name="Text 11"/>
          <p:cNvSpPr/>
          <p:nvPr/>
        </p:nvSpPr>
        <p:spPr>
          <a:xfrm>
            <a:off x="11115675" y="4176712"/>
            <a:ext cx="1119485" cy="723900"/>
          </a:xfrm>
          <a:prstGeom prst="rect">
            <a:avLst/>
          </a:prstGeom>
          <a:noFill/>
          <a:ln/>
        </p:spPr>
        <p:txBody>
          <a:bodyPr wrap="square" lIns="25400" tIns="25400" rIns="25400" bIns="25400" rtlCol="0" anchor="ctr">
            <a:normAutofit/>
          </a:bodyPr>
          <a:lstStyle/>
          <a:p>
            <a:pPr algn="ctr" indent="0" marL="0">
              <a:buNone/>
            </a:pPr>
            <a:r>
              <a:rPr lang="en-US" sz="2250" b="1" spc="-22" kern="0" dirty="0">
                <a:solidFill>
                  <a:srgbClr val="FFFFFF"/>
                </a:solidFill>
                <a:latin typeface="Poppins" pitchFamily="34" charset="0"/>
                <a:ea typeface="Poppins" pitchFamily="34" charset="-122"/>
                <a:cs typeface="Poppins" pitchFamily="34" charset="-120"/>
              </a:rPr>
              <a:t>Inverse</a:t>
            </a:r>
            <a:endParaRPr lang="en-US" sz="2250" dirty="0"/>
          </a:p>
        </p:txBody>
      </p:sp>
      <p:sp>
        <p:nvSpPr>
          <p:cNvPr id="14" name="Shape 12"/>
          <p:cNvSpPr/>
          <p:nvPr/>
        </p:nvSpPr>
        <p:spPr>
          <a:xfrm>
            <a:off x="12825710" y="4157663"/>
            <a:ext cx="1669033" cy="685800"/>
          </a:xfrm>
          <a:prstGeom prst="roundRect">
            <a:avLst>
              <a:gd name="adj" fmla="val 19444"/>
            </a:avLst>
          </a:prstGeom>
          <a:solidFill>
            <a:srgbClr val="E8402B"/>
          </a:solidFill>
          <a:ln/>
        </p:spPr>
      </p:sp>
      <p:sp>
        <p:nvSpPr>
          <p:cNvPr id="15" name="Text 13"/>
          <p:cNvSpPr/>
          <p:nvPr/>
        </p:nvSpPr>
        <p:spPr>
          <a:xfrm>
            <a:off x="13168610" y="4157663"/>
            <a:ext cx="983233" cy="723900"/>
          </a:xfrm>
          <a:prstGeom prst="rect">
            <a:avLst/>
          </a:prstGeom>
          <a:noFill/>
          <a:ln/>
        </p:spPr>
        <p:txBody>
          <a:bodyPr wrap="square" lIns="25400" tIns="25400" rIns="25400" bIns="25400" rtlCol="0" anchor="ctr">
            <a:normAutofit/>
          </a:bodyPr>
          <a:lstStyle/>
          <a:p>
            <a:pPr algn="ctr" indent="0" marL="0">
              <a:buNone/>
            </a:pPr>
            <a:r>
              <a:rPr lang="en-US" sz="2250" b="1" spc="-22" kern="0" dirty="0">
                <a:solidFill>
                  <a:srgbClr val="FFFFFF"/>
                </a:solidFill>
                <a:latin typeface="Poppins" pitchFamily="34" charset="0"/>
                <a:ea typeface="Poppins" pitchFamily="34" charset="-122"/>
                <a:cs typeface="Poppins" pitchFamily="34" charset="-120"/>
              </a:rPr>
              <a:t>Delete</a:t>
            </a:r>
            <a:endParaRPr lang="en-US" sz="2250" dirty="0"/>
          </a:p>
        </p:txBody>
      </p:sp>
      <p:sp>
        <p:nvSpPr>
          <p:cNvPr id="16" name="Text 14"/>
          <p:cNvSpPr/>
          <p:nvPr/>
        </p:nvSpPr>
        <p:spPr>
          <a:xfrm>
            <a:off x="952500" y="5376863"/>
            <a:ext cx="9235753"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SIZES — 32 / 40 / 48 / 56</a:t>
            </a:r>
            <a:endParaRPr lang="en-US" sz="2100" dirty="0"/>
          </a:p>
        </p:txBody>
      </p:sp>
      <p:sp>
        <p:nvSpPr>
          <p:cNvPr id="17" name="Shape 15"/>
          <p:cNvSpPr/>
          <p:nvPr/>
        </p:nvSpPr>
        <p:spPr>
          <a:xfrm>
            <a:off x="952500" y="6124575"/>
            <a:ext cx="1156246" cy="457200"/>
          </a:xfrm>
          <a:prstGeom prst="roundRect">
            <a:avLst>
              <a:gd name="adj" fmla="val 125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8" name="Text 16"/>
          <p:cNvSpPr/>
          <p:nvPr/>
        </p:nvSpPr>
        <p:spPr>
          <a:xfrm>
            <a:off x="1200150" y="6124575"/>
            <a:ext cx="737146" cy="495300"/>
          </a:xfrm>
          <a:prstGeom prst="rect">
            <a:avLst/>
          </a:prstGeom>
          <a:noFill/>
          <a:ln/>
        </p:spPr>
        <p:txBody>
          <a:bodyPr wrap="square" lIns="25400" tIns="25400" rIns="25400" bIns="25400" rtlCol="0" anchor="ctr">
            <a:normAutofit/>
          </a:bodyPr>
          <a:lstStyle/>
          <a:p>
            <a:pPr algn="l" indent="0" marL="0">
              <a:buNone/>
            </a:pPr>
            <a:r>
              <a:rPr lang="en-US" sz="1800" b="1" dirty="0">
                <a:solidFill>
                  <a:srgbClr val="FFFFFF"/>
                </a:solidFill>
                <a:latin typeface="Poppins" pitchFamily="34" charset="0"/>
                <a:ea typeface="Poppins" pitchFamily="34" charset="-122"/>
                <a:cs typeface="Poppins" pitchFamily="34" charset="-120"/>
              </a:rPr>
              <a:t>Small</a:t>
            </a:r>
            <a:endParaRPr lang="en-US" sz="1800" dirty="0"/>
          </a:p>
        </p:txBody>
      </p:sp>
      <p:sp>
        <p:nvSpPr>
          <p:cNvPr id="19" name="Shape 17"/>
          <p:cNvSpPr/>
          <p:nvPr/>
        </p:nvSpPr>
        <p:spPr>
          <a:xfrm>
            <a:off x="2299246" y="6067425"/>
            <a:ext cx="1762795" cy="571500"/>
          </a:xfrm>
          <a:prstGeom prst="roundRect">
            <a:avLst>
              <a:gd name="adj" fmla="val 16667"/>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0" name="Text 18"/>
          <p:cNvSpPr/>
          <p:nvPr/>
        </p:nvSpPr>
        <p:spPr>
          <a:xfrm>
            <a:off x="2623096" y="6067425"/>
            <a:ext cx="1191295" cy="609600"/>
          </a:xfrm>
          <a:prstGeom prst="rect">
            <a:avLst/>
          </a:prstGeom>
          <a:noFill/>
          <a:ln/>
        </p:spPr>
        <p:txBody>
          <a:bodyPr wrap="square" lIns="25400" tIns="25400" rIns="25400" bIns="25400" rtlCol="0" anchor="ctr">
            <a:normAutofit/>
          </a:bodyPr>
          <a:lstStyle/>
          <a:p>
            <a:pPr algn="l" indent="0" marL="0">
              <a:buNone/>
            </a:pPr>
            <a:r>
              <a:rPr lang="en-US" sz="2100" b="1" dirty="0">
                <a:solidFill>
                  <a:srgbClr val="FFFFFF"/>
                </a:solidFill>
                <a:latin typeface="Poppins" pitchFamily="34" charset="0"/>
                <a:ea typeface="Poppins" pitchFamily="34" charset="-122"/>
                <a:cs typeface="Poppins" pitchFamily="34" charset="-120"/>
              </a:rPr>
              <a:t>Medium</a:t>
            </a:r>
            <a:endParaRPr lang="en-US" sz="2100" dirty="0"/>
          </a:p>
        </p:txBody>
      </p:sp>
      <p:sp>
        <p:nvSpPr>
          <p:cNvPr id="21" name="Shape 19"/>
          <p:cNvSpPr/>
          <p:nvPr/>
        </p:nvSpPr>
        <p:spPr>
          <a:xfrm>
            <a:off x="4252540" y="6010275"/>
            <a:ext cx="1572444" cy="685800"/>
          </a:xfrm>
          <a:prstGeom prst="roundRect">
            <a:avLst>
              <a:gd name="adj" fmla="val 19444"/>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2" name="Text 20"/>
          <p:cNvSpPr/>
          <p:nvPr/>
        </p:nvSpPr>
        <p:spPr>
          <a:xfrm>
            <a:off x="4633540" y="6010275"/>
            <a:ext cx="886644" cy="7239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Poppins" pitchFamily="34" charset="0"/>
                <a:ea typeface="Poppins" pitchFamily="34" charset="-122"/>
                <a:cs typeface="Poppins" pitchFamily="34" charset="-120"/>
              </a:rPr>
              <a:t>Large</a:t>
            </a:r>
            <a:endParaRPr lang="en-US" sz="2250" dirty="0"/>
          </a:p>
        </p:txBody>
      </p:sp>
      <p:sp>
        <p:nvSpPr>
          <p:cNvPr id="23" name="Text 21"/>
          <p:cNvSpPr/>
          <p:nvPr/>
        </p:nvSpPr>
        <p:spPr>
          <a:xfrm>
            <a:off x="10034439" y="5376863"/>
            <a:ext cx="8031086"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STATES</a:t>
            </a:r>
            <a:endParaRPr lang="en-US" sz="2100" dirty="0"/>
          </a:p>
        </p:txBody>
      </p:sp>
      <p:sp>
        <p:nvSpPr>
          <p:cNvPr id="24" name="Shape 22"/>
          <p:cNvSpPr/>
          <p:nvPr/>
        </p:nvSpPr>
        <p:spPr>
          <a:xfrm>
            <a:off x="10034439" y="6010275"/>
            <a:ext cx="1542157" cy="685800"/>
          </a:xfrm>
          <a:prstGeom prst="roundRect">
            <a:avLst>
              <a:gd name="adj" fmla="val 19444"/>
            </a:avLst>
          </a:prstGeom>
          <a:solidFill>
            <a:srgbClr val="D94B1C"/>
          </a:solidFill>
          <a:ln/>
          <a:effectLst>
            <a:outerShdw sx="100000" sy="100000" kx="0" ky="0" algn="bl" rotWithShape="0" blurRad="190500" dist="76200" dir="5400000">
              <a:srgbClr val="F0602A">
                <a:alpha val="28000"/>
              </a:srgbClr>
            </a:outerShdw>
          </a:effectLst>
        </p:spPr>
      </p:sp>
      <p:sp>
        <p:nvSpPr>
          <p:cNvPr id="25" name="Text 23"/>
          <p:cNvSpPr/>
          <p:nvPr/>
        </p:nvSpPr>
        <p:spPr>
          <a:xfrm>
            <a:off x="10377339" y="6010275"/>
            <a:ext cx="856357" cy="723900"/>
          </a:xfrm>
          <a:prstGeom prst="rect">
            <a:avLst/>
          </a:prstGeom>
          <a:noFill/>
          <a:ln/>
        </p:spPr>
        <p:txBody>
          <a:bodyPr wrap="square" lIns="25400" tIns="25400" rIns="25400" bIns="25400" rtlCol="0" anchor="ctr">
            <a:normAutofit/>
          </a:bodyPr>
          <a:lstStyle/>
          <a:p>
            <a:pPr algn="ctr" indent="0" marL="0">
              <a:buNone/>
            </a:pPr>
            <a:r>
              <a:rPr lang="en-US" sz="2100" b="1" spc="-21" kern="0" dirty="0">
                <a:solidFill>
                  <a:srgbClr val="FFFFFF"/>
                </a:solidFill>
                <a:latin typeface="Poppins" pitchFamily="34" charset="0"/>
                <a:ea typeface="Poppins" pitchFamily="34" charset="-122"/>
                <a:cs typeface="Poppins" pitchFamily="34" charset="-120"/>
              </a:rPr>
              <a:t>Hover</a:t>
            </a:r>
            <a:endParaRPr lang="en-US" sz="2100" dirty="0"/>
          </a:p>
        </p:txBody>
      </p:sp>
      <p:sp>
        <p:nvSpPr>
          <p:cNvPr id="26" name="Shape 24"/>
          <p:cNvSpPr/>
          <p:nvPr/>
        </p:nvSpPr>
        <p:spPr>
          <a:xfrm>
            <a:off x="11789204" y="6020562"/>
            <a:ext cx="1429629" cy="665226"/>
          </a:xfrm>
          <a:prstGeom prst="roundRect">
            <a:avLst>
              <a:gd name="adj" fmla="val 19444"/>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7" name="Text 25"/>
          <p:cNvSpPr/>
          <p:nvPr/>
        </p:nvSpPr>
        <p:spPr>
          <a:xfrm>
            <a:off x="12120674" y="6020562"/>
            <a:ext cx="766689" cy="703326"/>
          </a:xfrm>
          <a:prstGeom prst="rect">
            <a:avLst/>
          </a:prstGeom>
          <a:noFill/>
          <a:ln/>
        </p:spPr>
        <p:txBody>
          <a:bodyPr wrap="square" lIns="25400" tIns="25400" rIns="25400" bIns="25400" rtlCol="0" anchor="ctr">
            <a:normAutofit/>
          </a:bodyPr>
          <a:lstStyle/>
          <a:p>
            <a:pPr algn="ctr" indent="0" marL="0">
              <a:buNone/>
            </a:pPr>
            <a:r>
              <a:rPr lang="en-US" sz="2037" b="1" spc="-20" kern="0" dirty="0">
                <a:solidFill>
                  <a:srgbClr val="FFFFFF"/>
                </a:solidFill>
                <a:latin typeface="Poppins" pitchFamily="34" charset="0"/>
                <a:ea typeface="Poppins" pitchFamily="34" charset="-122"/>
                <a:cs typeface="Poppins" pitchFamily="34" charset="-120"/>
              </a:rPr>
              <a:t>Press</a:t>
            </a:r>
            <a:endParaRPr lang="en-US" sz="2037" dirty="0"/>
          </a:p>
        </p:txBody>
      </p:sp>
      <p:sp>
        <p:nvSpPr>
          <p:cNvPr id="28" name="Shape 26"/>
          <p:cNvSpPr/>
          <p:nvPr/>
        </p:nvSpPr>
        <p:spPr>
          <a:xfrm>
            <a:off x="13431441" y="6010275"/>
            <a:ext cx="1932608" cy="685800"/>
          </a:xfrm>
          <a:prstGeom prst="roundRect">
            <a:avLst>
              <a:gd name="adj" fmla="val 19444"/>
            </a:avLst>
          </a:prstGeom>
          <a:gradFill rotWithShape="1">
            <a:gsLst>
              <a:gs pos="0">
                <a:srgbClr val="E8402B">
                  <a:alpha val="45000"/>
                </a:srgbClr>
              </a:gs>
              <a:gs pos="52000">
                <a:srgbClr val="F0602A">
                  <a:alpha val="45000"/>
                </a:srgbClr>
              </a:gs>
              <a:gs pos="100000">
                <a:srgbClr val="F78B20">
                  <a:alpha val="45000"/>
                </a:srgbClr>
              </a:gs>
            </a:gsLst>
            <a:lin ang="2700000" scaled="0"/>
          </a:gradFill>
          <a:ln/>
        </p:spPr>
      </p:sp>
      <p:sp>
        <p:nvSpPr>
          <p:cNvPr id="29" name="Text 27"/>
          <p:cNvSpPr/>
          <p:nvPr/>
        </p:nvSpPr>
        <p:spPr>
          <a:xfrm>
            <a:off x="13774341" y="6010275"/>
            <a:ext cx="1246808" cy="723900"/>
          </a:xfrm>
          <a:prstGeom prst="rect">
            <a:avLst/>
          </a:prstGeom>
          <a:noFill/>
          <a:ln/>
        </p:spPr>
        <p:txBody>
          <a:bodyPr wrap="square" lIns="25400" tIns="25400" rIns="25400" bIns="25400" rtlCol="0" anchor="ctr">
            <a:normAutofit/>
          </a:bodyPr>
          <a:lstStyle/>
          <a:p>
            <a:pPr algn="ctr" indent="0" marL="0">
              <a:buNone/>
            </a:pPr>
            <a:r>
              <a:rPr lang="en-US" sz="2100" b="1" spc="-21" kern="0" dirty="0">
                <a:solidFill>
                  <a:srgbClr val="FFFFFF">
                    <a:alpha val="45000"/>
                  </a:srgbClr>
                </a:solidFill>
                <a:latin typeface="Poppins" pitchFamily="34" charset="0"/>
                <a:ea typeface="Poppins" pitchFamily="34" charset="-122"/>
                <a:cs typeface="Poppins" pitchFamily="34" charset="-120"/>
              </a:rPr>
              <a:t>Disabled</a:t>
            </a:r>
            <a:endParaRPr lang="en-US" sz="2100" dirty="0"/>
          </a:p>
        </p:txBody>
      </p:sp>
      <p:sp>
        <p:nvSpPr>
          <p:cNvPr id="30" name="Shape 28"/>
          <p:cNvSpPr/>
          <p:nvPr/>
        </p:nvSpPr>
        <p:spPr>
          <a:xfrm>
            <a:off x="952500" y="9005888"/>
            <a:ext cx="16383000" cy="19050"/>
          </a:xfrm>
          <a:prstGeom prst="rect">
            <a:avLst/>
          </a:prstGeom>
          <a:solidFill>
            <a:srgbClr val="E2DED7"/>
          </a:solidFill>
          <a:ln/>
        </p:spPr>
      </p:sp>
      <p:sp>
        <p:nvSpPr>
          <p:cNvPr id="31" name="Text 29"/>
          <p:cNvSpPr/>
          <p:nvPr/>
        </p:nvSpPr>
        <p:spPr>
          <a:xfrm>
            <a:off x="952500" y="92154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variant · size · fullWidth · leadingIcon · trailingIcon · disabled · as</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Badges and tags</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A badge reports state and is read-only. A tag is a filter you click. Different shapes so the difference is visible before you try.</a:t>
            </a:r>
            <a:endParaRPr lang="en-US" sz="2550" dirty="0"/>
          </a:p>
        </p:txBody>
      </p:sp>
      <p:sp>
        <p:nvSpPr>
          <p:cNvPr id="4" name="Text 2"/>
          <p:cNvSpPr/>
          <p:nvPr/>
        </p:nvSpPr>
        <p:spPr>
          <a:xfrm>
            <a:off x="952500" y="3524250"/>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BADGE — TINTED</a:t>
            </a:r>
            <a:endParaRPr lang="en-US" sz="2100" dirty="0"/>
          </a:p>
        </p:txBody>
      </p:sp>
      <p:sp>
        <p:nvSpPr>
          <p:cNvPr id="5" name="Shape 3"/>
          <p:cNvSpPr/>
          <p:nvPr/>
        </p:nvSpPr>
        <p:spPr>
          <a:xfrm>
            <a:off x="952500" y="4157663"/>
            <a:ext cx="1773436" cy="638175"/>
          </a:xfrm>
          <a:prstGeom prst="roundRect">
            <a:avLst>
              <a:gd name="adj" fmla="val 50000"/>
            </a:avLst>
          </a:prstGeom>
          <a:solidFill>
            <a:srgbClr val="FFF5F0"/>
          </a:solidFill>
          <a:ln w="19050">
            <a:solidFill>
              <a:srgbClr val="FFCAB2"/>
            </a:solidFill>
            <a:prstDash val="solid"/>
          </a:ln>
        </p:spPr>
      </p:sp>
      <p:sp>
        <p:nvSpPr>
          <p:cNvPr id="6" name="Text 4"/>
          <p:cNvSpPr/>
          <p:nvPr/>
        </p:nvSpPr>
        <p:spPr>
          <a:xfrm>
            <a:off x="1219200" y="4291013"/>
            <a:ext cx="1316236"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B23B17"/>
                </a:solidFill>
                <a:latin typeface="Poppins" pitchFamily="34" charset="0"/>
                <a:ea typeface="Poppins" pitchFamily="34" charset="-122"/>
                <a:cs typeface="Poppins" pitchFamily="34" charset="-120"/>
              </a:rPr>
              <a:t>Associate</a:t>
            </a:r>
            <a:endParaRPr lang="en-US" sz="1950" dirty="0"/>
          </a:p>
        </p:txBody>
      </p:sp>
      <p:sp>
        <p:nvSpPr>
          <p:cNvPr id="7" name="Shape 5"/>
          <p:cNvSpPr/>
          <p:nvPr/>
        </p:nvSpPr>
        <p:spPr>
          <a:xfrm>
            <a:off x="2916436" y="4157663"/>
            <a:ext cx="2288307" cy="638175"/>
          </a:xfrm>
          <a:prstGeom prst="roundRect">
            <a:avLst>
              <a:gd name="adj" fmla="val 50000"/>
            </a:avLst>
          </a:prstGeom>
          <a:solidFill>
            <a:srgbClr val="EFECE7"/>
          </a:solidFill>
          <a:ln w="19050">
            <a:solidFill>
              <a:srgbClr val="E2DED7"/>
            </a:solidFill>
            <a:prstDash val="solid"/>
          </a:ln>
        </p:spPr>
      </p:sp>
      <p:sp>
        <p:nvSpPr>
          <p:cNvPr id="8" name="Text 6"/>
          <p:cNvSpPr/>
          <p:nvPr/>
        </p:nvSpPr>
        <p:spPr>
          <a:xfrm>
            <a:off x="3183136" y="4291013"/>
            <a:ext cx="1831107"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780 questions</a:t>
            </a:r>
            <a:endParaRPr lang="en-US" sz="1950" dirty="0"/>
          </a:p>
        </p:txBody>
      </p:sp>
      <p:sp>
        <p:nvSpPr>
          <p:cNvPr id="9" name="Shape 7"/>
          <p:cNvSpPr/>
          <p:nvPr/>
        </p:nvSpPr>
        <p:spPr>
          <a:xfrm>
            <a:off x="5395243" y="4157663"/>
            <a:ext cx="1442591" cy="638175"/>
          </a:xfrm>
          <a:prstGeom prst="roundRect">
            <a:avLst>
              <a:gd name="adj" fmla="val 50000"/>
            </a:avLst>
          </a:prstGeom>
          <a:solidFill>
            <a:srgbClr val="D8F3E3"/>
          </a:solidFill>
          <a:ln w="19050">
            <a:solidFill>
              <a:srgbClr val="B6E5CB"/>
            </a:solidFill>
            <a:prstDash val="solid"/>
          </a:ln>
        </p:spPr>
      </p:sp>
      <p:sp>
        <p:nvSpPr>
          <p:cNvPr id="10" name="Text 8"/>
          <p:cNvSpPr/>
          <p:nvPr/>
        </p:nvSpPr>
        <p:spPr>
          <a:xfrm>
            <a:off x="5661943" y="4291013"/>
            <a:ext cx="985391"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0B7A3C"/>
                </a:solidFill>
                <a:latin typeface="Poppins" pitchFamily="34" charset="0"/>
                <a:ea typeface="Poppins" pitchFamily="34" charset="-122"/>
                <a:cs typeface="Poppins" pitchFamily="34" charset="-120"/>
              </a:rPr>
              <a:t>Passed</a:t>
            </a:r>
            <a:endParaRPr lang="en-US" sz="1950" dirty="0"/>
          </a:p>
        </p:txBody>
      </p:sp>
      <p:sp>
        <p:nvSpPr>
          <p:cNvPr id="11" name="Shape 9"/>
          <p:cNvSpPr/>
          <p:nvPr/>
        </p:nvSpPr>
        <p:spPr>
          <a:xfrm>
            <a:off x="7028334" y="4157663"/>
            <a:ext cx="1536204" cy="638175"/>
          </a:xfrm>
          <a:prstGeom prst="roundRect">
            <a:avLst>
              <a:gd name="adj" fmla="val 50000"/>
            </a:avLst>
          </a:prstGeom>
          <a:solidFill>
            <a:srgbClr val="FDF0D5"/>
          </a:solidFill>
          <a:ln w="19050">
            <a:solidFill>
              <a:srgbClr val="F6DDAB"/>
            </a:solidFill>
            <a:prstDash val="solid"/>
          </a:ln>
        </p:spPr>
      </p:sp>
      <p:sp>
        <p:nvSpPr>
          <p:cNvPr id="12" name="Text 10"/>
          <p:cNvSpPr/>
          <p:nvPr/>
        </p:nvSpPr>
        <p:spPr>
          <a:xfrm>
            <a:off x="7295034" y="4291013"/>
            <a:ext cx="1079004"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8A5A06"/>
                </a:solidFill>
                <a:latin typeface="Poppins" pitchFamily="34" charset="0"/>
                <a:ea typeface="Poppins" pitchFamily="34" charset="-122"/>
                <a:cs typeface="Poppins" pitchFamily="34" charset="-120"/>
              </a:rPr>
              <a:t>Expiring</a:t>
            </a:r>
            <a:endParaRPr lang="en-US" sz="1950" dirty="0"/>
          </a:p>
        </p:txBody>
      </p:sp>
      <p:sp>
        <p:nvSpPr>
          <p:cNvPr id="13" name="Shape 11"/>
          <p:cNvSpPr/>
          <p:nvPr/>
        </p:nvSpPr>
        <p:spPr>
          <a:xfrm>
            <a:off x="8755038" y="4157663"/>
            <a:ext cx="1291010" cy="638175"/>
          </a:xfrm>
          <a:prstGeom prst="roundRect">
            <a:avLst>
              <a:gd name="adj" fmla="val 50000"/>
            </a:avLst>
          </a:prstGeom>
          <a:solidFill>
            <a:srgbClr val="FEF2F0"/>
          </a:solidFill>
          <a:ln w="19050">
            <a:solidFill>
              <a:srgbClr val="FBBCB2"/>
            </a:solidFill>
            <a:prstDash val="solid"/>
          </a:ln>
        </p:spPr>
      </p:sp>
      <p:sp>
        <p:nvSpPr>
          <p:cNvPr id="14" name="Text 12"/>
          <p:cNvSpPr/>
          <p:nvPr/>
        </p:nvSpPr>
        <p:spPr>
          <a:xfrm>
            <a:off x="9021738" y="4291013"/>
            <a:ext cx="833810"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A4271A"/>
                </a:solidFill>
                <a:latin typeface="Poppins" pitchFamily="34" charset="0"/>
                <a:ea typeface="Poppins" pitchFamily="34" charset="-122"/>
                <a:cs typeface="Poppins" pitchFamily="34" charset="-120"/>
              </a:rPr>
              <a:t>Failed</a:t>
            </a:r>
            <a:endParaRPr lang="en-US" sz="1950" dirty="0"/>
          </a:p>
        </p:txBody>
      </p:sp>
      <p:sp>
        <p:nvSpPr>
          <p:cNvPr id="15" name="Shape 13"/>
          <p:cNvSpPr/>
          <p:nvPr/>
        </p:nvSpPr>
        <p:spPr>
          <a:xfrm>
            <a:off x="10236547" y="4157663"/>
            <a:ext cx="1626543" cy="638175"/>
          </a:xfrm>
          <a:prstGeom prst="roundRect">
            <a:avLst>
              <a:gd name="adj" fmla="val 50000"/>
            </a:avLst>
          </a:prstGeom>
          <a:solidFill>
            <a:srgbClr val="DBEAFE"/>
          </a:solidFill>
          <a:ln w="19050">
            <a:solidFill>
              <a:srgbClr val="BCD4FD"/>
            </a:solidFill>
            <a:prstDash val="solid"/>
          </a:ln>
        </p:spPr>
      </p:sp>
      <p:sp>
        <p:nvSpPr>
          <p:cNvPr id="16" name="Text 14"/>
          <p:cNvSpPr/>
          <p:nvPr/>
        </p:nvSpPr>
        <p:spPr>
          <a:xfrm>
            <a:off x="10503247" y="4291013"/>
            <a:ext cx="1169343"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1D4ED8"/>
                </a:solidFill>
                <a:latin typeface="Poppins" pitchFamily="34" charset="0"/>
                <a:ea typeface="Poppins" pitchFamily="34" charset="-122"/>
                <a:cs typeface="Poppins" pitchFamily="34" charset="-120"/>
              </a:rPr>
              <a:t>Updated</a:t>
            </a:r>
            <a:endParaRPr lang="en-US" sz="1950" dirty="0"/>
          </a:p>
        </p:txBody>
      </p:sp>
      <p:sp>
        <p:nvSpPr>
          <p:cNvPr id="17" name="Text 15"/>
          <p:cNvSpPr/>
          <p:nvPr/>
        </p:nvSpPr>
        <p:spPr>
          <a:xfrm>
            <a:off x="952500" y="5214938"/>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BADGE — SOLID</a:t>
            </a:r>
            <a:endParaRPr lang="en-US" sz="2100" dirty="0"/>
          </a:p>
        </p:txBody>
      </p:sp>
      <p:sp>
        <p:nvSpPr>
          <p:cNvPr id="18" name="Shape 16"/>
          <p:cNvSpPr/>
          <p:nvPr/>
        </p:nvSpPr>
        <p:spPr>
          <a:xfrm>
            <a:off x="952500" y="5848350"/>
            <a:ext cx="2128093" cy="600075"/>
          </a:xfrm>
          <a:prstGeom prst="roundRect">
            <a:avLst>
              <a:gd name="adj" fmla="val 500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9" name="Text 17"/>
          <p:cNvSpPr/>
          <p:nvPr/>
        </p:nvSpPr>
        <p:spPr>
          <a:xfrm>
            <a:off x="1200150" y="5962650"/>
            <a:ext cx="1708993" cy="409575"/>
          </a:xfrm>
          <a:prstGeom prst="rect">
            <a:avLst/>
          </a:prstGeom>
          <a:noFill/>
          <a:ln/>
        </p:spPr>
        <p:txBody>
          <a:bodyPr wrap="square" lIns="25400" tIns="25400" rIns="25400" bIns="25400" rtlCol="0" anchor="ctr">
            <a:normAutofit/>
          </a:bodyPr>
          <a:lstStyle/>
          <a:p>
            <a:pPr algn="l" indent="0" marL="0">
              <a:buNone/>
            </a:pPr>
            <a:r>
              <a:rPr lang="en-US" sz="1950" b="1" spc="195" kern="0" dirty="0">
                <a:solidFill>
                  <a:srgbClr val="FFFFFF"/>
                </a:solidFill>
                <a:latin typeface="Poppins" pitchFamily="34" charset="0"/>
                <a:ea typeface="Poppins" pitchFamily="34" charset="-122"/>
                <a:cs typeface="Poppins" pitchFamily="34" charset="-120"/>
              </a:rPr>
              <a:t>BESTSELLER</a:t>
            </a:r>
            <a:endParaRPr lang="en-US" sz="1950" dirty="0"/>
          </a:p>
        </p:txBody>
      </p:sp>
      <p:sp>
        <p:nvSpPr>
          <p:cNvPr id="20" name="Shape 18"/>
          <p:cNvSpPr/>
          <p:nvPr/>
        </p:nvSpPr>
        <p:spPr>
          <a:xfrm>
            <a:off x="3271093" y="5848350"/>
            <a:ext cx="1039192" cy="600075"/>
          </a:xfrm>
          <a:prstGeom prst="roundRect">
            <a:avLst>
              <a:gd name="adj" fmla="val 50000"/>
            </a:avLst>
          </a:prstGeom>
          <a:solidFill>
            <a:srgbClr val="1A1917"/>
          </a:solidFill>
          <a:ln/>
        </p:spPr>
      </p:sp>
      <p:sp>
        <p:nvSpPr>
          <p:cNvPr id="21" name="Text 19"/>
          <p:cNvSpPr/>
          <p:nvPr/>
        </p:nvSpPr>
        <p:spPr>
          <a:xfrm>
            <a:off x="3518743" y="5962650"/>
            <a:ext cx="620092"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Poppins" pitchFamily="34" charset="0"/>
                <a:ea typeface="Poppins" pitchFamily="34" charset="-122"/>
                <a:cs typeface="Poppins" pitchFamily="34" charset="-120"/>
              </a:rPr>
              <a:t>New</a:t>
            </a:r>
            <a:endParaRPr lang="en-US" sz="1950" dirty="0"/>
          </a:p>
        </p:txBody>
      </p:sp>
      <p:sp>
        <p:nvSpPr>
          <p:cNvPr id="22" name="Shape 20"/>
          <p:cNvSpPr/>
          <p:nvPr/>
        </p:nvSpPr>
        <p:spPr>
          <a:xfrm>
            <a:off x="4500786" y="5848350"/>
            <a:ext cx="1741512" cy="600075"/>
          </a:xfrm>
          <a:prstGeom prst="roundRect">
            <a:avLst>
              <a:gd name="adj" fmla="val 50000"/>
            </a:avLst>
          </a:prstGeom>
          <a:solidFill>
            <a:srgbClr val="0B7A3C"/>
          </a:solidFill>
          <a:ln/>
        </p:spPr>
      </p:sp>
      <p:sp>
        <p:nvSpPr>
          <p:cNvPr id="23" name="Text 21"/>
          <p:cNvSpPr/>
          <p:nvPr/>
        </p:nvSpPr>
        <p:spPr>
          <a:xfrm>
            <a:off x="4748436" y="5962650"/>
            <a:ext cx="1322412"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Poppins" pitchFamily="34" charset="0"/>
                <a:ea typeface="Poppins" pitchFamily="34" charset="-122"/>
                <a:cs typeface="Poppins" pitchFamily="34" charset="-120"/>
              </a:rPr>
              <a:t>Complete</a:t>
            </a:r>
            <a:endParaRPr lang="en-US" sz="1950" dirty="0"/>
          </a:p>
        </p:txBody>
      </p:sp>
      <p:sp>
        <p:nvSpPr>
          <p:cNvPr id="24" name="Text 22"/>
          <p:cNvSpPr/>
          <p:nvPr/>
        </p:nvSpPr>
        <p:spPr>
          <a:xfrm>
            <a:off x="952500" y="6867525"/>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TAG — FILTER CHIP</a:t>
            </a:r>
            <a:endParaRPr lang="en-US" sz="2100" dirty="0"/>
          </a:p>
        </p:txBody>
      </p:sp>
      <p:sp>
        <p:nvSpPr>
          <p:cNvPr id="25" name="Shape 23"/>
          <p:cNvSpPr/>
          <p:nvPr/>
        </p:nvSpPr>
        <p:spPr>
          <a:xfrm>
            <a:off x="952500" y="7500938"/>
            <a:ext cx="1146870" cy="609600"/>
          </a:xfrm>
          <a:prstGeom prst="roundRect">
            <a:avLst>
              <a:gd name="adj" fmla="val 9375"/>
            </a:avLst>
          </a:prstGeom>
          <a:solidFill>
            <a:srgbClr val="FFF5F0"/>
          </a:solidFill>
          <a:ln w="19050">
            <a:solidFill>
              <a:srgbClr val="FCA781"/>
            </a:solidFill>
            <a:prstDash val="solid"/>
          </a:ln>
        </p:spPr>
      </p:sp>
      <p:sp>
        <p:nvSpPr>
          <p:cNvPr id="26" name="Text 24"/>
          <p:cNvSpPr/>
          <p:nvPr/>
        </p:nvSpPr>
        <p:spPr>
          <a:xfrm>
            <a:off x="1219200" y="7519988"/>
            <a:ext cx="689670" cy="609600"/>
          </a:xfrm>
          <a:prstGeom prst="rect">
            <a:avLst/>
          </a:prstGeom>
          <a:noFill/>
          <a:ln/>
        </p:spPr>
        <p:txBody>
          <a:bodyPr wrap="square" lIns="25400" tIns="25400" rIns="25400" bIns="25400" rtlCol="0" anchor="ctr">
            <a:normAutofit/>
          </a:bodyPr>
          <a:lstStyle/>
          <a:p>
            <a:pPr algn="l" indent="0" marL="0">
              <a:buNone/>
            </a:pPr>
            <a:r>
              <a:rPr lang="en-US" sz="2100" dirty="0">
                <a:solidFill>
                  <a:srgbClr val="B23B17"/>
                </a:solidFill>
                <a:latin typeface="Poppins" pitchFamily="34" charset="0"/>
                <a:ea typeface="Poppins" pitchFamily="34" charset="-122"/>
                <a:cs typeface="Poppins" pitchFamily="34" charset="-120"/>
              </a:rPr>
              <a:t>AWS</a:t>
            </a:r>
            <a:endParaRPr lang="en-US" sz="2100" dirty="0"/>
          </a:p>
        </p:txBody>
      </p:sp>
      <p:sp>
        <p:nvSpPr>
          <p:cNvPr id="27" name="Shape 25"/>
          <p:cNvSpPr/>
          <p:nvPr/>
        </p:nvSpPr>
        <p:spPr>
          <a:xfrm>
            <a:off x="2289870" y="7500938"/>
            <a:ext cx="2592884" cy="609600"/>
          </a:xfrm>
          <a:prstGeom prst="roundRect">
            <a:avLst>
              <a:gd name="adj" fmla="val 9375"/>
            </a:avLst>
          </a:prstGeom>
          <a:solidFill>
            <a:srgbClr val="FFFFFF"/>
          </a:solidFill>
          <a:ln w="19050">
            <a:solidFill>
              <a:srgbClr val="E2DED7"/>
            </a:solidFill>
            <a:prstDash val="solid"/>
          </a:ln>
        </p:spPr>
      </p:sp>
      <p:sp>
        <p:nvSpPr>
          <p:cNvPr id="28" name="Text 26"/>
          <p:cNvSpPr/>
          <p:nvPr/>
        </p:nvSpPr>
        <p:spPr>
          <a:xfrm>
            <a:off x="2556570" y="7519988"/>
            <a:ext cx="2137270" cy="609600"/>
          </a:xfrm>
          <a:prstGeom prst="rect">
            <a:avLst/>
          </a:prstGeom>
          <a:noFill/>
          <a:ln/>
        </p:spPr>
        <p:txBody>
          <a:bodyPr wrap="square" lIns="25400" tIns="25400" rIns="25400" bIns="25400" rtlCol="0" anchor="ctr">
            <a:normAutofit/>
          </a:bodyPr>
          <a:lstStyle/>
          <a:p>
            <a:pPr algn="l" indent="0" marL="0">
              <a:buNone/>
            </a:pPr>
            <a:r>
              <a:rPr lang="en-US" sz="2100" dirty="0">
                <a:solidFill>
                  <a:srgbClr val="4E4A43"/>
                </a:solidFill>
                <a:latin typeface="Poppins" pitchFamily="34" charset="0"/>
                <a:ea typeface="Poppins" pitchFamily="34" charset="-122"/>
                <a:cs typeface="Poppins" pitchFamily="34" charset="-120"/>
              </a:rPr>
              <a:t>Microsoft Azure</a:t>
            </a:r>
            <a:endParaRPr lang="en-US" sz="2100" dirty="0"/>
          </a:p>
        </p:txBody>
      </p:sp>
      <p:sp>
        <p:nvSpPr>
          <p:cNvPr id="29" name="Shape 27"/>
          <p:cNvSpPr/>
          <p:nvPr/>
        </p:nvSpPr>
        <p:spPr>
          <a:xfrm>
            <a:off x="5073253" y="7500938"/>
            <a:ext cx="2066925" cy="609600"/>
          </a:xfrm>
          <a:prstGeom prst="roundRect">
            <a:avLst>
              <a:gd name="adj" fmla="val 9375"/>
            </a:avLst>
          </a:prstGeom>
          <a:solidFill>
            <a:srgbClr val="FFFFFF"/>
          </a:solidFill>
          <a:ln w="19050">
            <a:solidFill>
              <a:srgbClr val="E2DED7"/>
            </a:solidFill>
            <a:prstDash val="solid"/>
          </a:ln>
        </p:spPr>
      </p:sp>
      <p:sp>
        <p:nvSpPr>
          <p:cNvPr id="30" name="Text 28"/>
          <p:cNvSpPr/>
          <p:nvPr/>
        </p:nvSpPr>
        <p:spPr>
          <a:xfrm>
            <a:off x="5339953" y="7519988"/>
            <a:ext cx="1609725" cy="609600"/>
          </a:xfrm>
          <a:prstGeom prst="rect">
            <a:avLst/>
          </a:prstGeom>
          <a:noFill/>
          <a:ln/>
        </p:spPr>
        <p:txBody>
          <a:bodyPr wrap="square" lIns="25400" tIns="25400" rIns="25400" bIns="25400" rtlCol="0" anchor="ctr">
            <a:normAutofit/>
          </a:bodyPr>
          <a:lstStyle/>
          <a:p>
            <a:pPr algn="l" indent="0" marL="0">
              <a:buNone/>
            </a:pPr>
            <a:r>
              <a:rPr lang="en-US" sz="2100" dirty="0">
                <a:solidFill>
                  <a:srgbClr val="4E4A43"/>
                </a:solidFill>
                <a:latin typeface="Poppins" pitchFamily="34" charset="0"/>
                <a:ea typeface="Poppins" pitchFamily="34" charset="-122"/>
                <a:cs typeface="Poppins" pitchFamily="34" charset="-120"/>
              </a:rPr>
              <a:t>Kubernetes</a:t>
            </a:r>
            <a:endParaRPr lang="en-US" sz="2100" dirty="0"/>
          </a:p>
        </p:txBody>
      </p:sp>
      <p:sp>
        <p:nvSpPr>
          <p:cNvPr id="31" name="Shape 29"/>
          <p:cNvSpPr/>
          <p:nvPr/>
        </p:nvSpPr>
        <p:spPr>
          <a:xfrm>
            <a:off x="7330678" y="7500938"/>
            <a:ext cx="2192089" cy="609600"/>
          </a:xfrm>
          <a:prstGeom prst="roundRect">
            <a:avLst>
              <a:gd name="adj" fmla="val 9375"/>
            </a:avLst>
          </a:prstGeom>
          <a:solidFill>
            <a:srgbClr val="FFFFFF"/>
          </a:solidFill>
          <a:ln w="19050">
            <a:solidFill>
              <a:srgbClr val="E2DED7"/>
            </a:solidFill>
            <a:prstDash val="solid"/>
          </a:ln>
        </p:spPr>
      </p:sp>
      <p:sp>
        <p:nvSpPr>
          <p:cNvPr id="32" name="Text 30"/>
          <p:cNvSpPr/>
          <p:nvPr/>
        </p:nvSpPr>
        <p:spPr>
          <a:xfrm>
            <a:off x="7597378" y="7617619"/>
            <a:ext cx="1415058" cy="414338"/>
          </a:xfrm>
          <a:prstGeom prst="rect">
            <a:avLst/>
          </a:prstGeom>
          <a:noFill/>
          <a:ln/>
        </p:spPr>
        <p:txBody>
          <a:bodyPr wrap="square" lIns="0" tIns="0" rIns="0" bIns="0" rtlCol="0" anchor="t">
            <a:normAutofit/>
          </a:bodyPr>
          <a:lstStyle/>
          <a:p>
            <a:pPr algn="l" indent="0" marL="0">
              <a:buNone/>
            </a:pPr>
            <a:r>
              <a:rPr lang="en-US" sz="2100" dirty="0">
                <a:solidFill>
                  <a:srgbClr val="4E4A43"/>
                </a:solidFill>
                <a:latin typeface="Poppins" pitchFamily="34" charset="0"/>
                <a:ea typeface="Poppins" pitchFamily="34" charset="-122"/>
                <a:cs typeface="Poppins" pitchFamily="34" charset="-120"/>
              </a:rPr>
              <a:t>Terraform</a:t>
            </a:r>
            <a:endParaRPr lang="en-US" sz="2100" dirty="0"/>
          </a:p>
        </p:txBody>
      </p:sp>
      <p:sp>
        <p:nvSpPr>
          <p:cNvPr id="33" name="Text 31"/>
          <p:cNvSpPr/>
          <p:nvPr/>
        </p:nvSpPr>
        <p:spPr>
          <a:xfrm>
            <a:off x="9069586" y="7603331"/>
            <a:ext cx="262682" cy="442913"/>
          </a:xfrm>
          <a:prstGeom prst="rect">
            <a:avLst/>
          </a:prstGeom>
          <a:noFill/>
          <a:ln/>
        </p:spPr>
        <p:txBody>
          <a:bodyPr wrap="square" lIns="25400" tIns="25400" rIns="25400" bIns="25400" rtlCol="0" anchor="t">
            <a:normAutofit/>
          </a:bodyPr>
          <a:lstStyle/>
          <a:p>
            <a:pPr algn="l" indent="0" marL="0">
              <a:buNone/>
            </a:pPr>
            <a:r>
              <a:rPr lang="en-US" sz="2100" dirty="0">
                <a:solidFill>
                  <a:srgbClr val="8A847A"/>
                </a:solidFill>
                <a:latin typeface="Poppins" pitchFamily="34" charset="0"/>
                <a:ea typeface="Poppins" pitchFamily="34" charset="-122"/>
                <a:cs typeface="Poppins" pitchFamily="34" charset="-120"/>
              </a:rPr>
              <a:t>×</a:t>
            </a:r>
            <a:endParaRPr lang="en-US" sz="2100" dirty="0"/>
          </a:p>
        </p:txBody>
      </p:sp>
      <p:sp>
        <p:nvSpPr>
          <p:cNvPr id="34" name="Shape 32"/>
          <p:cNvSpPr/>
          <p:nvPr/>
        </p:nvSpPr>
        <p:spPr>
          <a:xfrm>
            <a:off x="952500" y="9005888"/>
            <a:ext cx="16383000" cy="19050"/>
          </a:xfrm>
          <a:prstGeom prst="rect">
            <a:avLst/>
          </a:prstGeom>
          <a:solidFill>
            <a:srgbClr val="E2DED7"/>
          </a:solidFill>
          <a:ln/>
        </p:spPr>
      </p:sp>
      <p:sp>
        <p:nvSpPr>
          <p:cNvPr id="35" name="Text 33"/>
          <p:cNvSpPr/>
          <p:nvPr/>
        </p:nvSpPr>
        <p:spPr>
          <a:xfrm>
            <a:off x="952500" y="92154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Badge — tone · solid · uppercase | Tag — active · onRemove</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Cards and avatars</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One recipe, three states. The only permitted accent is a 4px gradient rule on the top edge — never a coloured left border.</a:t>
            </a:r>
            <a:endParaRPr lang="en-US" sz="2550" dirty="0"/>
          </a:p>
        </p:txBody>
      </p:sp>
      <p:sp>
        <p:nvSpPr>
          <p:cNvPr id="4" name="Shape 2"/>
          <p:cNvSpPr/>
          <p:nvPr/>
        </p:nvSpPr>
        <p:spPr>
          <a:xfrm>
            <a:off x="952500" y="3524250"/>
            <a:ext cx="5232350" cy="2033588"/>
          </a:xfrm>
          <a:prstGeom prst="roundRect">
            <a:avLst>
              <a:gd name="adj" fmla="val 6557"/>
            </a:avLst>
          </a:prstGeom>
          <a:solidFill>
            <a:srgbClr val="FFFFFF"/>
          </a:solidFill>
          <a:ln w="19050">
            <a:solidFill>
              <a:srgbClr val="EFECE7"/>
            </a:solidFill>
            <a:prstDash val="solid"/>
          </a:ln>
          <a:effectLst>
            <a:outerShdw sx="100000" sy="100000" kx="0" ky="0" algn="bl" rotWithShape="0" blurRad="28575" dist="9525" dir="5400000">
              <a:srgbClr val="1A1917">
                <a:alpha val="8000"/>
              </a:srgbClr>
            </a:outerShdw>
          </a:effectLst>
        </p:spPr>
      </p:sp>
      <p:sp>
        <p:nvSpPr>
          <p:cNvPr id="5" name="Text 3"/>
          <p:cNvSpPr/>
          <p:nvPr/>
        </p:nvSpPr>
        <p:spPr>
          <a:xfrm>
            <a:off x="1314450" y="3886200"/>
            <a:ext cx="4959295" cy="490538"/>
          </a:xfrm>
          <a:prstGeom prst="rect">
            <a:avLst/>
          </a:prstGeom>
          <a:noFill/>
          <a:ln/>
        </p:spPr>
        <p:txBody>
          <a:bodyPr wrap="square" lIns="25400" tIns="25400" rIns="25400" bIns="25400" rtlCol="0" anchor="t">
            <a:normAutofit/>
          </a:bodyPr>
          <a:lstStyle/>
          <a:p>
            <a:pPr algn="l" indent="0" marL="0">
              <a:buNone/>
            </a:pPr>
            <a:r>
              <a:rPr lang="en-US" sz="2400" b="1" dirty="0">
                <a:solidFill>
                  <a:srgbClr val="1A1917"/>
                </a:solidFill>
                <a:latin typeface="Poppins" pitchFamily="34" charset="0"/>
                <a:ea typeface="Poppins" pitchFamily="34" charset="-122"/>
                <a:cs typeface="Poppins" pitchFamily="34" charset="-120"/>
              </a:rPr>
              <a:t>Resting</a:t>
            </a:r>
            <a:endParaRPr lang="en-US" sz="2400" dirty="0"/>
          </a:p>
        </p:txBody>
      </p:sp>
      <p:sp>
        <p:nvSpPr>
          <p:cNvPr id="6" name="Text 4"/>
          <p:cNvSpPr/>
          <p:nvPr/>
        </p:nvSpPr>
        <p:spPr>
          <a:xfrm>
            <a:off x="1314450" y="4452938"/>
            <a:ext cx="4643704" cy="78105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6A655C"/>
                </a:solidFill>
                <a:latin typeface="Poppins" pitchFamily="34" charset="0"/>
                <a:ea typeface="Poppins" pitchFamily="34" charset="-122"/>
                <a:cs typeface="Poppins" pitchFamily="34" charset="-120"/>
              </a:rPr>
              <a:t>Hairline ink-100, radius 14, shadow-sm.</a:t>
            </a:r>
            <a:endParaRPr lang="en-US" sz="1950" dirty="0"/>
          </a:p>
        </p:txBody>
      </p:sp>
      <p:sp>
        <p:nvSpPr>
          <p:cNvPr id="7" name="Shape 5"/>
          <p:cNvSpPr/>
          <p:nvPr/>
        </p:nvSpPr>
        <p:spPr>
          <a:xfrm>
            <a:off x="6527750" y="3467100"/>
            <a:ext cx="5232425" cy="2033588"/>
          </a:xfrm>
          <a:prstGeom prst="roundRect">
            <a:avLst>
              <a:gd name="adj" fmla="val 6557"/>
            </a:avLst>
          </a:prstGeom>
          <a:solidFill>
            <a:srgbClr val="FFFFFF"/>
          </a:solidFill>
          <a:ln w="19050">
            <a:solidFill>
              <a:srgbClr val="E2DED7"/>
            </a:solidFill>
            <a:prstDash val="solid"/>
          </a:ln>
          <a:effectLst>
            <a:outerShdw sx="100000" sy="100000" kx="0" ky="0" algn="bl" rotWithShape="0" blurRad="266700" dist="114300" dir="5400000">
              <a:srgbClr val="1A1917">
                <a:alpha val="10000"/>
              </a:srgbClr>
            </a:outerShdw>
          </a:effectLst>
        </p:spPr>
      </p:sp>
      <p:sp>
        <p:nvSpPr>
          <p:cNvPr id="8" name="Text 6"/>
          <p:cNvSpPr/>
          <p:nvPr/>
        </p:nvSpPr>
        <p:spPr>
          <a:xfrm>
            <a:off x="6889700" y="3829050"/>
            <a:ext cx="4959377" cy="490538"/>
          </a:xfrm>
          <a:prstGeom prst="rect">
            <a:avLst/>
          </a:prstGeom>
          <a:noFill/>
          <a:ln/>
        </p:spPr>
        <p:txBody>
          <a:bodyPr wrap="square" lIns="25400" tIns="25400" rIns="25400" bIns="25400" rtlCol="0" anchor="t">
            <a:normAutofit/>
          </a:bodyPr>
          <a:lstStyle/>
          <a:p>
            <a:pPr algn="l" indent="0" marL="0">
              <a:buNone/>
            </a:pPr>
            <a:r>
              <a:rPr lang="en-US" sz="2400" b="1" dirty="0">
                <a:solidFill>
                  <a:srgbClr val="1A1917"/>
                </a:solidFill>
                <a:latin typeface="Poppins" pitchFamily="34" charset="0"/>
                <a:ea typeface="Poppins" pitchFamily="34" charset="-122"/>
                <a:cs typeface="Poppins" pitchFamily="34" charset="-120"/>
              </a:rPr>
              <a:t>Hover</a:t>
            </a:r>
            <a:endParaRPr lang="en-US" sz="2400" dirty="0"/>
          </a:p>
        </p:txBody>
      </p:sp>
      <p:sp>
        <p:nvSpPr>
          <p:cNvPr id="9" name="Text 7"/>
          <p:cNvSpPr/>
          <p:nvPr/>
        </p:nvSpPr>
        <p:spPr>
          <a:xfrm>
            <a:off x="6889700" y="4395788"/>
            <a:ext cx="4959377" cy="409575"/>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6A655C"/>
                </a:solidFill>
                <a:latin typeface="Poppins" pitchFamily="34" charset="0"/>
                <a:ea typeface="Poppins" pitchFamily="34" charset="-122"/>
                <a:cs typeface="Poppins" pitchFamily="34" charset="-120"/>
              </a:rPr>
              <a:t>Lifts 2px, shadow deepens to lg.</a:t>
            </a:r>
            <a:endParaRPr lang="en-US" sz="1950" dirty="0"/>
          </a:p>
        </p:txBody>
      </p:sp>
      <p:sp>
        <p:nvSpPr>
          <p:cNvPr id="10" name="Shape 8"/>
          <p:cNvSpPr/>
          <p:nvPr/>
        </p:nvSpPr>
        <p:spPr>
          <a:xfrm>
            <a:off x="12103075" y="3524250"/>
            <a:ext cx="5232350" cy="2033588"/>
          </a:xfrm>
          <a:prstGeom prst="roundRect">
            <a:avLst>
              <a:gd name="adj" fmla="val 6557"/>
            </a:avLst>
          </a:prstGeom>
          <a:solidFill>
            <a:srgbClr val="FFFFFF"/>
          </a:solidFill>
          <a:ln w="19050">
            <a:solidFill>
              <a:srgbClr val="EFECE7"/>
            </a:solidFill>
            <a:prstDash val="solid"/>
          </a:ln>
          <a:effectLst>
            <a:outerShdw sx="100000" sy="100000" kx="0" ky="0" algn="bl" rotWithShape="0" blurRad="28575" dist="9525" dir="5400000">
              <a:srgbClr val="1A1917">
                <a:alpha val="8000"/>
              </a:srgbClr>
            </a:outerShdw>
          </a:effectLst>
        </p:spPr>
      </p:sp>
      <p:sp>
        <p:nvSpPr>
          <p:cNvPr id="11" name="Shape 9"/>
          <p:cNvSpPr/>
          <p:nvPr/>
        </p:nvSpPr>
        <p:spPr>
          <a:xfrm>
            <a:off x="12122125" y="3543300"/>
            <a:ext cx="5194250" cy="76200"/>
          </a:xfrm>
          <a:prstGeom prst="rect">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2" name="Text 10"/>
          <p:cNvSpPr/>
          <p:nvPr/>
        </p:nvSpPr>
        <p:spPr>
          <a:xfrm>
            <a:off x="12465025" y="3962400"/>
            <a:ext cx="4959295" cy="490538"/>
          </a:xfrm>
          <a:prstGeom prst="rect">
            <a:avLst/>
          </a:prstGeom>
          <a:noFill/>
          <a:ln/>
        </p:spPr>
        <p:txBody>
          <a:bodyPr wrap="square" lIns="25400" tIns="25400" rIns="25400" bIns="25400" rtlCol="0" anchor="t">
            <a:normAutofit/>
          </a:bodyPr>
          <a:lstStyle/>
          <a:p>
            <a:pPr algn="l" indent="0" marL="0">
              <a:buNone/>
            </a:pPr>
            <a:r>
              <a:rPr lang="en-US" sz="2400" b="1" dirty="0">
                <a:solidFill>
                  <a:srgbClr val="1A1917"/>
                </a:solidFill>
                <a:latin typeface="Poppins" pitchFamily="34" charset="0"/>
                <a:ea typeface="Poppins" pitchFamily="34" charset="-122"/>
                <a:cs typeface="Poppins" pitchFamily="34" charset="-120"/>
              </a:rPr>
              <a:t>Accented</a:t>
            </a:r>
            <a:endParaRPr lang="en-US" sz="2400" dirty="0"/>
          </a:p>
        </p:txBody>
      </p:sp>
      <p:sp>
        <p:nvSpPr>
          <p:cNvPr id="13" name="Text 11"/>
          <p:cNvSpPr/>
          <p:nvPr/>
        </p:nvSpPr>
        <p:spPr>
          <a:xfrm>
            <a:off x="12465025" y="4529138"/>
            <a:ext cx="4959295" cy="409575"/>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6A655C"/>
                </a:solidFill>
                <a:latin typeface="Poppins" pitchFamily="34" charset="0"/>
                <a:ea typeface="Poppins" pitchFamily="34" charset="-122"/>
                <a:cs typeface="Poppins" pitchFamily="34" charset="-120"/>
              </a:rPr>
              <a:t>Gradient rule, top edge only.</a:t>
            </a:r>
            <a:endParaRPr lang="en-US" sz="1950" dirty="0"/>
          </a:p>
        </p:txBody>
      </p:sp>
      <p:sp>
        <p:nvSpPr>
          <p:cNvPr id="14" name="Text 12"/>
          <p:cNvSpPr/>
          <p:nvPr/>
        </p:nvSpPr>
        <p:spPr>
          <a:xfrm>
            <a:off x="952500" y="6091238"/>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AVATAR — GRADIENT INITIALS WHEN NO IMAGE</a:t>
            </a:r>
            <a:endParaRPr lang="en-US" sz="2100" dirty="0"/>
          </a:p>
        </p:txBody>
      </p:sp>
      <p:sp>
        <p:nvSpPr>
          <p:cNvPr id="15" name="Shape 13"/>
          <p:cNvSpPr/>
          <p:nvPr/>
        </p:nvSpPr>
        <p:spPr>
          <a:xfrm>
            <a:off x="952500" y="7293769"/>
            <a:ext cx="914400" cy="9144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6" name="Text 14"/>
          <p:cNvSpPr/>
          <p:nvPr/>
        </p:nvSpPr>
        <p:spPr>
          <a:xfrm>
            <a:off x="914400" y="7293769"/>
            <a:ext cx="990600" cy="9525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Poppins" pitchFamily="34" charset="0"/>
                <a:ea typeface="Poppins" pitchFamily="34" charset="-122"/>
                <a:cs typeface="Poppins" pitchFamily="34" charset="-120"/>
              </a:rPr>
              <a:t>PN</a:t>
            </a:r>
            <a:endParaRPr lang="en-US" sz="2700" dirty="0"/>
          </a:p>
        </p:txBody>
      </p:sp>
      <p:sp>
        <p:nvSpPr>
          <p:cNvPr id="17" name="Shape 15"/>
          <p:cNvSpPr/>
          <p:nvPr/>
        </p:nvSpPr>
        <p:spPr>
          <a:xfrm>
            <a:off x="2133600" y="7389019"/>
            <a:ext cx="723900" cy="7239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8" name="Text 16"/>
          <p:cNvSpPr/>
          <p:nvPr/>
        </p:nvSpPr>
        <p:spPr>
          <a:xfrm>
            <a:off x="2095500" y="7389019"/>
            <a:ext cx="800100" cy="762000"/>
          </a:xfrm>
          <a:prstGeom prst="rect">
            <a:avLst/>
          </a:prstGeom>
          <a:noFill/>
          <a:ln/>
        </p:spPr>
        <p:txBody>
          <a:bodyPr wrap="square" lIns="25400" tIns="25400" rIns="25400" bIns="25400" rtlCol="0" anchor="ctr">
            <a:normAutofit/>
          </a:bodyPr>
          <a:lstStyle/>
          <a:p>
            <a:pPr algn="ctr" indent="0" marL="0">
              <a:buNone/>
            </a:pPr>
            <a:r>
              <a:rPr lang="en-US" sz="2100" b="1" dirty="0">
                <a:solidFill>
                  <a:srgbClr val="FFFFFF"/>
                </a:solidFill>
                <a:latin typeface="Poppins" pitchFamily="34" charset="0"/>
                <a:ea typeface="Poppins" pitchFamily="34" charset="-122"/>
                <a:cs typeface="Poppins" pitchFamily="34" charset="-120"/>
              </a:rPr>
              <a:t>DO</a:t>
            </a:r>
            <a:endParaRPr lang="en-US" sz="2100" dirty="0"/>
          </a:p>
        </p:txBody>
      </p:sp>
      <p:sp>
        <p:nvSpPr>
          <p:cNvPr id="19" name="Shape 17"/>
          <p:cNvSpPr/>
          <p:nvPr/>
        </p:nvSpPr>
        <p:spPr>
          <a:xfrm>
            <a:off x="3124200" y="7465219"/>
            <a:ext cx="571500" cy="5715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0" name="Text 18"/>
          <p:cNvSpPr/>
          <p:nvPr/>
        </p:nvSpPr>
        <p:spPr>
          <a:xfrm>
            <a:off x="3086100" y="7465219"/>
            <a:ext cx="647700" cy="6096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SO</a:t>
            </a:r>
            <a:endParaRPr lang="en-US" sz="1800" dirty="0"/>
          </a:p>
        </p:txBody>
      </p:sp>
      <p:sp>
        <p:nvSpPr>
          <p:cNvPr id="21" name="Shape 19"/>
          <p:cNvSpPr/>
          <p:nvPr/>
        </p:nvSpPr>
        <p:spPr>
          <a:xfrm>
            <a:off x="4152900" y="7446169"/>
            <a:ext cx="609600" cy="6096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a:effectLst>
            <a:outerShdw sx="100000" sy="100000" kx="0" ky="0" algn="bl" rotWithShape="0" blurRad="101600" dist="50800" dir="16200000">
              <a:srgbClr val="F9F7F4">
                <a:alpha val="100000"/>
              </a:srgbClr>
            </a:outerShdw>
          </a:effectLst>
        </p:spPr>
      </p:sp>
      <p:sp>
        <p:nvSpPr>
          <p:cNvPr id="22" name="Text 20"/>
          <p:cNvSpPr/>
          <p:nvPr/>
        </p:nvSpPr>
        <p:spPr>
          <a:xfrm>
            <a:off x="4114800" y="7446169"/>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AB</a:t>
            </a:r>
            <a:endParaRPr lang="en-US" sz="1800" dirty="0"/>
          </a:p>
        </p:txBody>
      </p:sp>
      <p:sp>
        <p:nvSpPr>
          <p:cNvPr id="23" name="Shape 21"/>
          <p:cNvSpPr/>
          <p:nvPr/>
        </p:nvSpPr>
        <p:spPr>
          <a:xfrm>
            <a:off x="4591050" y="7446169"/>
            <a:ext cx="609600" cy="6096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a:effectLst>
            <a:outerShdw sx="100000" sy="100000" kx="0" ky="0" algn="bl" rotWithShape="0" blurRad="101600" dist="50800" dir="16200000">
              <a:srgbClr val="F9F7F4">
                <a:alpha val="100000"/>
              </a:srgbClr>
            </a:outerShdw>
          </a:effectLst>
        </p:spPr>
      </p:sp>
      <p:sp>
        <p:nvSpPr>
          <p:cNvPr id="24" name="Text 22"/>
          <p:cNvSpPr/>
          <p:nvPr/>
        </p:nvSpPr>
        <p:spPr>
          <a:xfrm>
            <a:off x="4552950" y="7446169"/>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CD</a:t>
            </a:r>
            <a:endParaRPr lang="en-US" sz="1800" dirty="0"/>
          </a:p>
        </p:txBody>
      </p:sp>
      <p:sp>
        <p:nvSpPr>
          <p:cNvPr id="25" name="Shape 23"/>
          <p:cNvSpPr/>
          <p:nvPr/>
        </p:nvSpPr>
        <p:spPr>
          <a:xfrm>
            <a:off x="5029200" y="7446169"/>
            <a:ext cx="609600" cy="6096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a:effectLst>
            <a:outerShdw sx="100000" sy="100000" kx="0" ky="0" algn="bl" rotWithShape="0" blurRad="101600" dist="50800" dir="16200000">
              <a:srgbClr val="F9F7F4">
                <a:alpha val="100000"/>
              </a:srgbClr>
            </a:outerShdw>
          </a:effectLst>
        </p:spPr>
      </p:sp>
      <p:sp>
        <p:nvSpPr>
          <p:cNvPr id="26" name="Text 24"/>
          <p:cNvSpPr/>
          <p:nvPr/>
        </p:nvSpPr>
        <p:spPr>
          <a:xfrm>
            <a:off x="4991100" y="7446169"/>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EF</a:t>
            </a:r>
            <a:endParaRPr lang="en-US" sz="1800" dirty="0"/>
          </a:p>
        </p:txBody>
      </p:sp>
      <p:sp>
        <p:nvSpPr>
          <p:cNvPr id="27" name="Shape 25"/>
          <p:cNvSpPr/>
          <p:nvPr/>
        </p:nvSpPr>
        <p:spPr>
          <a:xfrm>
            <a:off x="952500" y="9005888"/>
            <a:ext cx="16383000" cy="19050"/>
          </a:xfrm>
          <a:prstGeom prst="rect">
            <a:avLst/>
          </a:prstGeom>
          <a:solidFill>
            <a:srgbClr val="E2DED7"/>
          </a:solidFill>
          <a:ln/>
        </p:spPr>
      </p:sp>
      <p:sp>
        <p:nvSpPr>
          <p:cNvPr id="28" name="Text 26"/>
          <p:cNvSpPr/>
          <p:nvPr/>
        </p:nvSpPr>
        <p:spPr>
          <a:xfrm>
            <a:off x="952500" y="92154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Card — interactive · padding · accent | Avatar — name · src · size</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Text inputs</a:t>
            </a:r>
            <a:endParaRPr lang="en-US" sz="4800" dirty="0"/>
          </a:p>
        </p:txBody>
      </p:sp>
      <p:sp>
        <p:nvSpPr>
          <p:cNvPr id="3" name="Text 1"/>
          <p:cNvSpPr/>
          <p:nvPr/>
        </p:nvSpPr>
        <p:spPr>
          <a:xfrm>
            <a:off x="952500" y="17907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Every field carries a real label, room for a hint, and a distinct error state. Focus is never removed.</a:t>
            </a:r>
            <a:endParaRPr lang="en-US" sz="2550" dirty="0"/>
          </a:p>
        </p:txBody>
      </p:sp>
      <p:sp>
        <p:nvSpPr>
          <p:cNvPr id="4" name="Text 2"/>
          <p:cNvSpPr/>
          <p:nvPr/>
        </p:nvSpPr>
        <p:spPr>
          <a:xfrm>
            <a:off x="952500" y="3295650"/>
            <a:ext cx="871728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Work email</a:t>
            </a:r>
            <a:endParaRPr lang="en-US" sz="2100" dirty="0"/>
          </a:p>
        </p:txBody>
      </p:sp>
      <p:sp>
        <p:nvSpPr>
          <p:cNvPr id="5" name="Shape 3"/>
          <p:cNvSpPr/>
          <p:nvPr/>
        </p:nvSpPr>
        <p:spPr>
          <a:xfrm>
            <a:off x="952500" y="3833812"/>
            <a:ext cx="7924800" cy="762000"/>
          </a:xfrm>
          <a:prstGeom prst="roundRect">
            <a:avLst>
              <a:gd name="adj" fmla="val 12500"/>
            </a:avLst>
          </a:prstGeom>
          <a:solidFill>
            <a:srgbClr val="FFFFFF"/>
          </a:solidFill>
          <a:ln w="19050">
            <a:solidFill>
              <a:srgbClr val="E2DED7"/>
            </a:solidFill>
            <a:prstDash val="solid"/>
          </a:ln>
        </p:spPr>
      </p:sp>
      <p:sp>
        <p:nvSpPr>
          <p:cNvPr id="6" name="Text 4"/>
          <p:cNvSpPr/>
          <p:nvPr/>
        </p:nvSpPr>
        <p:spPr>
          <a:xfrm>
            <a:off x="1219200" y="3852862"/>
            <a:ext cx="7629144" cy="762000"/>
          </a:xfrm>
          <a:prstGeom prst="rect">
            <a:avLst/>
          </a:prstGeom>
          <a:noFill/>
          <a:ln/>
        </p:spPr>
        <p:txBody>
          <a:bodyPr wrap="square" lIns="25400" tIns="25400" rIns="25400" bIns="25400" rtlCol="0" anchor="ctr">
            <a:normAutofit/>
          </a:bodyPr>
          <a:lstStyle/>
          <a:p>
            <a:pPr algn="l" indent="0" marL="0">
              <a:buNone/>
            </a:pPr>
            <a:r>
              <a:rPr lang="en-US" sz="2100" dirty="0">
                <a:solidFill>
                  <a:srgbClr val="8A847A"/>
                </a:solidFill>
                <a:latin typeface="Poppins" pitchFamily="34" charset="0"/>
                <a:ea typeface="Poppins" pitchFamily="34" charset="-122"/>
                <a:cs typeface="Poppins" pitchFamily="34" charset="-120"/>
              </a:rPr>
              <a:t>you@company.com</a:t>
            </a:r>
            <a:endParaRPr lang="en-US" sz="2100" dirty="0"/>
          </a:p>
        </p:txBody>
      </p:sp>
      <p:sp>
        <p:nvSpPr>
          <p:cNvPr id="7" name="Text 5"/>
          <p:cNvSpPr/>
          <p:nvPr/>
        </p:nvSpPr>
        <p:spPr>
          <a:xfrm>
            <a:off x="952500" y="4729163"/>
            <a:ext cx="8717280"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Used for your certificate.</a:t>
            </a:r>
            <a:endParaRPr lang="en-US" sz="1950" dirty="0"/>
          </a:p>
        </p:txBody>
      </p:sp>
      <p:sp>
        <p:nvSpPr>
          <p:cNvPr id="8" name="Text 6"/>
          <p:cNvSpPr/>
          <p:nvPr/>
        </p:nvSpPr>
        <p:spPr>
          <a:xfrm>
            <a:off x="9410700" y="3295650"/>
            <a:ext cx="871728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Full name</a:t>
            </a:r>
            <a:endParaRPr lang="en-US" sz="2100" dirty="0"/>
          </a:p>
        </p:txBody>
      </p:sp>
      <p:sp>
        <p:nvSpPr>
          <p:cNvPr id="9" name="Shape 7"/>
          <p:cNvSpPr/>
          <p:nvPr/>
        </p:nvSpPr>
        <p:spPr>
          <a:xfrm>
            <a:off x="9410700" y="3833812"/>
            <a:ext cx="7924800" cy="762000"/>
          </a:xfrm>
          <a:prstGeom prst="roundRect">
            <a:avLst>
              <a:gd name="adj" fmla="val 12500"/>
            </a:avLst>
          </a:prstGeom>
          <a:solidFill>
            <a:srgbClr val="FFFFFF"/>
          </a:solidFill>
          <a:ln w="19050">
            <a:solidFill>
              <a:srgbClr val="F0602A"/>
            </a:solidFill>
            <a:prstDash val="solid"/>
          </a:ln>
          <a:effectLst>
            <a:outerShdw sx="100000" sy="100000" kx="0" ky="0" algn="bl" rotWithShape="0" blurRad="101600" dist="50800" dir="16200000">
              <a:srgbClr val="F0602A">
                <a:alpha val="28000"/>
              </a:srgbClr>
            </a:outerShdw>
          </a:effectLst>
        </p:spPr>
      </p:sp>
      <p:sp>
        <p:nvSpPr>
          <p:cNvPr id="10" name="Text 8"/>
          <p:cNvSpPr/>
          <p:nvPr/>
        </p:nvSpPr>
        <p:spPr>
          <a:xfrm>
            <a:off x="9677400" y="3852862"/>
            <a:ext cx="7629144" cy="762000"/>
          </a:xfrm>
          <a:prstGeom prst="rect">
            <a:avLst/>
          </a:prstGeom>
          <a:noFill/>
          <a:ln/>
        </p:spPr>
        <p:txBody>
          <a:bodyPr wrap="square" lIns="25400" tIns="25400" rIns="25400" bIns="25400" rtlCol="0" anchor="ctr">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Priya Nair</a:t>
            </a:r>
            <a:endParaRPr lang="en-US" sz="2100" dirty="0"/>
          </a:p>
        </p:txBody>
      </p:sp>
      <p:sp>
        <p:nvSpPr>
          <p:cNvPr id="11" name="Text 9"/>
          <p:cNvSpPr/>
          <p:nvPr/>
        </p:nvSpPr>
        <p:spPr>
          <a:xfrm>
            <a:off x="9410700" y="4729163"/>
            <a:ext cx="8717280"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Focused — 3px ring, orange border.</a:t>
            </a:r>
            <a:endParaRPr lang="en-US" sz="1950" dirty="0"/>
          </a:p>
        </p:txBody>
      </p:sp>
      <p:sp>
        <p:nvSpPr>
          <p:cNvPr id="12" name="Text 10"/>
          <p:cNvSpPr/>
          <p:nvPr/>
        </p:nvSpPr>
        <p:spPr>
          <a:xfrm>
            <a:off x="952500" y="5519738"/>
            <a:ext cx="871728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Password</a:t>
            </a:r>
            <a:endParaRPr lang="en-US" sz="2100" dirty="0"/>
          </a:p>
        </p:txBody>
      </p:sp>
      <p:sp>
        <p:nvSpPr>
          <p:cNvPr id="13" name="Shape 11"/>
          <p:cNvSpPr/>
          <p:nvPr/>
        </p:nvSpPr>
        <p:spPr>
          <a:xfrm>
            <a:off x="952500" y="6057900"/>
            <a:ext cx="7924800" cy="762000"/>
          </a:xfrm>
          <a:prstGeom prst="roundRect">
            <a:avLst>
              <a:gd name="adj" fmla="val 12500"/>
            </a:avLst>
          </a:prstGeom>
          <a:solidFill>
            <a:srgbClr val="FFFFFF"/>
          </a:solidFill>
          <a:ln w="19050">
            <a:solidFill>
              <a:srgbClr val="E8402B"/>
            </a:solidFill>
            <a:prstDash val="solid"/>
          </a:ln>
        </p:spPr>
      </p:sp>
      <p:sp>
        <p:nvSpPr>
          <p:cNvPr id="14" name="Text 12"/>
          <p:cNvSpPr/>
          <p:nvPr/>
        </p:nvSpPr>
        <p:spPr>
          <a:xfrm>
            <a:off x="1219200" y="6076950"/>
            <a:ext cx="7629144" cy="762000"/>
          </a:xfrm>
          <a:prstGeom prst="rect">
            <a:avLst/>
          </a:prstGeom>
          <a:noFill/>
          <a:ln/>
        </p:spPr>
        <p:txBody>
          <a:bodyPr wrap="square" lIns="25400" tIns="25400" rIns="25400" bIns="25400" rtlCol="0" anchor="ctr">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hunter22</a:t>
            </a:r>
            <a:endParaRPr lang="en-US" sz="2100" dirty="0"/>
          </a:p>
        </p:txBody>
      </p:sp>
      <p:sp>
        <p:nvSpPr>
          <p:cNvPr id="15" name="Text 13"/>
          <p:cNvSpPr/>
          <p:nvPr/>
        </p:nvSpPr>
        <p:spPr>
          <a:xfrm>
            <a:off x="952500" y="6953250"/>
            <a:ext cx="8717280" cy="409575"/>
          </a:xfrm>
          <a:prstGeom prst="rect">
            <a:avLst/>
          </a:prstGeom>
          <a:noFill/>
          <a:ln/>
        </p:spPr>
        <p:txBody>
          <a:bodyPr wrap="square" lIns="25400" tIns="25400" rIns="25400" bIns="25400" rtlCol="0" anchor="t">
            <a:normAutofit/>
          </a:bodyPr>
          <a:lstStyle/>
          <a:p>
            <a:pPr algn="l" indent="0" marL="0">
              <a:buNone/>
            </a:pPr>
            <a:r>
              <a:rPr lang="en-US" sz="1950" dirty="0">
                <a:solidFill>
                  <a:srgbClr val="A4271A"/>
                </a:solidFill>
                <a:latin typeface="Poppins" pitchFamily="34" charset="0"/>
                <a:ea typeface="Poppins" pitchFamily="34" charset="-122"/>
                <a:cs typeface="Poppins" pitchFamily="34" charset="-120"/>
              </a:rPr>
              <a:t>Must be at least 12 characters.</a:t>
            </a:r>
            <a:endParaRPr lang="en-US" sz="1950" dirty="0"/>
          </a:p>
        </p:txBody>
      </p:sp>
      <p:sp>
        <p:nvSpPr>
          <p:cNvPr id="16" name="Text 14"/>
          <p:cNvSpPr/>
          <p:nvPr/>
        </p:nvSpPr>
        <p:spPr>
          <a:xfrm>
            <a:off x="9410700" y="5519738"/>
            <a:ext cx="871728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Sort by</a:t>
            </a:r>
            <a:endParaRPr lang="en-US" sz="2100" dirty="0"/>
          </a:p>
        </p:txBody>
      </p:sp>
      <p:sp>
        <p:nvSpPr>
          <p:cNvPr id="17" name="Shape 15"/>
          <p:cNvSpPr/>
          <p:nvPr/>
        </p:nvSpPr>
        <p:spPr>
          <a:xfrm>
            <a:off x="9410700" y="6057900"/>
            <a:ext cx="7924800" cy="762000"/>
          </a:xfrm>
          <a:prstGeom prst="roundRect">
            <a:avLst>
              <a:gd name="adj" fmla="val 12500"/>
            </a:avLst>
          </a:prstGeom>
          <a:solidFill>
            <a:srgbClr val="FFFFFF"/>
          </a:solidFill>
          <a:ln w="19050">
            <a:solidFill>
              <a:srgbClr val="E2DED7"/>
            </a:solidFill>
            <a:prstDash val="solid"/>
          </a:ln>
        </p:spPr>
      </p:sp>
      <p:sp>
        <p:nvSpPr>
          <p:cNvPr id="18" name="Text 16"/>
          <p:cNvSpPr/>
          <p:nvPr/>
        </p:nvSpPr>
        <p:spPr>
          <a:xfrm>
            <a:off x="9677400" y="6250781"/>
            <a:ext cx="1831404" cy="414338"/>
          </a:xfrm>
          <a:prstGeom prst="rect">
            <a:avLst/>
          </a:prstGeom>
          <a:noFill/>
          <a:ln/>
        </p:spPr>
        <p:txBody>
          <a:bodyPr wrap="square" lIns="0" tIns="0" rIns="0" bIns="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Most popular</a:t>
            </a:r>
            <a:endParaRPr lang="en-US" sz="2100" dirty="0"/>
          </a:p>
        </p:txBody>
      </p:sp>
      <p:sp>
        <p:nvSpPr>
          <p:cNvPr id="19" name="Text 17"/>
          <p:cNvSpPr/>
          <p:nvPr/>
        </p:nvSpPr>
        <p:spPr>
          <a:xfrm>
            <a:off x="16863417" y="6284119"/>
            <a:ext cx="281583" cy="347663"/>
          </a:xfrm>
          <a:prstGeom prst="rect">
            <a:avLst/>
          </a:prstGeom>
          <a:noFill/>
          <a:ln/>
        </p:spPr>
        <p:txBody>
          <a:bodyPr wrap="square" lIns="25400" tIns="25400" rIns="25400" bIns="25400" rtlCol="0" anchor="t">
            <a:normAutofit/>
          </a:bodyPr>
          <a:lstStyle/>
          <a:p>
            <a:pPr algn="l" indent="0" marL="0">
              <a:buNone/>
            </a:pPr>
            <a:r>
              <a:rPr lang="en-US" sz="1650" dirty="0">
                <a:solidFill>
                  <a:srgbClr val="8A847A"/>
                </a:solidFill>
                <a:latin typeface="Poppins" pitchFamily="34" charset="0"/>
                <a:ea typeface="Poppins" pitchFamily="34" charset="-122"/>
                <a:cs typeface="Poppins" pitchFamily="34" charset="-120"/>
              </a:rPr>
              <a:t>▼</a:t>
            </a:r>
            <a:endParaRPr lang="en-US" sz="1650" dirty="0"/>
          </a:p>
        </p:txBody>
      </p:sp>
      <p:sp>
        <p:nvSpPr>
          <p:cNvPr id="20" name="Text 18"/>
          <p:cNvSpPr/>
          <p:nvPr/>
        </p:nvSpPr>
        <p:spPr>
          <a:xfrm>
            <a:off x="9410700" y="6953250"/>
            <a:ext cx="8717280"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Select — native, styled to match.</a:t>
            </a:r>
            <a:endParaRPr lang="en-US" sz="1950" dirty="0"/>
          </a:p>
        </p:txBody>
      </p:sp>
      <p:sp>
        <p:nvSpPr>
          <p:cNvPr id="21" name="Text 19"/>
          <p:cNvSpPr/>
          <p:nvPr/>
        </p:nvSpPr>
        <p:spPr>
          <a:xfrm>
            <a:off x="952500" y="7496175"/>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SEARCH — THE ONE PILL-SHAPED FIELD</a:t>
            </a:r>
            <a:endParaRPr lang="en-US" sz="2100" dirty="0"/>
          </a:p>
        </p:txBody>
      </p:sp>
      <p:sp>
        <p:nvSpPr>
          <p:cNvPr id="22" name="Shape 20"/>
          <p:cNvSpPr/>
          <p:nvPr/>
        </p:nvSpPr>
        <p:spPr>
          <a:xfrm>
            <a:off x="952500" y="8129588"/>
            <a:ext cx="8724900" cy="876300"/>
          </a:xfrm>
          <a:prstGeom prst="roundRect">
            <a:avLst>
              <a:gd name="adj" fmla="val 50000"/>
            </a:avLst>
          </a:prstGeom>
          <a:solidFill>
            <a:srgbClr val="FFFFFF"/>
          </a:solidFill>
          <a:ln w="19050">
            <a:solidFill>
              <a:srgbClr val="E2DED7"/>
            </a:solidFill>
            <a:prstDash val="solid"/>
          </a:ln>
          <a:effectLst>
            <a:outerShdw sx="100000" sy="100000" kx="0" ky="0" algn="bl" rotWithShape="0" blurRad="28575" dist="9525" dir="5400000">
              <a:srgbClr val="1A1917">
                <a:alpha val="8000"/>
              </a:srgbClr>
            </a:outerShdw>
          </a:effectLst>
        </p:spPr>
      </p:sp>
      <p:sp>
        <p:nvSpPr>
          <p:cNvPr id="23" name="Text 21"/>
          <p:cNvSpPr/>
          <p:nvPr/>
        </p:nvSpPr>
        <p:spPr>
          <a:xfrm>
            <a:off x="1314450" y="8324850"/>
            <a:ext cx="271239" cy="523875"/>
          </a:xfrm>
          <a:prstGeom prst="rect">
            <a:avLst/>
          </a:prstGeom>
          <a:noFill/>
          <a:ln/>
        </p:spPr>
        <p:txBody>
          <a:bodyPr wrap="square" lIns="25400" tIns="25400" rIns="25400" bIns="25400" rtlCol="0" anchor="t">
            <a:normAutofit/>
          </a:bodyPr>
          <a:lstStyle/>
          <a:p>
            <a:pPr algn="l" indent="0" marL="0">
              <a:buNone/>
            </a:pPr>
            <a:r>
              <a:rPr lang="en-US" sz="2550" dirty="0">
                <a:solidFill>
                  <a:srgbClr val="ACA69C"/>
                </a:solidFill>
                <a:latin typeface="Poppins" pitchFamily="34" charset="0"/>
                <a:ea typeface="Poppins" pitchFamily="34" charset="-122"/>
                <a:cs typeface="Poppins" pitchFamily="34" charset="-120"/>
              </a:rPr>
              <a:t>⌕</a:t>
            </a:r>
            <a:endParaRPr lang="en-US" sz="2550" dirty="0"/>
          </a:p>
        </p:txBody>
      </p:sp>
      <p:sp>
        <p:nvSpPr>
          <p:cNvPr id="24" name="Text 22"/>
          <p:cNvSpPr/>
          <p:nvPr/>
        </p:nvSpPr>
        <p:spPr>
          <a:xfrm>
            <a:off x="1719039" y="8365331"/>
            <a:ext cx="505302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8A847A"/>
                </a:solidFill>
                <a:latin typeface="Poppins" pitchFamily="34" charset="0"/>
                <a:ea typeface="Poppins" pitchFamily="34" charset="-122"/>
                <a:cs typeface="Poppins" pitchFamily="34" charset="-120"/>
              </a:rPr>
              <a:t>Search courses, certifications, labs</a:t>
            </a:r>
            <a:endParaRPr lang="en-US" sz="2100" dirty="0"/>
          </a:p>
        </p:txBody>
      </p:sp>
      <p:sp>
        <p:nvSpPr>
          <p:cNvPr id="25" name="Shape 23"/>
          <p:cNvSpPr/>
          <p:nvPr/>
        </p:nvSpPr>
        <p:spPr>
          <a:xfrm>
            <a:off x="952500" y="9234488"/>
            <a:ext cx="16383000" cy="19050"/>
          </a:xfrm>
          <a:prstGeom prst="rect">
            <a:avLst/>
          </a:prstGeom>
          <a:solidFill>
            <a:srgbClr val="E2DED7"/>
          </a:solidFill>
          <a:ln/>
        </p:spPr>
      </p:sp>
      <p:sp>
        <p:nvSpPr>
          <p:cNvPr id="26" name="Text 24"/>
          <p:cNvSpPr/>
          <p:nvPr/>
        </p:nvSpPr>
        <p:spPr>
          <a:xfrm>
            <a:off x="952500" y="94440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label · hint · error · leadingIcon · trailingIcon · size</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Selection controls</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Checkbox for many, radio for one, switch only for settings that apply instantly. Checked states fill with the brand gradient.</a:t>
            </a:r>
            <a:endParaRPr lang="en-US" sz="2550" dirty="0"/>
          </a:p>
        </p:txBody>
      </p:sp>
      <p:sp>
        <p:nvSpPr>
          <p:cNvPr id="4" name="Shape 2"/>
          <p:cNvSpPr/>
          <p:nvPr/>
        </p:nvSpPr>
        <p:spPr>
          <a:xfrm>
            <a:off x="952500" y="3524250"/>
            <a:ext cx="419100" cy="419100"/>
          </a:xfrm>
          <a:prstGeom prst="roundRect">
            <a:avLst>
              <a:gd name="adj" fmla="val 13636"/>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5" name="Text 3"/>
          <p:cNvSpPr/>
          <p:nvPr/>
        </p:nvSpPr>
        <p:spPr>
          <a:xfrm>
            <a:off x="914400" y="3524250"/>
            <a:ext cx="495300" cy="457200"/>
          </a:xfrm>
          <a:prstGeom prst="rect">
            <a:avLst/>
          </a:prstGeom>
          <a:noFill/>
          <a:ln/>
        </p:spPr>
        <p:txBody>
          <a:bodyPr wrap="square" lIns="25400" tIns="25400" rIns="25400" bIns="25400" rtlCol="0" anchor="ctr">
            <a:normAutofit/>
          </a:bodyPr>
          <a:lstStyle/>
          <a:p>
            <a:pPr algn="ctr" indent="0" marL="0">
              <a:buNone/>
            </a:pPr>
            <a:r>
              <a:rPr lang="en-US" sz="1950" dirty="0">
                <a:solidFill>
                  <a:srgbClr val="FFFFFF"/>
                </a:solidFill>
                <a:latin typeface="Poppins" pitchFamily="34" charset="0"/>
                <a:ea typeface="Poppins" pitchFamily="34" charset="-122"/>
                <a:cs typeface="Poppins" pitchFamily="34" charset="-120"/>
              </a:rPr>
              <a:t>✓</a:t>
            </a:r>
            <a:endParaRPr lang="en-US" sz="1950" dirty="0"/>
          </a:p>
        </p:txBody>
      </p:sp>
      <p:sp>
        <p:nvSpPr>
          <p:cNvPr id="6" name="Text 4"/>
          <p:cNvSpPr/>
          <p:nvPr/>
        </p:nvSpPr>
        <p:spPr>
          <a:xfrm>
            <a:off x="1581150" y="3524250"/>
            <a:ext cx="2225405"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Practice tests</a:t>
            </a:r>
            <a:endParaRPr lang="en-US" sz="2250" dirty="0"/>
          </a:p>
        </p:txBody>
      </p:sp>
      <p:sp>
        <p:nvSpPr>
          <p:cNvPr id="7" name="Text 5"/>
          <p:cNvSpPr/>
          <p:nvPr/>
        </p:nvSpPr>
        <p:spPr>
          <a:xfrm>
            <a:off x="1581150" y="4010025"/>
            <a:ext cx="2225405"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1,200+ questions</a:t>
            </a:r>
            <a:endParaRPr lang="en-US" sz="1950" dirty="0"/>
          </a:p>
        </p:txBody>
      </p:sp>
      <p:sp>
        <p:nvSpPr>
          <p:cNvPr id="8" name="Shape 6"/>
          <p:cNvSpPr/>
          <p:nvPr/>
        </p:nvSpPr>
        <p:spPr>
          <a:xfrm>
            <a:off x="952500" y="4724400"/>
            <a:ext cx="476250" cy="476250"/>
          </a:xfrm>
          <a:prstGeom prst="roundRect">
            <a:avLst>
              <a:gd name="adj" fmla="val 12000"/>
            </a:avLst>
          </a:prstGeom>
          <a:solidFill>
            <a:srgbClr val="FFFFFF"/>
          </a:solidFill>
          <a:ln w="28575">
            <a:solidFill>
              <a:srgbClr val="CBC6BD"/>
            </a:solidFill>
            <a:prstDash val="solid"/>
          </a:ln>
        </p:spPr>
      </p:sp>
      <p:sp>
        <p:nvSpPr>
          <p:cNvPr id="9" name="Text 7"/>
          <p:cNvSpPr/>
          <p:nvPr/>
        </p:nvSpPr>
        <p:spPr>
          <a:xfrm>
            <a:off x="1638300" y="4724400"/>
            <a:ext cx="2633454"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Hands-on labs</a:t>
            </a:r>
            <a:endParaRPr lang="en-US" sz="2250" dirty="0"/>
          </a:p>
        </p:txBody>
      </p:sp>
      <p:sp>
        <p:nvSpPr>
          <p:cNvPr id="10" name="Text 8"/>
          <p:cNvSpPr/>
          <p:nvPr/>
        </p:nvSpPr>
        <p:spPr>
          <a:xfrm>
            <a:off x="1638300" y="5210175"/>
            <a:ext cx="2633454"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Real cloud account</a:t>
            </a:r>
            <a:endParaRPr lang="en-US" sz="1950" dirty="0"/>
          </a:p>
        </p:txBody>
      </p:sp>
      <p:sp>
        <p:nvSpPr>
          <p:cNvPr id="11" name="Shape 9"/>
          <p:cNvSpPr/>
          <p:nvPr/>
        </p:nvSpPr>
        <p:spPr>
          <a:xfrm>
            <a:off x="952500" y="6038850"/>
            <a:ext cx="838200" cy="476250"/>
          </a:xfrm>
          <a:prstGeom prst="roundRect">
            <a:avLst>
              <a:gd name="adj" fmla="val 500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2" name="Shape 10"/>
          <p:cNvSpPr/>
          <p:nvPr/>
        </p:nvSpPr>
        <p:spPr>
          <a:xfrm>
            <a:off x="1352550" y="6076950"/>
            <a:ext cx="400050" cy="400050"/>
          </a:xfrm>
          <a:prstGeom prst="ellipse">
            <a:avLst/>
          </a:prstGeom>
          <a:solidFill>
            <a:srgbClr val="FFFFFF"/>
          </a:solidFill>
          <a:ln/>
          <a:effectLst>
            <a:outerShdw sx="100000" sy="100000" kx="0" ky="0" algn="bl" rotWithShape="0" blurRad="28575" dist="9525" dir="5400000">
              <a:srgbClr val="1A1917">
                <a:alpha val="20000"/>
              </a:srgbClr>
            </a:outerShdw>
          </a:effectLst>
        </p:spPr>
      </p:sp>
      <p:sp>
        <p:nvSpPr>
          <p:cNvPr id="13" name="Text 11"/>
          <p:cNvSpPr/>
          <p:nvPr/>
        </p:nvSpPr>
        <p:spPr>
          <a:xfrm>
            <a:off x="2000250" y="6062663"/>
            <a:ext cx="4150400"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Email me exam reminders</a:t>
            </a:r>
            <a:endParaRPr lang="en-US" sz="2250" dirty="0"/>
          </a:p>
        </p:txBody>
      </p:sp>
      <p:sp>
        <p:nvSpPr>
          <p:cNvPr id="14" name="Shape 12"/>
          <p:cNvSpPr/>
          <p:nvPr/>
        </p:nvSpPr>
        <p:spPr>
          <a:xfrm>
            <a:off x="952500" y="6858000"/>
            <a:ext cx="838200" cy="476250"/>
          </a:xfrm>
          <a:prstGeom prst="roundRect">
            <a:avLst>
              <a:gd name="adj" fmla="val 50000"/>
            </a:avLst>
          </a:prstGeom>
          <a:solidFill>
            <a:srgbClr val="CBC6BD"/>
          </a:solidFill>
          <a:ln/>
        </p:spPr>
      </p:sp>
      <p:sp>
        <p:nvSpPr>
          <p:cNvPr id="15" name="Shape 13"/>
          <p:cNvSpPr/>
          <p:nvPr/>
        </p:nvSpPr>
        <p:spPr>
          <a:xfrm>
            <a:off x="990600" y="6896100"/>
            <a:ext cx="400050" cy="400050"/>
          </a:xfrm>
          <a:prstGeom prst="ellipse">
            <a:avLst/>
          </a:prstGeom>
          <a:solidFill>
            <a:srgbClr val="FFFFFF"/>
          </a:solidFill>
          <a:ln/>
          <a:effectLst>
            <a:outerShdw sx="100000" sy="100000" kx="0" ky="0" algn="bl" rotWithShape="0" blurRad="28575" dist="9525" dir="5400000">
              <a:srgbClr val="1A1917">
                <a:alpha val="20000"/>
              </a:srgbClr>
            </a:outerShdw>
          </a:effectLst>
        </p:spPr>
      </p:sp>
      <p:sp>
        <p:nvSpPr>
          <p:cNvPr id="16" name="Text 14"/>
          <p:cNvSpPr/>
          <p:nvPr/>
        </p:nvSpPr>
        <p:spPr>
          <a:xfrm>
            <a:off x="2000250" y="6881813"/>
            <a:ext cx="3691191" cy="466725"/>
          </a:xfrm>
          <a:prstGeom prst="rect">
            <a:avLst/>
          </a:prstGeom>
          <a:noFill/>
          <a:ln/>
        </p:spPr>
        <p:txBody>
          <a:bodyPr wrap="square" lIns="25400" tIns="25400" rIns="25400" bIns="25400" rtlCol="0" anchor="t">
            <a:normAutofit/>
          </a:bodyPr>
          <a:lstStyle/>
          <a:p>
            <a:pPr algn="l" indent="0" marL="0">
              <a:buNone/>
            </a:pPr>
            <a:r>
              <a:rPr lang="en-US" sz="2250" dirty="0">
                <a:solidFill>
                  <a:srgbClr val="6A655C"/>
                </a:solidFill>
                <a:latin typeface="Poppins" pitchFamily="34" charset="0"/>
                <a:ea typeface="Poppins" pitchFamily="34" charset="-122"/>
                <a:cs typeface="Poppins" pitchFamily="34" charset="-120"/>
              </a:rPr>
              <a:t>Weekly progress digest</a:t>
            </a:r>
            <a:endParaRPr lang="en-US" sz="2250" dirty="0"/>
          </a:p>
        </p:txBody>
      </p:sp>
      <p:sp>
        <p:nvSpPr>
          <p:cNvPr id="17" name="Text 15"/>
          <p:cNvSpPr/>
          <p:nvPr/>
        </p:nvSpPr>
        <p:spPr>
          <a:xfrm>
            <a:off x="8614767" y="3524250"/>
            <a:ext cx="9592806"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BOXED RADIO — THE EXAM ANSWER OPTION</a:t>
            </a:r>
            <a:endParaRPr lang="en-US" sz="2100" dirty="0"/>
          </a:p>
        </p:txBody>
      </p:sp>
      <p:sp>
        <p:nvSpPr>
          <p:cNvPr id="18" name="Shape 16"/>
          <p:cNvSpPr/>
          <p:nvPr/>
        </p:nvSpPr>
        <p:spPr>
          <a:xfrm>
            <a:off x="8614767" y="4157663"/>
            <a:ext cx="8720733" cy="990600"/>
          </a:xfrm>
          <a:prstGeom prst="roundRect">
            <a:avLst>
              <a:gd name="adj" fmla="val 9615"/>
            </a:avLst>
          </a:prstGeom>
          <a:solidFill>
            <a:srgbClr val="FFFFFF"/>
          </a:solidFill>
          <a:ln w="19050">
            <a:solidFill>
              <a:srgbClr val="E2DED7"/>
            </a:solidFill>
            <a:prstDash val="solid"/>
          </a:ln>
        </p:spPr>
      </p:sp>
      <p:sp>
        <p:nvSpPr>
          <p:cNvPr id="19" name="Shape 17"/>
          <p:cNvSpPr/>
          <p:nvPr/>
        </p:nvSpPr>
        <p:spPr>
          <a:xfrm>
            <a:off x="8919567" y="4424363"/>
            <a:ext cx="457200" cy="457200"/>
          </a:xfrm>
          <a:prstGeom prst="ellipse">
            <a:avLst/>
          </a:prstGeom>
          <a:solidFill>
            <a:srgbClr val="FFFFFF"/>
          </a:solidFill>
          <a:ln w="38100">
            <a:solidFill>
              <a:srgbClr val="CBC6BD"/>
            </a:solidFill>
            <a:prstDash val="solid"/>
          </a:ln>
        </p:spPr>
      </p:sp>
      <p:sp>
        <p:nvSpPr>
          <p:cNvPr id="20" name="Text 18"/>
          <p:cNvSpPr/>
          <p:nvPr/>
        </p:nvSpPr>
        <p:spPr>
          <a:xfrm>
            <a:off x="9586317" y="4438650"/>
            <a:ext cx="4378285"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Amazon SNS standard topic</a:t>
            </a:r>
            <a:endParaRPr lang="en-US" sz="2250" dirty="0"/>
          </a:p>
        </p:txBody>
      </p:sp>
      <p:sp>
        <p:nvSpPr>
          <p:cNvPr id="21" name="Shape 19"/>
          <p:cNvSpPr/>
          <p:nvPr/>
        </p:nvSpPr>
        <p:spPr>
          <a:xfrm>
            <a:off x="8614767" y="5338763"/>
            <a:ext cx="8720733" cy="990600"/>
          </a:xfrm>
          <a:prstGeom prst="roundRect">
            <a:avLst>
              <a:gd name="adj" fmla="val 9615"/>
            </a:avLst>
          </a:prstGeom>
          <a:solidFill>
            <a:srgbClr val="FFF5F0"/>
          </a:solidFill>
          <a:ln w="19050">
            <a:solidFill>
              <a:srgbClr val="F78454"/>
            </a:solidFill>
            <a:prstDash val="solid"/>
          </a:ln>
        </p:spPr>
      </p:sp>
      <p:sp>
        <p:nvSpPr>
          <p:cNvPr id="22" name="Shape 20"/>
          <p:cNvSpPr/>
          <p:nvPr/>
        </p:nvSpPr>
        <p:spPr>
          <a:xfrm>
            <a:off x="8919567" y="5605463"/>
            <a:ext cx="457200" cy="457200"/>
          </a:xfrm>
          <a:prstGeom prst="ellipse">
            <a:avLst/>
          </a:prstGeom>
          <a:solidFill>
            <a:srgbClr val="FFFFFF"/>
          </a:solidFill>
          <a:ln w="38100">
            <a:solidFill>
              <a:srgbClr val="F0602A"/>
            </a:solidFill>
            <a:prstDash val="solid"/>
          </a:ln>
        </p:spPr>
      </p:sp>
      <p:sp>
        <p:nvSpPr>
          <p:cNvPr id="23" name="Shape 21"/>
          <p:cNvSpPr/>
          <p:nvPr/>
        </p:nvSpPr>
        <p:spPr>
          <a:xfrm>
            <a:off x="9062442" y="5748338"/>
            <a:ext cx="171450" cy="17145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4" name="Text 22"/>
          <p:cNvSpPr/>
          <p:nvPr/>
        </p:nvSpPr>
        <p:spPr>
          <a:xfrm>
            <a:off x="9586317" y="5619750"/>
            <a:ext cx="3845815"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Amazon SQS FIFO queue</a:t>
            </a:r>
            <a:endParaRPr lang="en-US" sz="2250" dirty="0"/>
          </a:p>
        </p:txBody>
      </p:sp>
      <p:sp>
        <p:nvSpPr>
          <p:cNvPr id="25" name="Shape 23"/>
          <p:cNvSpPr/>
          <p:nvPr/>
        </p:nvSpPr>
        <p:spPr>
          <a:xfrm>
            <a:off x="8614767" y="6519863"/>
            <a:ext cx="8720733" cy="990600"/>
          </a:xfrm>
          <a:prstGeom prst="roundRect">
            <a:avLst>
              <a:gd name="adj" fmla="val 9615"/>
            </a:avLst>
          </a:prstGeom>
          <a:solidFill>
            <a:srgbClr val="FFFFFF"/>
          </a:solidFill>
          <a:ln w="19050">
            <a:solidFill>
              <a:srgbClr val="E2DED7"/>
            </a:solidFill>
            <a:prstDash val="solid"/>
          </a:ln>
        </p:spPr>
      </p:sp>
      <p:sp>
        <p:nvSpPr>
          <p:cNvPr id="26" name="Shape 24"/>
          <p:cNvSpPr/>
          <p:nvPr/>
        </p:nvSpPr>
        <p:spPr>
          <a:xfrm>
            <a:off x="8919567" y="6786563"/>
            <a:ext cx="457200" cy="457200"/>
          </a:xfrm>
          <a:prstGeom prst="ellipse">
            <a:avLst/>
          </a:prstGeom>
          <a:solidFill>
            <a:srgbClr val="FFFFFF"/>
          </a:solidFill>
          <a:ln w="38100">
            <a:solidFill>
              <a:srgbClr val="CBC6BD"/>
            </a:solidFill>
            <a:prstDash val="solid"/>
          </a:ln>
        </p:spPr>
      </p:sp>
      <p:sp>
        <p:nvSpPr>
          <p:cNvPr id="27" name="Text 25"/>
          <p:cNvSpPr/>
          <p:nvPr/>
        </p:nvSpPr>
        <p:spPr>
          <a:xfrm>
            <a:off x="9586317" y="6800850"/>
            <a:ext cx="4683197" cy="466725"/>
          </a:xfrm>
          <a:prstGeom prst="rect">
            <a:avLst/>
          </a:prstGeom>
          <a:noFill/>
          <a:ln/>
        </p:spPr>
        <p:txBody>
          <a:bodyPr wrap="square" lIns="25400" tIns="25400" rIns="25400" bIns="25400" rtlCol="0" anchor="t">
            <a:normAutofit/>
          </a:bodyPr>
          <a:lstStyle/>
          <a:p>
            <a:pPr algn="l" indent="0" marL="0">
              <a:buNone/>
            </a:pPr>
            <a:r>
              <a:rPr lang="en-US" sz="2250" dirty="0">
                <a:solidFill>
                  <a:srgbClr val="1A1917"/>
                </a:solidFill>
                <a:latin typeface="Poppins" pitchFamily="34" charset="0"/>
                <a:ea typeface="Poppins" pitchFamily="34" charset="-122"/>
                <a:cs typeface="Poppins" pitchFamily="34" charset="-120"/>
              </a:rPr>
              <a:t>Amazon Kinesis Data Firehose</a:t>
            </a:r>
            <a:endParaRPr lang="en-US" sz="2250" dirty="0"/>
          </a:p>
        </p:txBody>
      </p:sp>
      <p:sp>
        <p:nvSpPr>
          <p:cNvPr id="28" name="Shape 26"/>
          <p:cNvSpPr/>
          <p:nvPr/>
        </p:nvSpPr>
        <p:spPr>
          <a:xfrm>
            <a:off x="952500" y="9005888"/>
            <a:ext cx="16383000" cy="19050"/>
          </a:xfrm>
          <a:prstGeom prst="rect">
            <a:avLst/>
          </a:prstGeom>
          <a:solidFill>
            <a:srgbClr val="E2DED7"/>
          </a:solidFill>
          <a:ln/>
        </p:spPr>
      </p:sp>
      <p:sp>
        <p:nvSpPr>
          <p:cNvPr id="29" name="Text 27"/>
          <p:cNvSpPr/>
          <p:nvPr/>
        </p:nvSpPr>
        <p:spPr>
          <a:xfrm>
            <a:off x="952500" y="92154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Checkbox / Radio — label · description · boxed | Switch — checked · label</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Feedback</a:t>
            </a:r>
            <a:endParaRPr lang="en-US" sz="4800" dirty="0"/>
          </a:p>
        </p:txBody>
      </p:sp>
      <p:sp>
        <p:nvSpPr>
          <p:cNvPr id="3" name="Text 1"/>
          <p:cNvSpPr/>
          <p:nvPr/>
        </p:nvSpPr>
        <p:spPr>
          <a:xfrm>
            <a:off x="952500" y="17907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Nothing fails silently. Four alert tones, progress in two forms, and a score ring that knows the pass mark.</a:t>
            </a:r>
            <a:endParaRPr lang="en-US" sz="2550" dirty="0"/>
          </a:p>
        </p:txBody>
      </p:sp>
      <p:sp>
        <p:nvSpPr>
          <p:cNvPr id="4" name="Shape 2"/>
          <p:cNvSpPr/>
          <p:nvPr/>
        </p:nvSpPr>
        <p:spPr>
          <a:xfrm>
            <a:off x="952500" y="3295650"/>
            <a:ext cx="16383000" cy="1385888"/>
          </a:xfrm>
          <a:prstGeom prst="roundRect">
            <a:avLst>
              <a:gd name="adj" fmla="val 6873"/>
            </a:avLst>
          </a:prstGeom>
          <a:solidFill>
            <a:srgbClr val="FDF0D5"/>
          </a:solidFill>
          <a:ln w="19050">
            <a:solidFill>
              <a:srgbClr val="F5A524">
                <a:alpha val="35000"/>
              </a:srgbClr>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57300" y="3543300"/>
            <a:ext cx="533400" cy="533400"/>
          </a:xfrm>
          <a:prstGeom prst="rect">
            <a:avLst/>
          </a:prstGeom>
        </p:spPr>
      </p:pic>
      <p:sp>
        <p:nvSpPr>
          <p:cNvPr id="6" name="Text 3"/>
          <p:cNvSpPr/>
          <p:nvPr/>
        </p:nvSpPr>
        <p:spPr>
          <a:xfrm>
            <a:off x="2000250" y="3543300"/>
            <a:ext cx="8031904"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8A5A06"/>
                </a:solidFill>
                <a:latin typeface="Poppins" pitchFamily="34" charset="0"/>
                <a:ea typeface="Poppins" pitchFamily="34" charset="-122"/>
                <a:cs typeface="Poppins" pitchFamily="34" charset="-120"/>
              </a:rPr>
              <a:t>15 minutes remaining</a:t>
            </a:r>
            <a:endParaRPr lang="en-US" sz="2250" dirty="0"/>
          </a:p>
        </p:txBody>
      </p:sp>
      <p:sp>
        <p:nvSpPr>
          <p:cNvPr id="7" name="Text 4"/>
          <p:cNvSpPr/>
          <p:nvPr/>
        </p:nvSpPr>
        <p:spPr>
          <a:xfrm>
            <a:off x="2000250" y="4029075"/>
            <a:ext cx="8031904" cy="442913"/>
          </a:xfrm>
          <a:prstGeom prst="rect">
            <a:avLst/>
          </a:prstGeom>
          <a:noFill/>
          <a:ln/>
        </p:spPr>
        <p:txBody>
          <a:bodyPr wrap="square" lIns="25400" tIns="25400" rIns="25400" bIns="25400" rtlCol="0" anchor="t">
            <a:normAutofit/>
          </a:bodyPr>
          <a:lstStyle/>
          <a:p>
            <a:pPr algn="l" indent="0" marL="0">
              <a:buNone/>
            </a:pPr>
            <a:r>
              <a:rPr lang="en-US" sz="2100" dirty="0">
                <a:solidFill>
                  <a:srgbClr val="4E4A43"/>
                </a:solidFill>
                <a:latin typeface="Poppins" pitchFamily="34" charset="0"/>
                <a:ea typeface="Poppins" pitchFamily="34" charset="-122"/>
                <a:cs typeface="Poppins" pitchFamily="34" charset="-120"/>
              </a:rPr>
              <a:t>Unanswered questions are marked in the review panel.</a:t>
            </a:r>
            <a:endParaRPr lang="en-US" sz="2100" dirty="0"/>
          </a:p>
        </p:txBody>
      </p:sp>
      <p:sp>
        <p:nvSpPr>
          <p:cNvPr id="8" name="Shape 5"/>
          <p:cNvSpPr/>
          <p:nvPr/>
        </p:nvSpPr>
        <p:spPr>
          <a:xfrm>
            <a:off x="952500" y="4833938"/>
            <a:ext cx="5334000" cy="785813"/>
          </a:xfrm>
          <a:prstGeom prst="roundRect">
            <a:avLst>
              <a:gd name="adj" fmla="val 12121"/>
            </a:avLst>
          </a:prstGeom>
          <a:solidFill>
            <a:srgbClr val="D8F3E3"/>
          </a:solidFill>
          <a:ln w="19050">
            <a:solidFill>
              <a:srgbClr val="12A150">
                <a:alpha val="30000"/>
              </a:srgbClr>
            </a:solidFill>
            <a:prstDash val="solid"/>
          </a:ln>
        </p:spPr>
      </p:sp>
      <p:sp>
        <p:nvSpPr>
          <p:cNvPr id="9" name="Text 6"/>
          <p:cNvSpPr/>
          <p:nvPr/>
        </p:nvSpPr>
        <p:spPr>
          <a:xfrm>
            <a:off x="1200150" y="5024437"/>
            <a:ext cx="4998720"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0B7A3C"/>
                </a:solidFill>
                <a:latin typeface="Poppins" pitchFamily="34" charset="0"/>
                <a:ea typeface="Poppins" pitchFamily="34" charset="-122"/>
                <a:cs typeface="Poppins" pitchFamily="34" charset="-120"/>
              </a:rPr>
              <a:t>Score saved</a:t>
            </a:r>
            <a:endParaRPr lang="en-US" sz="2100" dirty="0"/>
          </a:p>
        </p:txBody>
      </p:sp>
      <p:sp>
        <p:nvSpPr>
          <p:cNvPr id="10" name="Shape 7"/>
          <p:cNvSpPr/>
          <p:nvPr/>
        </p:nvSpPr>
        <p:spPr>
          <a:xfrm>
            <a:off x="6477000" y="4833938"/>
            <a:ext cx="5334000" cy="785813"/>
          </a:xfrm>
          <a:prstGeom prst="roundRect">
            <a:avLst>
              <a:gd name="adj" fmla="val 12121"/>
            </a:avLst>
          </a:prstGeom>
          <a:solidFill>
            <a:srgbClr val="FEF2F0"/>
          </a:solidFill>
          <a:ln w="19050">
            <a:solidFill>
              <a:srgbClr val="E8402B">
                <a:alpha val="30000"/>
              </a:srgbClr>
            </a:solidFill>
            <a:prstDash val="solid"/>
          </a:ln>
        </p:spPr>
      </p:sp>
      <p:sp>
        <p:nvSpPr>
          <p:cNvPr id="11" name="Text 8"/>
          <p:cNvSpPr/>
          <p:nvPr/>
        </p:nvSpPr>
        <p:spPr>
          <a:xfrm>
            <a:off x="6724650" y="5024437"/>
            <a:ext cx="4998720"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A4271A"/>
                </a:solidFill>
                <a:latin typeface="Poppins" pitchFamily="34" charset="0"/>
                <a:ea typeface="Poppins" pitchFamily="34" charset="-122"/>
                <a:cs typeface="Poppins" pitchFamily="34" charset="-120"/>
              </a:rPr>
              <a:t>Payment failed</a:t>
            </a:r>
            <a:endParaRPr lang="en-US" sz="2100" dirty="0"/>
          </a:p>
        </p:txBody>
      </p:sp>
      <p:sp>
        <p:nvSpPr>
          <p:cNvPr id="12" name="Shape 9"/>
          <p:cNvSpPr/>
          <p:nvPr/>
        </p:nvSpPr>
        <p:spPr>
          <a:xfrm>
            <a:off x="12001500" y="4833938"/>
            <a:ext cx="5334000" cy="785813"/>
          </a:xfrm>
          <a:prstGeom prst="roundRect">
            <a:avLst>
              <a:gd name="adj" fmla="val 12121"/>
            </a:avLst>
          </a:prstGeom>
          <a:solidFill>
            <a:srgbClr val="DBEAFE"/>
          </a:solidFill>
          <a:ln w="19050">
            <a:solidFill>
              <a:srgbClr val="2563EB">
                <a:alpha val="30000"/>
              </a:srgbClr>
            </a:solidFill>
            <a:prstDash val="solid"/>
          </a:ln>
        </p:spPr>
      </p:sp>
      <p:sp>
        <p:nvSpPr>
          <p:cNvPr id="13" name="Text 10"/>
          <p:cNvSpPr/>
          <p:nvPr/>
        </p:nvSpPr>
        <p:spPr>
          <a:xfrm>
            <a:off x="12249150" y="5024437"/>
            <a:ext cx="4998720"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D4ED8"/>
                </a:solidFill>
                <a:latin typeface="Poppins" pitchFamily="34" charset="0"/>
                <a:ea typeface="Poppins" pitchFamily="34" charset="-122"/>
                <a:cs typeface="Poppins" pitchFamily="34" charset="-120"/>
              </a:rPr>
              <a:t>New exam version</a:t>
            </a:r>
            <a:endParaRPr lang="en-US" sz="2100" dirty="0"/>
          </a:p>
        </p:txBody>
      </p:sp>
      <p:sp>
        <p:nvSpPr>
          <p:cNvPr id="14" name="Text 11"/>
          <p:cNvSpPr/>
          <p:nvPr/>
        </p:nvSpPr>
        <p:spPr>
          <a:xfrm>
            <a:off x="952500" y="5969794"/>
            <a:ext cx="241621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Course progress</a:t>
            </a:r>
            <a:endParaRPr lang="en-US" sz="2100" dirty="0"/>
          </a:p>
        </p:txBody>
      </p:sp>
      <p:sp>
        <p:nvSpPr>
          <p:cNvPr id="15" name="Text 12"/>
          <p:cNvSpPr/>
          <p:nvPr/>
        </p:nvSpPr>
        <p:spPr>
          <a:xfrm>
            <a:off x="9279880" y="5969794"/>
            <a:ext cx="621134"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62%</a:t>
            </a:r>
            <a:endParaRPr lang="en-US" sz="2100" dirty="0"/>
          </a:p>
        </p:txBody>
      </p:sp>
      <p:sp>
        <p:nvSpPr>
          <p:cNvPr id="16" name="Shape 13"/>
          <p:cNvSpPr/>
          <p:nvPr/>
        </p:nvSpPr>
        <p:spPr>
          <a:xfrm>
            <a:off x="952500" y="6488906"/>
            <a:ext cx="8872314" cy="190500"/>
          </a:xfrm>
          <a:prstGeom prst="roundRect">
            <a:avLst>
              <a:gd name="adj" fmla="val 50000"/>
            </a:avLst>
          </a:prstGeom>
          <a:solidFill>
            <a:srgbClr val="EFECE7"/>
          </a:solidFill>
          <a:ln/>
        </p:spPr>
      </p:sp>
      <p:sp>
        <p:nvSpPr>
          <p:cNvPr id="17" name="Shape 14"/>
          <p:cNvSpPr/>
          <p:nvPr/>
        </p:nvSpPr>
        <p:spPr>
          <a:xfrm>
            <a:off x="952500" y="6488906"/>
            <a:ext cx="5500762" cy="190500"/>
          </a:xfrm>
          <a:prstGeom prst="roundRect">
            <a:avLst>
              <a:gd name="adj" fmla="val 500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8" name="Text 15"/>
          <p:cNvSpPr/>
          <p:nvPr/>
        </p:nvSpPr>
        <p:spPr>
          <a:xfrm>
            <a:off x="952500" y="6927056"/>
            <a:ext cx="2239893"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Readiness plan</a:t>
            </a:r>
            <a:endParaRPr lang="en-US" sz="2100" dirty="0"/>
          </a:p>
        </p:txBody>
      </p:sp>
      <p:sp>
        <p:nvSpPr>
          <p:cNvPr id="19" name="Text 16"/>
          <p:cNvSpPr/>
          <p:nvPr/>
        </p:nvSpPr>
        <p:spPr>
          <a:xfrm>
            <a:off x="9162529" y="6927056"/>
            <a:ext cx="738485"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0B7A3C"/>
                </a:solidFill>
                <a:latin typeface="Poppins" pitchFamily="34" charset="0"/>
                <a:ea typeface="Poppins" pitchFamily="34" charset="-122"/>
                <a:cs typeface="Poppins" pitchFamily="34" charset="-120"/>
              </a:rPr>
              <a:t>100%</a:t>
            </a:r>
            <a:endParaRPr lang="en-US" sz="2100" dirty="0"/>
          </a:p>
        </p:txBody>
      </p:sp>
      <p:sp>
        <p:nvSpPr>
          <p:cNvPr id="20" name="Shape 17"/>
          <p:cNvSpPr/>
          <p:nvPr/>
        </p:nvSpPr>
        <p:spPr>
          <a:xfrm>
            <a:off x="952500" y="7465219"/>
            <a:ext cx="8872314" cy="114300"/>
          </a:xfrm>
          <a:prstGeom prst="roundRect">
            <a:avLst>
              <a:gd name="adj" fmla="val 50000"/>
            </a:avLst>
          </a:prstGeom>
          <a:solidFill>
            <a:srgbClr val="EFECE7"/>
          </a:solidFill>
          <a:ln/>
        </p:spPr>
      </p:sp>
      <p:sp>
        <p:nvSpPr>
          <p:cNvPr id="21" name="Shape 18"/>
          <p:cNvSpPr/>
          <p:nvPr/>
        </p:nvSpPr>
        <p:spPr>
          <a:xfrm>
            <a:off x="952500" y="7465219"/>
            <a:ext cx="8872314" cy="114300"/>
          </a:xfrm>
          <a:prstGeom prst="roundRect">
            <a:avLst>
              <a:gd name="adj" fmla="val 50000"/>
            </a:avLst>
          </a:prstGeom>
          <a:solidFill>
            <a:srgbClr val="12A150"/>
          </a:solidFill>
          <a:ln/>
        </p:spPr>
      </p:sp>
      <p:sp>
        <p:nvSpPr>
          <p:cNvPr id="22" name="Shape 19"/>
          <p:cNvSpPr/>
          <p:nvPr/>
        </p:nvSpPr>
        <p:spPr>
          <a:xfrm>
            <a:off x="952500" y="7827169"/>
            <a:ext cx="6210598" cy="247650"/>
          </a:xfrm>
          <a:prstGeom prst="roundRect">
            <a:avLst>
              <a:gd name="adj" fmla="val 23077"/>
            </a:avLst>
          </a:prstGeom>
          <a:solidFill>
            <a:srgbClr val="EFECE7"/>
          </a:solidFill>
          <a:ln/>
        </p:spPr>
      </p:sp>
      <p:sp>
        <p:nvSpPr>
          <p:cNvPr id="23" name="Shape 20"/>
          <p:cNvSpPr/>
          <p:nvPr/>
        </p:nvSpPr>
        <p:spPr>
          <a:xfrm>
            <a:off x="952500" y="8208169"/>
            <a:ext cx="3992538" cy="247650"/>
          </a:xfrm>
          <a:prstGeom prst="roundRect">
            <a:avLst>
              <a:gd name="adj" fmla="val 23077"/>
            </a:avLst>
          </a:prstGeom>
          <a:solidFill>
            <a:srgbClr val="EFECE7"/>
          </a:solidFill>
          <a:ln/>
        </p:spPr>
      </p:sp>
      <p:sp>
        <p:nvSpPr>
          <p:cNvPr id="24" name="Text 21"/>
          <p:cNvSpPr/>
          <p:nvPr/>
        </p:nvSpPr>
        <p:spPr>
          <a:xfrm>
            <a:off x="952500" y="8627269"/>
            <a:ext cx="9759546" cy="409575"/>
          </a:xfrm>
          <a:prstGeom prst="rect">
            <a:avLst/>
          </a:prstGeom>
          <a:noFill/>
          <a:ln/>
        </p:spPr>
        <p:txBody>
          <a:bodyPr wrap="square" lIns="25400" tIns="25400" rIns="25400" bIns="25400" rtlCol="0" anchor="t">
            <a:normAutofit/>
          </a:bodyPr>
          <a:lstStyle/>
          <a:p>
            <a:pPr algn="l" indent="0" marL="0">
              <a:buNone/>
            </a:pPr>
            <a:r>
              <a:rPr lang="en-US" sz="1950" dirty="0">
                <a:solidFill>
                  <a:srgbClr val="8A847A"/>
                </a:solidFill>
                <a:latin typeface="Poppins" pitchFamily="34" charset="0"/>
                <a:ea typeface="Poppins" pitchFamily="34" charset="-122"/>
                <a:cs typeface="Poppins" pitchFamily="34" charset="-120"/>
              </a:rPr>
              <a:t>Skeleton — shimmer while data loads</a:t>
            </a:r>
            <a:endParaRPr lang="en-US" sz="1950" dirty="0"/>
          </a:p>
        </p:txBody>
      </p:sp>
      <p:sp>
        <p:nvSpPr>
          <p:cNvPr id="25" name="Shape 22"/>
          <p:cNvSpPr/>
          <p:nvPr/>
        </p:nvSpPr>
        <p:spPr>
          <a:xfrm>
            <a:off x="12113270" y="6684169"/>
            <a:ext cx="1600200" cy="1600200"/>
          </a:xfrm>
          <a:prstGeom prst="ellipse">
            <a:avLst/>
          </a:prstGeom>
          <a:solidFill>
            <a:srgbClr val="12A150"/>
          </a:solidFill>
          <a:ln/>
        </p:spPr>
      </p:sp>
      <p:sp>
        <p:nvSpPr>
          <p:cNvPr id="26" name="Shape 23"/>
          <p:cNvSpPr/>
          <p:nvPr/>
        </p:nvSpPr>
        <p:spPr>
          <a:xfrm>
            <a:off x="12284720" y="6855619"/>
            <a:ext cx="1257300" cy="1257300"/>
          </a:xfrm>
          <a:prstGeom prst="ellipse">
            <a:avLst/>
          </a:prstGeom>
          <a:solidFill>
            <a:srgbClr val="FFFFFF"/>
          </a:solidFill>
          <a:ln/>
        </p:spPr>
      </p:sp>
      <p:sp>
        <p:nvSpPr>
          <p:cNvPr id="27" name="Text 24"/>
          <p:cNvSpPr/>
          <p:nvPr/>
        </p:nvSpPr>
        <p:spPr>
          <a:xfrm>
            <a:off x="12411373" y="6965156"/>
            <a:ext cx="1003920" cy="728663"/>
          </a:xfrm>
          <a:prstGeom prst="rect">
            <a:avLst/>
          </a:prstGeom>
          <a:noFill/>
          <a:ln/>
        </p:spPr>
        <p:txBody>
          <a:bodyPr wrap="square" lIns="25400" tIns="25400" rIns="25400" bIns="25400" rtlCol="0" anchor="t">
            <a:normAutofit/>
          </a:bodyPr>
          <a:lstStyle/>
          <a:p>
            <a:pPr algn="ctr" indent="0" marL="0">
              <a:buNone/>
            </a:pPr>
            <a:r>
              <a:rPr lang="en-US" sz="3600" b="1" spc="-72" kern="0" dirty="0">
                <a:solidFill>
                  <a:srgbClr val="1A1917"/>
                </a:solidFill>
                <a:latin typeface="Poppins" pitchFamily="34" charset="0"/>
                <a:ea typeface="Poppins" pitchFamily="34" charset="-122"/>
                <a:cs typeface="Poppins" pitchFamily="34" charset="-120"/>
              </a:rPr>
              <a:t>82%</a:t>
            </a:r>
            <a:endParaRPr lang="en-US" sz="3600" dirty="0"/>
          </a:p>
        </p:txBody>
      </p:sp>
      <p:sp>
        <p:nvSpPr>
          <p:cNvPr id="28" name="Text 25"/>
          <p:cNvSpPr/>
          <p:nvPr/>
        </p:nvSpPr>
        <p:spPr>
          <a:xfrm>
            <a:off x="12411373" y="7693819"/>
            <a:ext cx="1003920" cy="347663"/>
          </a:xfrm>
          <a:prstGeom prst="rect">
            <a:avLst/>
          </a:prstGeom>
          <a:noFill/>
          <a:ln/>
        </p:spPr>
        <p:txBody>
          <a:bodyPr wrap="square" lIns="25400" tIns="25400" rIns="25400" bIns="25400" rtlCol="0" anchor="t">
            <a:normAutofit/>
          </a:bodyPr>
          <a:lstStyle/>
          <a:p>
            <a:pPr algn="ctr" indent="0" marL="0">
              <a:buNone/>
            </a:pPr>
            <a:r>
              <a:rPr lang="en-US" sz="1650" dirty="0">
                <a:solidFill>
                  <a:srgbClr val="6A655C"/>
                </a:solidFill>
                <a:latin typeface="Poppins" pitchFamily="34" charset="0"/>
                <a:ea typeface="Poppins" pitchFamily="34" charset="-122"/>
                <a:cs typeface="Poppins" pitchFamily="34" charset="-120"/>
              </a:rPr>
              <a:t>Overall</a:t>
            </a:r>
            <a:endParaRPr lang="en-US" sz="1650" dirty="0"/>
          </a:p>
        </p:txBody>
      </p:sp>
      <p:sp>
        <p:nvSpPr>
          <p:cNvPr id="29" name="Shape 26"/>
          <p:cNvSpPr/>
          <p:nvPr/>
        </p:nvSpPr>
        <p:spPr>
          <a:xfrm>
            <a:off x="14132570" y="6684169"/>
            <a:ext cx="1600200" cy="1600200"/>
          </a:xfrm>
          <a:prstGeom prst="ellipse">
            <a:avLst/>
          </a:prstGeom>
          <a:solidFill>
            <a:srgbClr val="E8402B"/>
          </a:solidFill>
          <a:ln/>
        </p:spPr>
      </p:sp>
      <p:sp>
        <p:nvSpPr>
          <p:cNvPr id="30" name="Shape 27"/>
          <p:cNvSpPr/>
          <p:nvPr/>
        </p:nvSpPr>
        <p:spPr>
          <a:xfrm>
            <a:off x="14304020" y="6855619"/>
            <a:ext cx="1257300" cy="1257300"/>
          </a:xfrm>
          <a:prstGeom prst="ellipse">
            <a:avLst/>
          </a:prstGeom>
          <a:solidFill>
            <a:srgbClr val="FFFFFF"/>
          </a:solidFill>
          <a:ln/>
        </p:spPr>
      </p:sp>
      <p:sp>
        <p:nvSpPr>
          <p:cNvPr id="31" name="Text 28"/>
          <p:cNvSpPr/>
          <p:nvPr/>
        </p:nvSpPr>
        <p:spPr>
          <a:xfrm>
            <a:off x="14404256" y="6965156"/>
            <a:ext cx="1056754" cy="728663"/>
          </a:xfrm>
          <a:prstGeom prst="rect">
            <a:avLst/>
          </a:prstGeom>
          <a:noFill/>
          <a:ln/>
        </p:spPr>
        <p:txBody>
          <a:bodyPr wrap="square" lIns="25400" tIns="25400" rIns="25400" bIns="25400" rtlCol="0" anchor="t">
            <a:normAutofit/>
          </a:bodyPr>
          <a:lstStyle/>
          <a:p>
            <a:pPr algn="ctr" indent="0" marL="0">
              <a:buNone/>
            </a:pPr>
            <a:r>
              <a:rPr lang="en-US" sz="3600" b="1" spc="-72" kern="0" dirty="0">
                <a:solidFill>
                  <a:srgbClr val="1A1917"/>
                </a:solidFill>
                <a:latin typeface="Poppins" pitchFamily="34" charset="0"/>
                <a:ea typeface="Poppins" pitchFamily="34" charset="-122"/>
                <a:cs typeface="Poppins" pitchFamily="34" charset="-120"/>
              </a:rPr>
              <a:t>54%</a:t>
            </a:r>
            <a:endParaRPr lang="en-US" sz="3600" dirty="0"/>
          </a:p>
        </p:txBody>
      </p:sp>
      <p:sp>
        <p:nvSpPr>
          <p:cNvPr id="32" name="Text 29"/>
          <p:cNvSpPr/>
          <p:nvPr/>
        </p:nvSpPr>
        <p:spPr>
          <a:xfrm>
            <a:off x="14404256" y="7693819"/>
            <a:ext cx="1056754" cy="347663"/>
          </a:xfrm>
          <a:prstGeom prst="rect">
            <a:avLst/>
          </a:prstGeom>
          <a:noFill/>
          <a:ln/>
        </p:spPr>
        <p:txBody>
          <a:bodyPr wrap="square" lIns="25400" tIns="25400" rIns="25400" bIns="25400" rtlCol="0" anchor="t">
            <a:normAutofit/>
          </a:bodyPr>
          <a:lstStyle/>
          <a:p>
            <a:pPr algn="ctr" indent="0" marL="0">
              <a:buNone/>
            </a:pPr>
            <a:r>
              <a:rPr lang="en-US" sz="1650" dirty="0">
                <a:solidFill>
                  <a:srgbClr val="6A655C"/>
                </a:solidFill>
                <a:latin typeface="Poppins" pitchFamily="34" charset="0"/>
                <a:ea typeface="Poppins" pitchFamily="34" charset="-122"/>
                <a:cs typeface="Poppins" pitchFamily="34" charset="-120"/>
              </a:rPr>
              <a:t>Attempt 1</a:t>
            </a:r>
            <a:endParaRPr lang="en-US" sz="1650" dirty="0"/>
          </a:p>
        </p:txBody>
      </p:sp>
      <p:sp>
        <p:nvSpPr>
          <p:cNvPr id="33" name="Shape 30"/>
          <p:cNvSpPr/>
          <p:nvPr/>
        </p:nvSpPr>
        <p:spPr>
          <a:xfrm>
            <a:off x="952500" y="9234488"/>
            <a:ext cx="16383000" cy="19050"/>
          </a:xfrm>
          <a:prstGeom prst="rect">
            <a:avLst/>
          </a:prstGeom>
          <a:solidFill>
            <a:srgbClr val="E2DED7"/>
          </a:solidFill>
          <a:ln/>
        </p:spPr>
      </p:sp>
      <p:sp>
        <p:nvSpPr>
          <p:cNvPr id="34" name="Text 31"/>
          <p:cNvSpPr/>
          <p:nvPr/>
        </p:nvSpPr>
        <p:spPr>
          <a:xfrm>
            <a:off x="952500" y="94440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Alert — tone · title · onDismiss | ProgressBar — value · tone · size | ScoreRing — value · passMark</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Navigation</a:t>
            </a:r>
            <a:endParaRPr lang="en-US" sz="4800" dirty="0"/>
          </a:p>
        </p:txBody>
      </p:sp>
      <p:sp>
        <p:nvSpPr>
          <p:cNvPr id="3" name="Text 1"/>
          <p:cNvSpPr/>
          <p:nvPr/>
        </p:nvSpPr>
        <p:spPr>
          <a:xfrm>
            <a:off x="952500" y="17907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Underline tabs for page sections, pill tabs for views inside a card. Counts tell the learner what is behind a tab before they click.</a:t>
            </a:r>
            <a:endParaRPr lang="en-US" sz="2550" dirty="0"/>
          </a:p>
        </p:txBody>
      </p:sp>
      <p:sp>
        <p:nvSpPr>
          <p:cNvPr id="4" name="Text 2"/>
          <p:cNvSpPr/>
          <p:nvPr/>
        </p:nvSpPr>
        <p:spPr>
          <a:xfrm>
            <a:off x="952500" y="3309938"/>
            <a:ext cx="1848445" cy="414338"/>
          </a:xfrm>
          <a:prstGeom prst="rect">
            <a:avLst/>
          </a:prstGeom>
          <a:noFill/>
          <a:ln/>
        </p:spPr>
        <p:txBody>
          <a:bodyPr wrap="square" lIns="0" tIns="0" rIns="0" bIns="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Certifications</a:t>
            </a:r>
            <a:endParaRPr lang="en-US" sz="2100" dirty="0"/>
          </a:p>
        </p:txBody>
      </p:sp>
      <p:sp>
        <p:nvSpPr>
          <p:cNvPr id="5" name="Text 3"/>
          <p:cNvSpPr/>
          <p:nvPr/>
        </p:nvSpPr>
        <p:spPr>
          <a:xfrm>
            <a:off x="2896195" y="3295650"/>
            <a:ext cx="20315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CBC6BD"/>
                </a:solidFill>
                <a:latin typeface="Poppins" pitchFamily="34" charset="0"/>
                <a:ea typeface="Poppins" pitchFamily="34" charset="-122"/>
                <a:cs typeface="Poppins" pitchFamily="34" charset="-120"/>
              </a:rPr>
              <a:t>/</a:t>
            </a:r>
            <a:endParaRPr lang="en-US" sz="2100" dirty="0"/>
          </a:p>
        </p:txBody>
      </p:sp>
      <p:sp>
        <p:nvSpPr>
          <p:cNvPr id="6" name="Text 4"/>
          <p:cNvSpPr/>
          <p:nvPr/>
        </p:nvSpPr>
        <p:spPr>
          <a:xfrm>
            <a:off x="3194596" y="3309938"/>
            <a:ext cx="672852" cy="414338"/>
          </a:xfrm>
          <a:prstGeom prst="rect">
            <a:avLst/>
          </a:prstGeom>
          <a:noFill/>
          <a:ln/>
        </p:spPr>
        <p:txBody>
          <a:bodyPr wrap="square" lIns="0" tIns="0" rIns="0" bIns="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AWS</a:t>
            </a:r>
            <a:endParaRPr lang="en-US" sz="2100" dirty="0"/>
          </a:p>
        </p:txBody>
      </p:sp>
      <p:sp>
        <p:nvSpPr>
          <p:cNvPr id="7" name="Text 5"/>
          <p:cNvSpPr/>
          <p:nvPr/>
        </p:nvSpPr>
        <p:spPr>
          <a:xfrm>
            <a:off x="3962698" y="3295650"/>
            <a:ext cx="20315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CBC6BD"/>
                </a:solidFill>
                <a:latin typeface="Poppins" pitchFamily="34" charset="0"/>
                <a:ea typeface="Poppins" pitchFamily="34" charset="-122"/>
                <a:cs typeface="Poppins" pitchFamily="34" charset="-120"/>
              </a:rPr>
              <a:t>/</a:t>
            </a:r>
            <a:endParaRPr lang="en-US" sz="2100" dirty="0"/>
          </a:p>
        </p:txBody>
      </p:sp>
      <p:sp>
        <p:nvSpPr>
          <p:cNvPr id="8" name="Text 6"/>
          <p:cNvSpPr/>
          <p:nvPr/>
        </p:nvSpPr>
        <p:spPr>
          <a:xfrm>
            <a:off x="4261098" y="3295650"/>
            <a:ext cx="4573347" cy="442913"/>
          </a:xfrm>
          <a:prstGeom prst="rect">
            <a:avLst/>
          </a:prstGeom>
          <a:noFill/>
          <a:ln/>
        </p:spPr>
        <p:txBody>
          <a:bodyPr wrap="square" lIns="25400" tIns="25400" rIns="25400" bIns="2540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Solutions Architect – Associate</a:t>
            </a:r>
            <a:endParaRPr lang="en-US" sz="2100" dirty="0"/>
          </a:p>
        </p:txBody>
      </p:sp>
      <p:sp>
        <p:nvSpPr>
          <p:cNvPr id="9" name="Shape 7"/>
          <p:cNvSpPr/>
          <p:nvPr/>
        </p:nvSpPr>
        <p:spPr>
          <a:xfrm>
            <a:off x="952500" y="4724400"/>
            <a:ext cx="16383000" cy="28575"/>
          </a:xfrm>
          <a:prstGeom prst="rect">
            <a:avLst/>
          </a:prstGeom>
          <a:solidFill>
            <a:srgbClr val="E2DED7"/>
          </a:solidFill>
          <a:ln/>
        </p:spPr>
      </p:sp>
      <p:sp>
        <p:nvSpPr>
          <p:cNvPr id="10" name="Text 8"/>
          <p:cNvSpPr/>
          <p:nvPr/>
        </p:nvSpPr>
        <p:spPr>
          <a:xfrm>
            <a:off x="952500" y="4043363"/>
            <a:ext cx="1521916" cy="509587"/>
          </a:xfrm>
          <a:prstGeom prst="rect">
            <a:avLst/>
          </a:prstGeom>
          <a:noFill/>
          <a:ln/>
        </p:spPr>
        <p:txBody>
          <a:bodyPr wrap="square" lIns="25400" tIns="25400" rIns="25400" bIns="25400" rtlCol="0" anchor="t">
            <a:normAutofit/>
          </a:bodyPr>
          <a:lstStyle/>
          <a:p>
            <a:pPr algn="l" indent="0" marL="0">
              <a:buNone/>
            </a:pPr>
            <a:r>
              <a:rPr lang="en-US" sz="2400" b="1" dirty="0">
                <a:solidFill>
                  <a:srgbClr val="8A847A"/>
                </a:solidFill>
                <a:latin typeface="Poppins" pitchFamily="34" charset="0"/>
                <a:ea typeface="Poppins" pitchFamily="34" charset="-122"/>
                <a:cs typeface="Poppins" pitchFamily="34" charset="-120"/>
              </a:rPr>
              <a:t>Overview</a:t>
            </a:r>
            <a:endParaRPr lang="en-US" sz="2400" dirty="0"/>
          </a:p>
        </p:txBody>
      </p:sp>
      <p:sp>
        <p:nvSpPr>
          <p:cNvPr id="11" name="Shape 9"/>
          <p:cNvSpPr/>
          <p:nvPr/>
        </p:nvSpPr>
        <p:spPr>
          <a:xfrm>
            <a:off x="2931616" y="4705350"/>
            <a:ext cx="2172891" cy="47625"/>
          </a:xfrm>
          <a:prstGeom prst="rect">
            <a:avLst/>
          </a:prstGeom>
          <a:solidFill>
            <a:srgbClr val="F0602A"/>
          </a:solidFill>
          <a:ln/>
        </p:spPr>
      </p:sp>
      <p:sp>
        <p:nvSpPr>
          <p:cNvPr id="12" name="Text 10"/>
          <p:cNvSpPr/>
          <p:nvPr/>
        </p:nvSpPr>
        <p:spPr>
          <a:xfrm>
            <a:off x="2931616" y="4057650"/>
            <a:ext cx="1833414" cy="461963"/>
          </a:xfrm>
          <a:prstGeom prst="rect">
            <a:avLst/>
          </a:prstGeom>
          <a:noFill/>
          <a:ln/>
        </p:spPr>
        <p:txBody>
          <a:bodyPr wrap="square" lIns="0" tIns="0" rIns="0" bIns="0" rtlCol="0" anchor="t">
            <a:normAutofit/>
          </a:bodyPr>
          <a:lstStyle/>
          <a:p>
            <a:pPr algn="l" indent="0" marL="0">
              <a:buNone/>
            </a:pPr>
            <a:r>
              <a:rPr lang="en-US" sz="2400" b="1" dirty="0">
                <a:solidFill>
                  <a:srgbClr val="1A1917"/>
                </a:solidFill>
                <a:latin typeface="Poppins" pitchFamily="34" charset="0"/>
                <a:ea typeface="Poppins" pitchFamily="34" charset="-122"/>
                <a:cs typeface="Poppins" pitchFamily="34" charset="-120"/>
              </a:rPr>
              <a:t>Curriculum</a:t>
            </a:r>
            <a:endParaRPr lang="en-US" sz="2400" dirty="0"/>
          </a:p>
        </p:txBody>
      </p:sp>
      <p:sp>
        <p:nvSpPr>
          <p:cNvPr id="13" name="Text 11"/>
          <p:cNvSpPr/>
          <p:nvPr/>
        </p:nvSpPr>
        <p:spPr>
          <a:xfrm>
            <a:off x="4822180" y="4129088"/>
            <a:ext cx="358527"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ACA69C"/>
                </a:solidFill>
                <a:latin typeface="Poppins" pitchFamily="34" charset="0"/>
                <a:ea typeface="Poppins" pitchFamily="34" charset="-122"/>
                <a:cs typeface="Poppins" pitchFamily="34" charset="-120"/>
              </a:rPr>
              <a:t>42</a:t>
            </a:r>
            <a:endParaRPr lang="en-US" sz="1800" dirty="0"/>
          </a:p>
        </p:txBody>
      </p:sp>
      <p:sp>
        <p:nvSpPr>
          <p:cNvPr id="14" name="Text 12"/>
          <p:cNvSpPr/>
          <p:nvPr/>
        </p:nvSpPr>
        <p:spPr>
          <a:xfrm>
            <a:off x="5637907" y="4057650"/>
            <a:ext cx="1338411" cy="461963"/>
          </a:xfrm>
          <a:prstGeom prst="rect">
            <a:avLst/>
          </a:prstGeom>
          <a:noFill/>
          <a:ln/>
        </p:spPr>
        <p:txBody>
          <a:bodyPr wrap="square" lIns="0" tIns="0" rIns="0" bIns="0" rtlCol="0" anchor="t">
            <a:normAutofit/>
          </a:bodyPr>
          <a:lstStyle/>
          <a:p>
            <a:pPr algn="l" indent="0" marL="0">
              <a:buNone/>
            </a:pPr>
            <a:r>
              <a:rPr lang="en-US" sz="2400" b="1" dirty="0">
                <a:solidFill>
                  <a:srgbClr val="8A847A"/>
                </a:solidFill>
                <a:latin typeface="Poppins" pitchFamily="34" charset="0"/>
                <a:ea typeface="Poppins" pitchFamily="34" charset="-122"/>
                <a:cs typeface="Poppins" pitchFamily="34" charset="-120"/>
              </a:rPr>
              <a:t>Reviews</a:t>
            </a:r>
            <a:endParaRPr lang="en-US" sz="2400" dirty="0"/>
          </a:p>
        </p:txBody>
      </p:sp>
      <p:sp>
        <p:nvSpPr>
          <p:cNvPr id="15" name="Text 13"/>
          <p:cNvSpPr/>
          <p:nvPr/>
        </p:nvSpPr>
        <p:spPr>
          <a:xfrm>
            <a:off x="7033468" y="4129088"/>
            <a:ext cx="662806"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ACA69C"/>
                </a:solidFill>
                <a:latin typeface="Poppins" pitchFamily="34" charset="0"/>
                <a:ea typeface="Poppins" pitchFamily="34" charset="-122"/>
                <a:cs typeface="Poppins" pitchFamily="34" charset="-120"/>
              </a:rPr>
              <a:t>1,840</a:t>
            </a:r>
            <a:endParaRPr lang="en-US" sz="1800" dirty="0"/>
          </a:p>
        </p:txBody>
      </p:sp>
      <p:sp>
        <p:nvSpPr>
          <p:cNvPr id="16" name="Text 14"/>
          <p:cNvSpPr/>
          <p:nvPr/>
        </p:nvSpPr>
        <p:spPr>
          <a:xfrm>
            <a:off x="1200150" y="5419725"/>
            <a:ext cx="6534256"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Dashboard</a:t>
            </a:r>
            <a:endParaRPr lang="en-US" sz="2100" dirty="0"/>
          </a:p>
        </p:txBody>
      </p:sp>
      <p:sp>
        <p:nvSpPr>
          <p:cNvPr id="17" name="Shape 15"/>
          <p:cNvSpPr/>
          <p:nvPr/>
        </p:nvSpPr>
        <p:spPr>
          <a:xfrm>
            <a:off x="952500" y="6129338"/>
            <a:ext cx="6824811" cy="823913"/>
          </a:xfrm>
          <a:prstGeom prst="roundRect">
            <a:avLst>
              <a:gd name="adj" fmla="val 11561"/>
            </a:avLst>
          </a:prstGeom>
          <a:solidFill>
            <a:srgbClr val="FFF5F0"/>
          </a:solidFill>
          <a:ln/>
        </p:spPr>
      </p:sp>
      <p:sp>
        <p:nvSpPr>
          <p:cNvPr id="18" name="Text 16"/>
          <p:cNvSpPr/>
          <p:nvPr/>
        </p:nvSpPr>
        <p:spPr>
          <a:xfrm>
            <a:off x="1200150" y="6338888"/>
            <a:ext cx="6534256"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B23B17"/>
                </a:solidFill>
                <a:latin typeface="Poppins" pitchFamily="34" charset="0"/>
                <a:ea typeface="Poppins" pitchFamily="34" charset="-122"/>
                <a:cs typeface="Poppins" pitchFamily="34" charset="-120"/>
              </a:rPr>
              <a:t>Practice Tests</a:t>
            </a:r>
            <a:endParaRPr lang="en-US" sz="2100" dirty="0"/>
          </a:p>
        </p:txBody>
      </p:sp>
      <p:sp>
        <p:nvSpPr>
          <p:cNvPr id="19" name="Text 17"/>
          <p:cNvSpPr/>
          <p:nvPr/>
        </p:nvSpPr>
        <p:spPr>
          <a:xfrm>
            <a:off x="1200150" y="7272338"/>
            <a:ext cx="2171402" cy="414338"/>
          </a:xfrm>
          <a:prstGeom prst="rect">
            <a:avLst/>
          </a:prstGeom>
          <a:noFill/>
          <a:ln/>
        </p:spPr>
        <p:txBody>
          <a:bodyPr wrap="square" lIns="0" tIns="0" rIns="0" bIns="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Hands-On Labs</a:t>
            </a:r>
            <a:endParaRPr lang="en-US" sz="2100" dirty="0"/>
          </a:p>
        </p:txBody>
      </p:sp>
      <p:sp>
        <p:nvSpPr>
          <p:cNvPr id="20" name="Shape 18"/>
          <p:cNvSpPr/>
          <p:nvPr/>
        </p:nvSpPr>
        <p:spPr>
          <a:xfrm>
            <a:off x="7136160" y="7258050"/>
            <a:ext cx="393502" cy="404813"/>
          </a:xfrm>
          <a:prstGeom prst="ellipse">
            <a:avLst/>
          </a:prstGeom>
          <a:solidFill>
            <a:srgbClr val="E8402B"/>
          </a:solidFill>
          <a:ln/>
        </p:spPr>
      </p:sp>
      <p:sp>
        <p:nvSpPr>
          <p:cNvPr id="21" name="Text 19"/>
          <p:cNvSpPr/>
          <p:nvPr/>
        </p:nvSpPr>
        <p:spPr>
          <a:xfrm>
            <a:off x="7269510" y="7305675"/>
            <a:ext cx="203002" cy="347663"/>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Poppins" pitchFamily="34" charset="0"/>
                <a:ea typeface="Poppins" pitchFamily="34" charset="-122"/>
                <a:cs typeface="Poppins" pitchFamily="34" charset="-120"/>
              </a:rPr>
              <a:t>3</a:t>
            </a:r>
            <a:endParaRPr lang="en-US" sz="1650" dirty="0"/>
          </a:p>
        </p:txBody>
      </p:sp>
      <p:sp>
        <p:nvSpPr>
          <p:cNvPr id="22" name="Text 20"/>
          <p:cNvSpPr/>
          <p:nvPr/>
        </p:nvSpPr>
        <p:spPr>
          <a:xfrm>
            <a:off x="1200150" y="8177212"/>
            <a:ext cx="6534256"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Certificates</a:t>
            </a:r>
            <a:endParaRPr lang="en-US" sz="2100" dirty="0"/>
          </a:p>
        </p:txBody>
      </p:sp>
      <p:sp>
        <p:nvSpPr>
          <p:cNvPr id="23" name="Text 21"/>
          <p:cNvSpPr/>
          <p:nvPr/>
        </p:nvSpPr>
        <p:spPr>
          <a:xfrm>
            <a:off x="8463111" y="5210175"/>
            <a:ext cx="9759546"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PILL TABS — IN-CARD VIEW SWITCH</a:t>
            </a:r>
            <a:endParaRPr lang="en-US" sz="2100" dirty="0"/>
          </a:p>
        </p:txBody>
      </p:sp>
      <p:sp>
        <p:nvSpPr>
          <p:cNvPr id="24" name="Shape 22"/>
          <p:cNvSpPr/>
          <p:nvPr/>
        </p:nvSpPr>
        <p:spPr>
          <a:xfrm>
            <a:off x="8463111" y="5843588"/>
            <a:ext cx="5321722" cy="862013"/>
          </a:xfrm>
          <a:prstGeom prst="roundRect">
            <a:avLst>
              <a:gd name="adj" fmla="val 13260"/>
            </a:avLst>
          </a:prstGeom>
          <a:solidFill>
            <a:srgbClr val="EFECE7"/>
          </a:solidFill>
          <a:ln/>
        </p:spPr>
      </p:sp>
      <p:sp>
        <p:nvSpPr>
          <p:cNvPr id="25" name="Text 23"/>
          <p:cNvSpPr/>
          <p:nvPr/>
        </p:nvSpPr>
        <p:spPr>
          <a:xfrm>
            <a:off x="8806011" y="6072188"/>
            <a:ext cx="415454"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6A655C"/>
                </a:solidFill>
                <a:latin typeface="Poppins" pitchFamily="34" charset="0"/>
                <a:ea typeface="Poppins" pitchFamily="34" charset="-122"/>
                <a:cs typeface="Poppins" pitchFamily="34" charset="-120"/>
              </a:rPr>
              <a:t>All</a:t>
            </a:r>
            <a:endParaRPr lang="en-US" sz="2100" dirty="0"/>
          </a:p>
        </p:txBody>
      </p:sp>
      <p:sp>
        <p:nvSpPr>
          <p:cNvPr id="26" name="Shape 24"/>
          <p:cNvSpPr/>
          <p:nvPr/>
        </p:nvSpPr>
        <p:spPr>
          <a:xfrm>
            <a:off x="9507215" y="5919788"/>
            <a:ext cx="2049884" cy="709613"/>
          </a:xfrm>
          <a:prstGeom prst="roundRect">
            <a:avLst>
              <a:gd name="adj" fmla="val 10738"/>
            </a:avLst>
          </a:prstGeom>
          <a:solidFill>
            <a:srgbClr val="FFFFFF"/>
          </a:solidFill>
          <a:ln/>
          <a:effectLst>
            <a:outerShdw sx="100000" sy="100000" kx="0" ky="0" algn="bl" rotWithShape="0" blurRad="28575" dist="9525" dir="5400000">
              <a:srgbClr val="1A1917">
                <a:alpha val="10000"/>
              </a:srgbClr>
            </a:outerShdw>
          </a:effectLst>
        </p:spPr>
      </p:sp>
      <p:sp>
        <p:nvSpPr>
          <p:cNvPr id="27" name="Text 25"/>
          <p:cNvSpPr/>
          <p:nvPr/>
        </p:nvSpPr>
        <p:spPr>
          <a:xfrm>
            <a:off x="9773915" y="6072188"/>
            <a:ext cx="1592684"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In progress</a:t>
            </a:r>
            <a:endParaRPr lang="en-US" sz="2100" dirty="0"/>
          </a:p>
        </p:txBody>
      </p:sp>
      <p:sp>
        <p:nvSpPr>
          <p:cNvPr id="28" name="Text 26"/>
          <p:cNvSpPr/>
          <p:nvPr/>
        </p:nvSpPr>
        <p:spPr>
          <a:xfrm>
            <a:off x="11919049" y="6072188"/>
            <a:ext cx="1599084"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6A655C"/>
                </a:solidFill>
                <a:latin typeface="Poppins" pitchFamily="34" charset="0"/>
                <a:ea typeface="Poppins" pitchFamily="34" charset="-122"/>
                <a:cs typeface="Poppins" pitchFamily="34" charset="-120"/>
              </a:rPr>
              <a:t>Completed</a:t>
            </a:r>
            <a:endParaRPr lang="en-US" sz="2100" dirty="0"/>
          </a:p>
        </p:txBody>
      </p:sp>
      <p:sp>
        <p:nvSpPr>
          <p:cNvPr id="29" name="Text 27"/>
          <p:cNvSpPr/>
          <p:nvPr/>
        </p:nvSpPr>
        <p:spPr>
          <a:xfrm>
            <a:off x="8463111" y="7124700"/>
            <a:ext cx="9759546"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PAGINATION</a:t>
            </a:r>
            <a:endParaRPr lang="en-US" sz="2100" dirty="0"/>
          </a:p>
        </p:txBody>
      </p:sp>
      <p:sp>
        <p:nvSpPr>
          <p:cNvPr id="30" name="Shape 28"/>
          <p:cNvSpPr/>
          <p:nvPr/>
        </p:nvSpPr>
        <p:spPr>
          <a:xfrm>
            <a:off x="8463111" y="7758113"/>
            <a:ext cx="647700" cy="647700"/>
          </a:xfrm>
          <a:prstGeom prst="roundRect">
            <a:avLst>
              <a:gd name="adj" fmla="val 8824"/>
            </a:avLst>
          </a:prstGeom>
          <a:ln w="19050">
            <a:solidFill>
              <a:srgbClr val="E2DED7"/>
            </a:solidFill>
            <a:prstDash val="solid"/>
          </a:ln>
        </p:spPr>
      </p:sp>
      <p:sp>
        <p:nvSpPr>
          <p:cNvPr id="31" name="Text 29"/>
          <p:cNvSpPr/>
          <p:nvPr/>
        </p:nvSpPr>
        <p:spPr>
          <a:xfrm>
            <a:off x="8444061" y="7777163"/>
            <a:ext cx="685800" cy="647700"/>
          </a:xfrm>
          <a:prstGeom prst="rect">
            <a:avLst/>
          </a:prstGeom>
          <a:noFill/>
          <a:ln/>
        </p:spPr>
        <p:txBody>
          <a:bodyPr wrap="square" lIns="25400" tIns="25400" rIns="25400" bIns="25400" rtlCol="0" anchor="ctr">
            <a:normAutofit/>
          </a:bodyPr>
          <a:lstStyle/>
          <a:p>
            <a:pPr algn="ctr" indent="0" marL="0">
              <a:buNone/>
            </a:pPr>
            <a:r>
              <a:rPr lang="en-US" sz="1950" dirty="0">
                <a:solidFill>
                  <a:srgbClr val="ACA69C"/>
                </a:solidFill>
                <a:latin typeface="Poppins" pitchFamily="34" charset="0"/>
                <a:ea typeface="Poppins" pitchFamily="34" charset="-122"/>
                <a:cs typeface="Poppins" pitchFamily="34" charset="-120"/>
              </a:rPr>
              <a:t>‹</a:t>
            </a:r>
            <a:endParaRPr lang="en-US" sz="1950" dirty="0"/>
          </a:p>
        </p:txBody>
      </p:sp>
      <p:sp>
        <p:nvSpPr>
          <p:cNvPr id="32" name="Shape 30"/>
          <p:cNvSpPr/>
          <p:nvPr/>
        </p:nvSpPr>
        <p:spPr>
          <a:xfrm>
            <a:off x="9225111" y="7758113"/>
            <a:ext cx="647700" cy="647700"/>
          </a:xfrm>
          <a:prstGeom prst="roundRect">
            <a:avLst>
              <a:gd name="adj" fmla="val 8824"/>
            </a:avLst>
          </a:prstGeom>
          <a:ln w="19050">
            <a:solidFill>
              <a:srgbClr val="E2DED7"/>
            </a:solidFill>
            <a:prstDash val="solid"/>
          </a:ln>
        </p:spPr>
      </p:sp>
      <p:sp>
        <p:nvSpPr>
          <p:cNvPr id="33" name="Text 31"/>
          <p:cNvSpPr/>
          <p:nvPr/>
        </p:nvSpPr>
        <p:spPr>
          <a:xfrm>
            <a:off x="9206061" y="7777163"/>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1A1917"/>
                </a:solidFill>
                <a:latin typeface="Poppins" pitchFamily="34" charset="0"/>
                <a:ea typeface="Poppins" pitchFamily="34" charset="-122"/>
                <a:cs typeface="Poppins" pitchFamily="34" charset="-120"/>
              </a:rPr>
              <a:t>1</a:t>
            </a:r>
            <a:endParaRPr lang="en-US" sz="1950" dirty="0"/>
          </a:p>
        </p:txBody>
      </p:sp>
      <p:sp>
        <p:nvSpPr>
          <p:cNvPr id="34" name="Shape 32"/>
          <p:cNvSpPr/>
          <p:nvPr/>
        </p:nvSpPr>
        <p:spPr>
          <a:xfrm>
            <a:off x="9987111" y="7758113"/>
            <a:ext cx="609600" cy="609600"/>
          </a:xfrm>
          <a:prstGeom prst="roundRect">
            <a:avLst>
              <a:gd name="adj" fmla="val 9375"/>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35" name="Text 33"/>
          <p:cNvSpPr/>
          <p:nvPr/>
        </p:nvSpPr>
        <p:spPr>
          <a:xfrm>
            <a:off x="9949011" y="7758113"/>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Poppins" pitchFamily="34" charset="0"/>
                <a:ea typeface="Poppins" pitchFamily="34" charset="-122"/>
                <a:cs typeface="Poppins" pitchFamily="34" charset="-120"/>
              </a:rPr>
              <a:t>2</a:t>
            </a:r>
            <a:endParaRPr lang="en-US" sz="1950" dirty="0"/>
          </a:p>
        </p:txBody>
      </p:sp>
      <p:sp>
        <p:nvSpPr>
          <p:cNvPr id="36" name="Shape 34"/>
          <p:cNvSpPr/>
          <p:nvPr/>
        </p:nvSpPr>
        <p:spPr>
          <a:xfrm>
            <a:off x="10711011" y="7758113"/>
            <a:ext cx="647700" cy="647700"/>
          </a:xfrm>
          <a:prstGeom prst="roundRect">
            <a:avLst>
              <a:gd name="adj" fmla="val 8824"/>
            </a:avLst>
          </a:prstGeom>
          <a:ln w="19050">
            <a:solidFill>
              <a:srgbClr val="E2DED7"/>
            </a:solidFill>
            <a:prstDash val="solid"/>
          </a:ln>
        </p:spPr>
      </p:sp>
      <p:sp>
        <p:nvSpPr>
          <p:cNvPr id="37" name="Text 35"/>
          <p:cNvSpPr/>
          <p:nvPr/>
        </p:nvSpPr>
        <p:spPr>
          <a:xfrm>
            <a:off x="10691961" y="7777163"/>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1A1917"/>
                </a:solidFill>
                <a:latin typeface="Poppins" pitchFamily="34" charset="0"/>
                <a:ea typeface="Poppins" pitchFamily="34" charset="-122"/>
                <a:cs typeface="Poppins" pitchFamily="34" charset="-120"/>
              </a:rPr>
              <a:t>3</a:t>
            </a:r>
            <a:endParaRPr lang="en-US" sz="1950" dirty="0"/>
          </a:p>
        </p:txBody>
      </p:sp>
      <p:sp>
        <p:nvSpPr>
          <p:cNvPr id="38" name="Shape 36"/>
          <p:cNvSpPr/>
          <p:nvPr/>
        </p:nvSpPr>
        <p:spPr>
          <a:xfrm>
            <a:off x="11473011" y="7758113"/>
            <a:ext cx="647700" cy="647700"/>
          </a:xfrm>
          <a:prstGeom prst="roundRect">
            <a:avLst>
              <a:gd name="adj" fmla="val 8824"/>
            </a:avLst>
          </a:prstGeom>
          <a:ln w="19050">
            <a:solidFill>
              <a:srgbClr val="E2DED7"/>
            </a:solidFill>
            <a:prstDash val="solid"/>
          </a:ln>
        </p:spPr>
      </p:sp>
      <p:sp>
        <p:nvSpPr>
          <p:cNvPr id="39" name="Text 37"/>
          <p:cNvSpPr/>
          <p:nvPr/>
        </p:nvSpPr>
        <p:spPr>
          <a:xfrm>
            <a:off x="11453961" y="7777163"/>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1A1917"/>
                </a:solidFill>
                <a:latin typeface="Poppins" pitchFamily="34" charset="0"/>
                <a:ea typeface="Poppins" pitchFamily="34" charset="-122"/>
                <a:cs typeface="Poppins" pitchFamily="34" charset="-120"/>
              </a:rPr>
              <a:t>4</a:t>
            </a:r>
            <a:endParaRPr lang="en-US" sz="1950" dirty="0"/>
          </a:p>
        </p:txBody>
      </p:sp>
      <p:sp>
        <p:nvSpPr>
          <p:cNvPr id="40" name="Shape 38"/>
          <p:cNvSpPr/>
          <p:nvPr/>
        </p:nvSpPr>
        <p:spPr>
          <a:xfrm>
            <a:off x="12235011" y="7758113"/>
            <a:ext cx="647700" cy="647700"/>
          </a:xfrm>
          <a:prstGeom prst="roundRect">
            <a:avLst>
              <a:gd name="adj" fmla="val 8824"/>
            </a:avLst>
          </a:prstGeom>
          <a:ln w="19050">
            <a:solidFill>
              <a:srgbClr val="E2DED7"/>
            </a:solidFill>
            <a:prstDash val="solid"/>
          </a:ln>
        </p:spPr>
      </p:sp>
      <p:sp>
        <p:nvSpPr>
          <p:cNvPr id="41" name="Text 39"/>
          <p:cNvSpPr/>
          <p:nvPr/>
        </p:nvSpPr>
        <p:spPr>
          <a:xfrm>
            <a:off x="12215961" y="7777163"/>
            <a:ext cx="685800" cy="647700"/>
          </a:xfrm>
          <a:prstGeom prst="rect">
            <a:avLst/>
          </a:prstGeom>
          <a:noFill/>
          <a:ln/>
        </p:spPr>
        <p:txBody>
          <a:bodyPr wrap="square" lIns="25400" tIns="25400" rIns="25400" bIns="25400" rtlCol="0" anchor="ctr">
            <a:normAutofit/>
          </a:bodyPr>
          <a:lstStyle/>
          <a:p>
            <a:pPr algn="ctr" indent="0" marL="0">
              <a:buNone/>
            </a:pPr>
            <a:r>
              <a:rPr lang="en-US" sz="1950" dirty="0">
                <a:solidFill>
                  <a:srgbClr val="4E4A43"/>
                </a:solidFill>
                <a:latin typeface="Poppins" pitchFamily="34" charset="0"/>
                <a:ea typeface="Poppins" pitchFamily="34" charset="-122"/>
                <a:cs typeface="Poppins" pitchFamily="34" charset="-120"/>
              </a:rPr>
              <a:t>›</a:t>
            </a:r>
            <a:endParaRPr lang="en-US" sz="1950" dirty="0"/>
          </a:p>
        </p:txBody>
      </p:sp>
      <p:sp>
        <p:nvSpPr>
          <p:cNvPr id="42" name="Shape 40"/>
          <p:cNvSpPr/>
          <p:nvPr/>
        </p:nvSpPr>
        <p:spPr>
          <a:xfrm>
            <a:off x="952500" y="9234488"/>
            <a:ext cx="16383000" cy="19050"/>
          </a:xfrm>
          <a:prstGeom prst="rect">
            <a:avLst/>
          </a:prstGeom>
          <a:solidFill>
            <a:srgbClr val="E2DED7"/>
          </a:solidFill>
          <a:ln/>
        </p:spPr>
      </p:sp>
      <p:sp>
        <p:nvSpPr>
          <p:cNvPr id="43" name="Text 41"/>
          <p:cNvSpPr/>
          <p:nvPr/>
        </p:nvSpPr>
        <p:spPr>
          <a:xfrm>
            <a:off x="952500" y="94440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Tabs — items · value · variant | SidebarNav — icon · badge | Pagination — page · pageCount</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Learning components</a:t>
            </a:r>
            <a:endParaRPr lang="en-US" sz="4800" dirty="0"/>
          </a:p>
        </p:txBody>
      </p:sp>
      <p:sp>
        <p:nvSpPr>
          <p:cNvPr id="3" name="Text 1"/>
          <p:cNvSpPr/>
          <p:nvPr/>
        </p:nvSpPr>
        <p:spPr>
          <a:xfrm>
            <a:off x="952500" y="17907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The four that make this a Whizlabs system rather than a generic kit — built for courses, curricula and timed exams.</a:t>
            </a:r>
            <a:endParaRPr lang="en-US" sz="2550" dirty="0"/>
          </a:p>
        </p:txBody>
      </p:sp>
      <p:sp>
        <p:nvSpPr>
          <p:cNvPr id="4" name="Shape 2"/>
          <p:cNvSpPr/>
          <p:nvPr/>
        </p:nvSpPr>
        <p:spPr>
          <a:xfrm>
            <a:off x="952500" y="3295650"/>
            <a:ext cx="6651575" cy="5710238"/>
          </a:xfrm>
          <a:prstGeom prst="roundRect">
            <a:avLst>
              <a:gd name="adj" fmla="val 2335"/>
            </a:avLst>
          </a:prstGeom>
          <a:solidFill>
            <a:srgbClr val="FFFFFF"/>
          </a:solidFill>
          <a:ln w="19050">
            <a:solidFill>
              <a:srgbClr val="EFECE7"/>
            </a:solidFill>
            <a:prstDash val="solid"/>
          </a:ln>
          <a:effectLst>
            <a:outerShdw sx="100000" sy="100000" kx="0" ky="0" algn="bl" rotWithShape="0" blurRad="28575" dist="9525" dir="5400000">
              <a:srgbClr val="1A1917">
                <a:alpha val="8000"/>
              </a:srgbClr>
            </a:outerShdw>
          </a:effectLst>
        </p:spPr>
      </p:sp>
      <p:sp>
        <p:nvSpPr>
          <p:cNvPr id="5" name="Shape 3"/>
          <p:cNvSpPr/>
          <p:nvPr/>
        </p:nvSpPr>
        <p:spPr>
          <a:xfrm>
            <a:off x="971550" y="3314700"/>
            <a:ext cx="6613475" cy="1847850"/>
          </a:xfrm>
          <a:prstGeom prst="rect">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6" name="Shape 4"/>
          <p:cNvSpPr/>
          <p:nvPr/>
        </p:nvSpPr>
        <p:spPr>
          <a:xfrm>
            <a:off x="1181100" y="4491038"/>
            <a:ext cx="2151831" cy="461963"/>
          </a:xfrm>
          <a:prstGeom prst="roundRect">
            <a:avLst>
              <a:gd name="adj" fmla="val 50000"/>
            </a:avLst>
          </a:prstGeom>
          <a:solidFill>
            <a:srgbClr val="1A1917">
              <a:alpha val="32000"/>
            </a:srgbClr>
          </a:solidFill>
          <a:ln/>
        </p:spPr>
      </p:sp>
      <p:sp>
        <p:nvSpPr>
          <p:cNvPr id="7" name="Text 5"/>
          <p:cNvSpPr/>
          <p:nvPr/>
        </p:nvSpPr>
        <p:spPr>
          <a:xfrm>
            <a:off x="1333500" y="4567237"/>
            <a:ext cx="1923231" cy="347663"/>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FFFFFF"/>
                </a:solidFill>
                <a:latin typeface="Poppins" pitchFamily="34" charset="0"/>
                <a:ea typeface="Poppins" pitchFamily="34" charset="-122"/>
                <a:cs typeface="Poppins" pitchFamily="34" charset="-120"/>
              </a:rPr>
              <a:t>PRACTICE TEST</a:t>
            </a:r>
            <a:endParaRPr lang="en-US" sz="1650" dirty="0"/>
          </a:p>
        </p:txBody>
      </p:sp>
      <p:sp>
        <p:nvSpPr>
          <p:cNvPr id="8" name="Shape 6"/>
          <p:cNvSpPr/>
          <p:nvPr/>
        </p:nvSpPr>
        <p:spPr>
          <a:xfrm>
            <a:off x="6056188" y="3505200"/>
            <a:ext cx="1338337" cy="461963"/>
          </a:xfrm>
          <a:prstGeom prst="roundRect">
            <a:avLst>
              <a:gd name="adj" fmla="val 50000"/>
            </a:avLst>
          </a:prstGeom>
          <a:solidFill>
            <a:srgbClr val="1A1917"/>
          </a:solidFill>
          <a:ln/>
        </p:spPr>
      </p:sp>
      <p:sp>
        <p:nvSpPr>
          <p:cNvPr id="9" name="Text 7"/>
          <p:cNvSpPr/>
          <p:nvPr/>
        </p:nvSpPr>
        <p:spPr>
          <a:xfrm>
            <a:off x="6208588" y="3581400"/>
            <a:ext cx="1109737" cy="347663"/>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Poppins" pitchFamily="34" charset="0"/>
                <a:ea typeface="Poppins" pitchFamily="34" charset="-122"/>
                <a:cs typeface="Poppins" pitchFamily="34" charset="-120"/>
              </a:rPr>
              <a:t>Bestseller</a:t>
            </a:r>
            <a:endParaRPr lang="en-US" sz="1650" dirty="0"/>
          </a:p>
        </p:txBody>
      </p:sp>
      <p:sp>
        <p:nvSpPr>
          <p:cNvPr id="10" name="Text 8"/>
          <p:cNvSpPr/>
          <p:nvPr/>
        </p:nvSpPr>
        <p:spPr>
          <a:xfrm>
            <a:off x="1238250" y="5372100"/>
            <a:ext cx="6688083" cy="347663"/>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8A847A"/>
                </a:solidFill>
                <a:latin typeface="Poppins" pitchFamily="34" charset="0"/>
                <a:ea typeface="Poppins" pitchFamily="34" charset="-122"/>
                <a:cs typeface="Poppins" pitchFamily="34" charset="-120"/>
              </a:rPr>
              <a:t>AWS</a:t>
            </a:r>
            <a:endParaRPr lang="en-US" sz="1650" dirty="0"/>
          </a:p>
        </p:txBody>
      </p:sp>
      <p:sp>
        <p:nvSpPr>
          <p:cNvPr id="11" name="Text 9"/>
          <p:cNvSpPr/>
          <p:nvPr/>
        </p:nvSpPr>
        <p:spPr>
          <a:xfrm>
            <a:off x="1238250" y="5815013"/>
            <a:ext cx="6262478" cy="781050"/>
          </a:xfrm>
          <a:prstGeom prst="rect">
            <a:avLst/>
          </a:prstGeom>
          <a:noFill/>
          <a:ln/>
        </p:spPr>
        <p:txBody>
          <a:bodyPr wrap="square" lIns="25400" tIns="25400" rIns="25400" bIns="25400" rtlCol="0" anchor="t">
            <a:normAutofit/>
          </a:bodyPr>
          <a:lstStyle/>
          <a:p>
            <a:pPr algn="l" indent="0" marL="0">
              <a:lnSpc>
                <a:spcPct val="86667"/>
              </a:lnSpc>
              <a:buNone/>
            </a:pPr>
            <a:r>
              <a:rPr lang="en-US" sz="2250" b="1" spc="-22" kern="0" dirty="0">
                <a:solidFill>
                  <a:srgbClr val="1A1917"/>
                </a:solidFill>
                <a:latin typeface="Poppins" pitchFamily="34" charset="0"/>
                <a:ea typeface="Poppins" pitchFamily="34" charset="-122"/>
                <a:cs typeface="Poppins" pitchFamily="34" charset="-120"/>
              </a:rPr>
              <a:t>Solutions Architect – Associate (SAA-C03)</a:t>
            </a:r>
            <a:endParaRPr lang="en-US" sz="2250" dirty="0"/>
          </a:p>
        </p:txBody>
      </p:sp>
      <p:sp>
        <p:nvSpPr>
          <p:cNvPr id="12" name="Shape 10"/>
          <p:cNvSpPr/>
          <p:nvPr/>
        </p:nvSpPr>
        <p:spPr>
          <a:xfrm>
            <a:off x="1238250" y="6691313"/>
            <a:ext cx="1735336" cy="600075"/>
          </a:xfrm>
          <a:prstGeom prst="roundRect">
            <a:avLst>
              <a:gd name="adj" fmla="val 50000"/>
            </a:avLst>
          </a:prstGeom>
          <a:solidFill>
            <a:srgbClr val="EFECE7"/>
          </a:solidFill>
          <a:ln/>
        </p:spPr>
      </p:sp>
      <p:sp>
        <p:nvSpPr>
          <p:cNvPr id="13" name="Text 11"/>
          <p:cNvSpPr/>
          <p:nvPr/>
        </p:nvSpPr>
        <p:spPr>
          <a:xfrm>
            <a:off x="1485900" y="6805613"/>
            <a:ext cx="1316236"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Associate</a:t>
            </a:r>
            <a:endParaRPr lang="en-US" sz="1950" dirty="0"/>
          </a:p>
        </p:txBody>
      </p:sp>
      <p:sp>
        <p:nvSpPr>
          <p:cNvPr id="14" name="Shape 12"/>
          <p:cNvSpPr/>
          <p:nvPr/>
        </p:nvSpPr>
        <p:spPr>
          <a:xfrm>
            <a:off x="3087886" y="6691313"/>
            <a:ext cx="2250207" cy="600075"/>
          </a:xfrm>
          <a:prstGeom prst="roundRect">
            <a:avLst>
              <a:gd name="adj" fmla="val 50000"/>
            </a:avLst>
          </a:prstGeom>
          <a:solidFill>
            <a:srgbClr val="EFECE7"/>
          </a:solidFill>
          <a:ln/>
        </p:spPr>
      </p:sp>
      <p:sp>
        <p:nvSpPr>
          <p:cNvPr id="15" name="Text 13"/>
          <p:cNvSpPr/>
          <p:nvPr/>
        </p:nvSpPr>
        <p:spPr>
          <a:xfrm>
            <a:off x="3335536" y="6805613"/>
            <a:ext cx="1831107" cy="409575"/>
          </a:xfrm>
          <a:prstGeom prst="rect">
            <a:avLst/>
          </a:prstGeom>
          <a:noFill/>
          <a:ln/>
        </p:spPr>
        <p:txBody>
          <a:bodyPr wrap="square" lIns="25400" tIns="25400" rIns="25400" bIns="25400" rtlCol="0" anchor="ctr">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780 questions</a:t>
            </a:r>
            <a:endParaRPr lang="en-US" sz="1950" dirty="0"/>
          </a:p>
        </p:txBody>
      </p:sp>
      <p:sp>
        <p:nvSpPr>
          <p:cNvPr id="16" name="Shape 14"/>
          <p:cNvSpPr/>
          <p:nvPr/>
        </p:nvSpPr>
        <p:spPr>
          <a:xfrm>
            <a:off x="1238250" y="8139112"/>
            <a:ext cx="6080075" cy="19050"/>
          </a:xfrm>
          <a:prstGeom prst="rect">
            <a:avLst/>
          </a:prstGeom>
          <a:solidFill>
            <a:srgbClr val="EFECE7"/>
          </a:solidFill>
          <a:ln/>
        </p:spPr>
      </p:sp>
      <p:sp>
        <p:nvSpPr>
          <p:cNvPr id="17" name="Text 15"/>
          <p:cNvSpPr/>
          <p:nvPr/>
        </p:nvSpPr>
        <p:spPr>
          <a:xfrm>
            <a:off x="1238250" y="8372475"/>
            <a:ext cx="1951434" cy="419100"/>
          </a:xfrm>
          <a:prstGeom prst="rect">
            <a:avLst/>
          </a:prstGeom>
          <a:noFill/>
          <a:ln/>
        </p:spPr>
        <p:txBody>
          <a:bodyPr wrap="square" lIns="25400" tIns="25400" rIns="25400" bIns="25400" rtlCol="0" anchor="t">
            <a:normAutofit/>
          </a:bodyPr>
          <a:lstStyle/>
          <a:p>
            <a:pPr algn="l" indent="0" marL="0">
              <a:buNone/>
            </a:pPr>
            <a:r>
              <a:rPr lang="en-US" sz="1950" b="1" dirty="0">
                <a:solidFill>
                  <a:srgbClr val="D94B1C"/>
                </a:solidFill>
                <a:latin typeface="Poppins" pitchFamily="34" charset="0"/>
                <a:ea typeface="Poppins" pitchFamily="34" charset="-122"/>
                <a:cs typeface="Poppins" pitchFamily="34" charset="-120"/>
              </a:rPr>
              <a:t>★ 4.6 </a:t>
            </a:r>
            <a:pPr algn="l" indent="0" marL="0">
              <a:buNone/>
            </a:pPr>
            <a:r>
              <a:rPr lang="en-US" sz="1950" dirty="0">
                <a:solidFill>
                  <a:srgbClr val="6A655C"/>
                </a:solidFill>
                <a:latin typeface="Poppins" pitchFamily="34" charset="0"/>
                <a:ea typeface="Poppins" pitchFamily="34" charset="-122"/>
                <a:cs typeface="Poppins" pitchFamily="34" charset="-120"/>
              </a:rPr>
              <a:t>· 128,400</a:t>
            </a:r>
            <a:endParaRPr lang="en-US" sz="1950" dirty="0"/>
          </a:p>
        </p:txBody>
      </p:sp>
      <p:sp>
        <p:nvSpPr>
          <p:cNvPr id="18" name="Text 16"/>
          <p:cNvSpPr/>
          <p:nvPr/>
        </p:nvSpPr>
        <p:spPr>
          <a:xfrm>
            <a:off x="6405042" y="8348663"/>
            <a:ext cx="989484"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$19.95</a:t>
            </a:r>
            <a:endParaRPr lang="en-US" sz="2250" dirty="0"/>
          </a:p>
        </p:txBody>
      </p:sp>
      <p:sp>
        <p:nvSpPr>
          <p:cNvPr id="19" name="Shape 17"/>
          <p:cNvSpPr/>
          <p:nvPr/>
        </p:nvSpPr>
        <p:spPr>
          <a:xfrm>
            <a:off x="8023175" y="3295650"/>
            <a:ext cx="4541788" cy="1485900"/>
          </a:xfrm>
          <a:prstGeom prst="roundRect">
            <a:avLst>
              <a:gd name="adj" fmla="val 8974"/>
            </a:avLst>
          </a:prstGeom>
          <a:solidFill>
            <a:srgbClr val="FFFFFF"/>
          </a:solidFill>
          <a:ln w="19050">
            <a:solidFill>
              <a:srgbClr val="EFECE7"/>
            </a:solidFill>
            <a:prstDash val="solid"/>
          </a:ln>
        </p:spPr>
      </p:sp>
      <p:sp>
        <p:nvSpPr>
          <p:cNvPr id="20" name="Shape 18"/>
          <p:cNvSpPr/>
          <p:nvPr/>
        </p:nvSpPr>
        <p:spPr>
          <a:xfrm>
            <a:off x="8308925" y="3733800"/>
            <a:ext cx="609600" cy="609600"/>
          </a:xfrm>
          <a:prstGeom prst="roundRect">
            <a:avLst>
              <a:gd name="adj" fmla="val 15625"/>
            </a:avLst>
          </a:prstGeom>
          <a:solidFill>
            <a:srgbClr val="FFF5F0"/>
          </a:solidFill>
          <a:ln/>
        </p:spPr>
      </p:sp>
      <p:pic>
        <p:nvPicPr>
          <p:cNvPr id="2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47025" y="3771900"/>
            <a:ext cx="533400" cy="533400"/>
          </a:xfrm>
          <a:prstGeom prst="rect">
            <a:avLst/>
          </a:prstGeom>
        </p:spPr>
      </p:pic>
      <p:sp>
        <p:nvSpPr>
          <p:cNvPr id="22" name="Text 19"/>
          <p:cNvSpPr/>
          <p:nvPr/>
        </p:nvSpPr>
        <p:spPr>
          <a:xfrm>
            <a:off x="9109025" y="3581400"/>
            <a:ext cx="2984614" cy="60960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1A1917"/>
                </a:solidFill>
                <a:latin typeface="Poppins" pitchFamily="34" charset="0"/>
                <a:ea typeface="Poppins" pitchFamily="34" charset="-122"/>
                <a:cs typeface="Poppins" pitchFamily="34" charset="-120"/>
              </a:rPr>
              <a:t>82%</a:t>
            </a:r>
            <a:endParaRPr lang="en-US" sz="3000" dirty="0"/>
          </a:p>
        </p:txBody>
      </p:sp>
      <p:sp>
        <p:nvSpPr>
          <p:cNvPr id="23" name="Text 20"/>
          <p:cNvSpPr/>
          <p:nvPr/>
        </p:nvSpPr>
        <p:spPr>
          <a:xfrm>
            <a:off x="9109025" y="4152900"/>
            <a:ext cx="2984614"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Average mock score </a:t>
            </a:r>
            <a:pPr algn="l" indent="0" marL="0">
              <a:buNone/>
            </a:pPr>
            <a:r>
              <a:rPr lang="en-US" sz="1800" b="1" dirty="0">
                <a:solidFill>
                  <a:srgbClr val="0B7A3C"/>
                </a:solidFill>
                <a:latin typeface="Poppins" pitchFamily="34" charset="0"/>
                <a:ea typeface="Poppins" pitchFamily="34" charset="-122"/>
                <a:cs typeface="Poppins" pitchFamily="34" charset="-120"/>
              </a:rPr>
              <a:t>+6</a:t>
            </a:r>
            <a:endParaRPr lang="en-US" sz="1800" dirty="0"/>
          </a:p>
        </p:txBody>
      </p:sp>
      <p:sp>
        <p:nvSpPr>
          <p:cNvPr id="24" name="Shape 21"/>
          <p:cNvSpPr/>
          <p:nvPr/>
        </p:nvSpPr>
        <p:spPr>
          <a:xfrm>
            <a:off x="12793563" y="3295650"/>
            <a:ext cx="4541862" cy="1485900"/>
          </a:xfrm>
          <a:prstGeom prst="roundRect">
            <a:avLst>
              <a:gd name="adj" fmla="val 8974"/>
            </a:avLst>
          </a:prstGeom>
          <a:solidFill>
            <a:srgbClr val="FFFFFF"/>
          </a:solidFill>
          <a:ln w="19050">
            <a:solidFill>
              <a:srgbClr val="EFECE7"/>
            </a:solidFill>
            <a:prstDash val="solid"/>
          </a:ln>
        </p:spPr>
      </p:sp>
      <p:sp>
        <p:nvSpPr>
          <p:cNvPr id="25" name="Shape 22"/>
          <p:cNvSpPr/>
          <p:nvPr/>
        </p:nvSpPr>
        <p:spPr>
          <a:xfrm>
            <a:off x="13079313" y="3733800"/>
            <a:ext cx="609600" cy="609600"/>
          </a:xfrm>
          <a:prstGeom prst="roundRect">
            <a:avLst>
              <a:gd name="adj" fmla="val 15625"/>
            </a:avLst>
          </a:prstGeom>
          <a:solidFill>
            <a:srgbClr val="EFECE7"/>
          </a:solidFill>
          <a:ln/>
        </p:spPr>
      </p:sp>
      <p:pic>
        <p:nvPicPr>
          <p:cNvPr id="2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117413" y="3771900"/>
            <a:ext cx="533400" cy="533400"/>
          </a:xfrm>
          <a:prstGeom prst="rect">
            <a:avLst/>
          </a:prstGeom>
        </p:spPr>
      </p:pic>
      <p:sp>
        <p:nvSpPr>
          <p:cNvPr id="27" name="Text 23"/>
          <p:cNvSpPr/>
          <p:nvPr/>
        </p:nvSpPr>
        <p:spPr>
          <a:xfrm>
            <a:off x="13879413" y="3581400"/>
            <a:ext cx="1867123" cy="60960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1A1917"/>
                </a:solidFill>
                <a:latin typeface="Poppins" pitchFamily="34" charset="0"/>
                <a:ea typeface="Poppins" pitchFamily="34" charset="-122"/>
                <a:cs typeface="Poppins" pitchFamily="34" charset="-120"/>
              </a:rPr>
              <a:t>26d</a:t>
            </a:r>
            <a:endParaRPr lang="en-US" sz="3000" dirty="0"/>
          </a:p>
        </p:txBody>
      </p:sp>
      <p:sp>
        <p:nvSpPr>
          <p:cNvPr id="28" name="Text 24"/>
          <p:cNvSpPr/>
          <p:nvPr/>
        </p:nvSpPr>
        <p:spPr>
          <a:xfrm>
            <a:off x="13879413" y="4152900"/>
            <a:ext cx="186712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Until exam day</a:t>
            </a:r>
            <a:endParaRPr lang="en-US" sz="1800" dirty="0"/>
          </a:p>
        </p:txBody>
      </p:sp>
      <p:sp>
        <p:nvSpPr>
          <p:cNvPr id="29" name="Shape 25"/>
          <p:cNvSpPr/>
          <p:nvPr/>
        </p:nvSpPr>
        <p:spPr>
          <a:xfrm>
            <a:off x="8023175" y="5048250"/>
            <a:ext cx="9312250" cy="1204913"/>
          </a:xfrm>
          <a:prstGeom prst="roundRect">
            <a:avLst>
              <a:gd name="adj" fmla="val 7905"/>
            </a:avLst>
          </a:prstGeom>
          <a:solidFill>
            <a:srgbClr val="FFFFFF"/>
          </a:solidFill>
          <a:ln w="19050">
            <a:solidFill>
              <a:srgbClr val="EFECE7"/>
            </a:solidFill>
            <a:prstDash val="solid"/>
          </a:ln>
        </p:spPr>
      </p:sp>
      <p:sp>
        <p:nvSpPr>
          <p:cNvPr id="30" name="Shape 26"/>
          <p:cNvSpPr/>
          <p:nvPr/>
        </p:nvSpPr>
        <p:spPr>
          <a:xfrm>
            <a:off x="8308925" y="5422106"/>
            <a:ext cx="457200" cy="457200"/>
          </a:xfrm>
          <a:prstGeom prst="ellipse">
            <a:avLst/>
          </a:prstGeom>
          <a:solidFill>
            <a:srgbClr val="12A150"/>
          </a:solidFill>
          <a:ln/>
        </p:spPr>
      </p:sp>
      <p:sp>
        <p:nvSpPr>
          <p:cNvPr id="31" name="Text 27"/>
          <p:cNvSpPr/>
          <p:nvPr/>
        </p:nvSpPr>
        <p:spPr>
          <a:xfrm>
            <a:off x="8270825" y="5422106"/>
            <a:ext cx="533400" cy="4953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32" name="Text 28"/>
          <p:cNvSpPr/>
          <p:nvPr/>
        </p:nvSpPr>
        <p:spPr>
          <a:xfrm>
            <a:off x="8975675" y="5257800"/>
            <a:ext cx="7670185"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Full-length mock 1</a:t>
            </a:r>
            <a:endParaRPr lang="en-US" sz="2100" dirty="0"/>
          </a:p>
        </p:txBody>
      </p:sp>
      <p:sp>
        <p:nvSpPr>
          <p:cNvPr id="33" name="Text 29"/>
          <p:cNvSpPr/>
          <p:nvPr/>
        </p:nvSpPr>
        <p:spPr>
          <a:xfrm>
            <a:off x="8975675" y="5700713"/>
            <a:ext cx="7670185"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65 questions</a:t>
            </a:r>
            <a:endParaRPr lang="en-US" sz="1800" dirty="0"/>
          </a:p>
        </p:txBody>
      </p:sp>
      <p:sp>
        <p:nvSpPr>
          <p:cNvPr id="34" name="Text 30"/>
          <p:cNvSpPr/>
          <p:nvPr/>
        </p:nvSpPr>
        <p:spPr>
          <a:xfrm>
            <a:off x="16158121" y="5491163"/>
            <a:ext cx="96775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ACA69C"/>
                </a:solidFill>
                <a:latin typeface="IBM Plex Mono" pitchFamily="34" charset="0"/>
                <a:ea typeface="IBM Plex Mono" pitchFamily="34" charset="-122"/>
                <a:cs typeface="IBM Plex Mono" pitchFamily="34" charset="-120"/>
              </a:rPr>
              <a:t>130:00</a:t>
            </a:r>
            <a:endParaRPr lang="en-US" sz="1950" dirty="0"/>
          </a:p>
        </p:txBody>
      </p:sp>
      <p:sp>
        <p:nvSpPr>
          <p:cNvPr id="35" name="Shape 31"/>
          <p:cNvSpPr/>
          <p:nvPr/>
        </p:nvSpPr>
        <p:spPr>
          <a:xfrm>
            <a:off x="8023175" y="6386513"/>
            <a:ext cx="9312250" cy="1204913"/>
          </a:xfrm>
          <a:prstGeom prst="roundRect">
            <a:avLst>
              <a:gd name="adj" fmla="val 7905"/>
            </a:avLst>
          </a:prstGeom>
          <a:solidFill>
            <a:srgbClr val="FFF5F0"/>
          </a:solidFill>
          <a:ln w="19050">
            <a:solidFill>
              <a:srgbClr val="F78454"/>
            </a:solidFill>
            <a:prstDash val="solid"/>
          </a:ln>
        </p:spPr>
      </p:sp>
      <p:sp>
        <p:nvSpPr>
          <p:cNvPr id="36" name="Shape 32"/>
          <p:cNvSpPr/>
          <p:nvPr/>
        </p:nvSpPr>
        <p:spPr>
          <a:xfrm>
            <a:off x="8308925" y="6760369"/>
            <a:ext cx="457200" cy="4572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37" name="Text 33"/>
          <p:cNvSpPr/>
          <p:nvPr/>
        </p:nvSpPr>
        <p:spPr>
          <a:xfrm>
            <a:off x="8270825" y="6760369"/>
            <a:ext cx="533400" cy="4953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2</a:t>
            </a:r>
            <a:endParaRPr lang="en-US" sz="1800" dirty="0"/>
          </a:p>
        </p:txBody>
      </p:sp>
      <p:sp>
        <p:nvSpPr>
          <p:cNvPr id="38" name="Text 34"/>
          <p:cNvSpPr/>
          <p:nvPr/>
        </p:nvSpPr>
        <p:spPr>
          <a:xfrm>
            <a:off x="8975675" y="6596063"/>
            <a:ext cx="7670185"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Full-length mock 2</a:t>
            </a:r>
            <a:endParaRPr lang="en-US" sz="2100" dirty="0"/>
          </a:p>
        </p:txBody>
      </p:sp>
      <p:sp>
        <p:nvSpPr>
          <p:cNvPr id="39" name="Text 35"/>
          <p:cNvSpPr/>
          <p:nvPr/>
        </p:nvSpPr>
        <p:spPr>
          <a:xfrm>
            <a:off x="8975675" y="7038975"/>
            <a:ext cx="7670185"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In progress</a:t>
            </a:r>
            <a:endParaRPr lang="en-US" sz="1800" dirty="0"/>
          </a:p>
        </p:txBody>
      </p:sp>
      <p:sp>
        <p:nvSpPr>
          <p:cNvPr id="40" name="Text 36"/>
          <p:cNvSpPr/>
          <p:nvPr/>
        </p:nvSpPr>
        <p:spPr>
          <a:xfrm>
            <a:off x="16158121" y="6829425"/>
            <a:ext cx="96775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ACA69C"/>
                </a:solidFill>
                <a:latin typeface="IBM Plex Mono" pitchFamily="34" charset="0"/>
                <a:ea typeface="IBM Plex Mono" pitchFamily="34" charset="-122"/>
                <a:cs typeface="IBM Plex Mono" pitchFamily="34" charset="-120"/>
              </a:rPr>
              <a:t>130:00</a:t>
            </a:r>
            <a:endParaRPr lang="en-US" sz="1950" dirty="0"/>
          </a:p>
        </p:txBody>
      </p:sp>
      <p:sp>
        <p:nvSpPr>
          <p:cNvPr id="41" name="Shape 37"/>
          <p:cNvSpPr/>
          <p:nvPr/>
        </p:nvSpPr>
        <p:spPr>
          <a:xfrm>
            <a:off x="8023175" y="7724775"/>
            <a:ext cx="9312250" cy="1204913"/>
          </a:xfrm>
          <a:prstGeom prst="roundRect">
            <a:avLst>
              <a:gd name="adj" fmla="val 7905"/>
            </a:avLst>
          </a:prstGeom>
          <a:solidFill>
            <a:srgbClr val="FFFFFF"/>
          </a:solidFill>
          <a:ln w="19050">
            <a:solidFill>
              <a:srgbClr val="EFECE7"/>
            </a:solidFill>
            <a:prstDash val="solid"/>
          </a:ln>
        </p:spPr>
      </p:sp>
      <p:sp>
        <p:nvSpPr>
          <p:cNvPr id="42" name="Shape 38"/>
          <p:cNvSpPr/>
          <p:nvPr/>
        </p:nvSpPr>
        <p:spPr>
          <a:xfrm>
            <a:off x="8308925" y="8098631"/>
            <a:ext cx="457200" cy="457200"/>
          </a:xfrm>
          <a:prstGeom prst="ellipse">
            <a:avLst/>
          </a:prstGeom>
          <a:solidFill>
            <a:srgbClr val="EFECE7"/>
          </a:solidFill>
          <a:ln/>
        </p:spPr>
      </p:sp>
      <p:sp>
        <p:nvSpPr>
          <p:cNvPr id="43" name="Text 39"/>
          <p:cNvSpPr/>
          <p:nvPr/>
        </p:nvSpPr>
        <p:spPr>
          <a:xfrm>
            <a:off x="8270825" y="8098631"/>
            <a:ext cx="533400" cy="495300"/>
          </a:xfrm>
          <a:prstGeom prst="rect">
            <a:avLst/>
          </a:prstGeom>
          <a:noFill/>
          <a:ln/>
        </p:spPr>
        <p:txBody>
          <a:bodyPr wrap="square" lIns="25400" tIns="25400" rIns="25400" bIns="25400" rtlCol="0" anchor="ctr">
            <a:normAutofit/>
          </a:bodyPr>
          <a:lstStyle/>
          <a:p>
            <a:pPr algn="ctr" indent="0" marL="0">
              <a:buNone/>
            </a:pPr>
            <a:r>
              <a:rPr lang="en-US" sz="1800" b="1" dirty="0">
                <a:solidFill>
                  <a:srgbClr val="8A847A"/>
                </a:solidFill>
                <a:latin typeface="Poppins" pitchFamily="34" charset="0"/>
                <a:ea typeface="Poppins" pitchFamily="34" charset="-122"/>
                <a:cs typeface="Poppins" pitchFamily="34" charset="-120"/>
              </a:rPr>
              <a:t>3</a:t>
            </a:r>
            <a:endParaRPr lang="en-US" sz="1800" dirty="0"/>
          </a:p>
        </p:txBody>
      </p:sp>
      <p:sp>
        <p:nvSpPr>
          <p:cNvPr id="44" name="Text 40"/>
          <p:cNvSpPr/>
          <p:nvPr/>
        </p:nvSpPr>
        <p:spPr>
          <a:xfrm>
            <a:off x="8975675" y="7934325"/>
            <a:ext cx="7833650"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Domain quiz: Security</a:t>
            </a:r>
            <a:endParaRPr lang="en-US" sz="2100" dirty="0"/>
          </a:p>
        </p:txBody>
      </p:sp>
      <p:sp>
        <p:nvSpPr>
          <p:cNvPr id="45" name="Text 41"/>
          <p:cNvSpPr/>
          <p:nvPr/>
        </p:nvSpPr>
        <p:spPr>
          <a:xfrm>
            <a:off x="8975675" y="8377238"/>
            <a:ext cx="7833650"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25 questions</a:t>
            </a:r>
            <a:endParaRPr lang="en-US" sz="1800" dirty="0"/>
          </a:p>
        </p:txBody>
      </p:sp>
      <p:sp>
        <p:nvSpPr>
          <p:cNvPr id="46" name="Text 42"/>
          <p:cNvSpPr/>
          <p:nvPr/>
        </p:nvSpPr>
        <p:spPr>
          <a:xfrm>
            <a:off x="16306726" y="8167687"/>
            <a:ext cx="81915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ACA69C"/>
                </a:solidFill>
                <a:latin typeface="IBM Plex Mono" pitchFamily="34" charset="0"/>
                <a:ea typeface="IBM Plex Mono" pitchFamily="34" charset="-122"/>
                <a:cs typeface="IBM Plex Mono" pitchFamily="34" charset="-120"/>
              </a:rPr>
              <a:t>50:00</a:t>
            </a:r>
            <a:endParaRPr lang="en-US" sz="1950" dirty="0"/>
          </a:p>
        </p:txBody>
      </p:sp>
      <p:sp>
        <p:nvSpPr>
          <p:cNvPr id="47" name="Shape 43"/>
          <p:cNvSpPr/>
          <p:nvPr/>
        </p:nvSpPr>
        <p:spPr>
          <a:xfrm>
            <a:off x="952500" y="9234488"/>
            <a:ext cx="16383000" cy="19050"/>
          </a:xfrm>
          <a:prstGeom prst="rect">
            <a:avLst/>
          </a:prstGeom>
          <a:solidFill>
            <a:srgbClr val="E2DED7"/>
          </a:solidFill>
          <a:ln/>
        </p:spPr>
      </p:sp>
      <p:sp>
        <p:nvSpPr>
          <p:cNvPr id="48" name="Text 44"/>
          <p:cNvSpPr/>
          <p:nvPr/>
        </p:nvSpPr>
        <p:spPr>
          <a:xfrm>
            <a:off x="952500" y="94440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CourseCard · StatTile · LessonRow · QuestionCard</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Range, steppers and rating</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A slider for approximate values, a stepper for exact small integers, a rating for a scale with social meaning.</a:t>
            </a:r>
            <a:endParaRPr lang="en-US" sz="2550" dirty="0"/>
          </a:p>
        </p:txBody>
      </p:sp>
      <p:sp>
        <p:nvSpPr>
          <p:cNvPr id="4" name="Text 2"/>
          <p:cNvSpPr/>
          <p:nvPr/>
        </p:nvSpPr>
        <p:spPr>
          <a:xfrm>
            <a:off x="952500" y="3486150"/>
            <a:ext cx="941829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SLIDER</a:t>
            </a:r>
            <a:endParaRPr lang="en-US" sz="2100" dirty="0"/>
          </a:p>
        </p:txBody>
      </p:sp>
      <p:sp>
        <p:nvSpPr>
          <p:cNvPr id="5" name="Text 3"/>
          <p:cNvSpPr/>
          <p:nvPr/>
        </p:nvSpPr>
        <p:spPr>
          <a:xfrm>
            <a:off x="952500" y="4119562"/>
            <a:ext cx="3196865"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Questions per session</a:t>
            </a:r>
            <a:endParaRPr lang="en-US" sz="2100" dirty="0"/>
          </a:p>
        </p:txBody>
      </p:sp>
      <p:sp>
        <p:nvSpPr>
          <p:cNvPr id="6" name="Text 4"/>
          <p:cNvSpPr/>
          <p:nvPr/>
        </p:nvSpPr>
        <p:spPr>
          <a:xfrm>
            <a:off x="9194527" y="4119562"/>
            <a:ext cx="396255"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IBM Plex Mono" pitchFamily="34" charset="0"/>
                <a:ea typeface="IBM Plex Mono" pitchFamily="34" charset="-122"/>
                <a:cs typeface="IBM Plex Mono" pitchFamily="34" charset="-120"/>
              </a:rPr>
              <a:t>40</a:t>
            </a:r>
            <a:endParaRPr lang="en-US" sz="2100" dirty="0"/>
          </a:p>
        </p:txBody>
      </p:sp>
      <p:sp>
        <p:nvSpPr>
          <p:cNvPr id="7" name="Shape 5"/>
          <p:cNvSpPr/>
          <p:nvPr/>
        </p:nvSpPr>
        <p:spPr>
          <a:xfrm>
            <a:off x="952500" y="4743450"/>
            <a:ext cx="8562082" cy="95250"/>
          </a:xfrm>
          <a:prstGeom prst="roundRect">
            <a:avLst>
              <a:gd name="adj" fmla="val 50000"/>
            </a:avLst>
          </a:prstGeom>
          <a:solidFill>
            <a:srgbClr val="EFECE7"/>
          </a:solidFill>
          <a:ln/>
        </p:spPr>
      </p:sp>
      <p:sp>
        <p:nvSpPr>
          <p:cNvPr id="8" name="Shape 6"/>
          <p:cNvSpPr/>
          <p:nvPr/>
        </p:nvSpPr>
        <p:spPr>
          <a:xfrm>
            <a:off x="952500" y="4743450"/>
            <a:ext cx="3253532" cy="95250"/>
          </a:xfrm>
          <a:prstGeom prst="roundRect">
            <a:avLst>
              <a:gd name="adj" fmla="val 50000"/>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9" name="Shape 7"/>
          <p:cNvSpPr/>
          <p:nvPr/>
        </p:nvSpPr>
        <p:spPr>
          <a:xfrm>
            <a:off x="3996482" y="4581525"/>
            <a:ext cx="419100" cy="419100"/>
          </a:xfrm>
          <a:prstGeom prst="ellipse">
            <a:avLst/>
          </a:prstGeom>
          <a:solidFill>
            <a:srgbClr val="FFFFFF"/>
          </a:solidFill>
          <a:ln w="38100">
            <a:solidFill>
              <a:srgbClr val="F0602A"/>
            </a:solidFill>
            <a:prstDash val="solid"/>
          </a:ln>
          <a:effectLst>
            <a:outerShdw sx="100000" sy="100000" kx="0" ky="0" algn="bl" rotWithShape="0" blurRad="28575" dist="9525" dir="5400000">
              <a:srgbClr val="1A1917">
                <a:alpha val="20000"/>
              </a:srgbClr>
            </a:outerShdw>
          </a:effectLst>
        </p:spPr>
      </p:sp>
      <p:sp>
        <p:nvSpPr>
          <p:cNvPr id="10" name="Text 8"/>
          <p:cNvSpPr/>
          <p:nvPr/>
        </p:nvSpPr>
        <p:spPr>
          <a:xfrm>
            <a:off x="952500" y="5400675"/>
            <a:ext cx="941829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RATING</a:t>
            </a:r>
            <a:endParaRPr lang="en-US" sz="2100" dirty="0"/>
          </a:p>
        </p:txBody>
      </p:sp>
      <p:sp>
        <p:nvSpPr>
          <p:cNvPr id="11" name="Text 9"/>
          <p:cNvSpPr/>
          <p:nvPr/>
        </p:nvSpPr>
        <p:spPr>
          <a:xfrm>
            <a:off x="952500" y="6034088"/>
            <a:ext cx="2514600" cy="681038"/>
          </a:xfrm>
          <a:prstGeom prst="rect">
            <a:avLst/>
          </a:prstGeom>
          <a:noFill/>
          <a:ln/>
        </p:spPr>
        <p:txBody>
          <a:bodyPr wrap="square" lIns="25400" tIns="25400" rIns="25400" bIns="25400" rtlCol="0" anchor="t">
            <a:normAutofit/>
          </a:bodyPr>
          <a:lstStyle/>
          <a:p>
            <a:pPr algn="l" indent="0" marL="0">
              <a:buNone/>
            </a:pPr>
            <a:r>
              <a:rPr lang="en-US" sz="3300" spc="300" kern="0" dirty="0">
                <a:solidFill>
                  <a:srgbClr val="F9A825"/>
                </a:solidFill>
                <a:latin typeface="Poppins" pitchFamily="34" charset="0"/>
                <a:ea typeface="Poppins" pitchFamily="34" charset="-122"/>
                <a:cs typeface="Poppins" pitchFamily="34" charset="-120"/>
              </a:rPr>
              <a:t>★★★★</a:t>
            </a:r>
            <a:pPr algn="l" indent="0" marL="0">
              <a:buNone/>
            </a:pPr>
            <a:r>
              <a:rPr lang="en-US" sz="3300" spc="300" kern="0" dirty="0">
                <a:solidFill>
                  <a:srgbClr val="E2DED7"/>
                </a:solidFill>
                <a:latin typeface="Poppins" pitchFamily="34" charset="0"/>
                <a:ea typeface="Poppins" pitchFamily="34" charset="-122"/>
                <a:cs typeface="Poppins" pitchFamily="34" charset="-120"/>
              </a:rPr>
              <a:t>★</a:t>
            </a:r>
            <a:endParaRPr lang="en-US" sz="3300" dirty="0"/>
          </a:p>
        </p:txBody>
      </p:sp>
      <p:sp>
        <p:nvSpPr>
          <p:cNvPr id="12" name="Text 10"/>
          <p:cNvSpPr/>
          <p:nvPr/>
        </p:nvSpPr>
        <p:spPr>
          <a:xfrm>
            <a:off x="3390900" y="6112669"/>
            <a:ext cx="593080" cy="523875"/>
          </a:xfrm>
          <a:prstGeom prst="rect">
            <a:avLst/>
          </a:prstGeom>
          <a:noFill/>
          <a:ln/>
        </p:spPr>
        <p:txBody>
          <a:bodyPr wrap="square" lIns="25400" tIns="25400" rIns="25400" bIns="25400" rtlCol="0" anchor="t">
            <a:normAutofit/>
          </a:bodyPr>
          <a:lstStyle/>
          <a:p>
            <a:pPr algn="l" indent="0" marL="0">
              <a:buNone/>
            </a:pPr>
            <a:r>
              <a:rPr lang="en-US" sz="2550" b="1" dirty="0">
                <a:solidFill>
                  <a:srgbClr val="1A1917"/>
                </a:solidFill>
                <a:latin typeface="Poppins" pitchFamily="34" charset="0"/>
                <a:ea typeface="Poppins" pitchFamily="34" charset="-122"/>
                <a:cs typeface="Poppins" pitchFamily="34" charset="-120"/>
              </a:rPr>
              <a:t>4.6</a:t>
            </a:r>
            <a:endParaRPr lang="en-US" sz="2550" dirty="0"/>
          </a:p>
        </p:txBody>
      </p:sp>
      <p:sp>
        <p:nvSpPr>
          <p:cNvPr id="13" name="Text 11"/>
          <p:cNvSpPr/>
          <p:nvPr/>
        </p:nvSpPr>
        <p:spPr>
          <a:xfrm>
            <a:off x="4060180" y="6153150"/>
            <a:ext cx="96009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(1,840)</a:t>
            </a:r>
            <a:endParaRPr lang="en-US" sz="2100" dirty="0"/>
          </a:p>
        </p:txBody>
      </p:sp>
      <p:sp>
        <p:nvSpPr>
          <p:cNvPr id="14" name="Text 12"/>
          <p:cNvSpPr/>
          <p:nvPr/>
        </p:nvSpPr>
        <p:spPr>
          <a:xfrm>
            <a:off x="10200382" y="3486150"/>
            <a:ext cx="784863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STEPPER</a:t>
            </a:r>
            <a:endParaRPr lang="en-US" sz="2100" dirty="0"/>
          </a:p>
        </p:txBody>
      </p:sp>
      <p:sp>
        <p:nvSpPr>
          <p:cNvPr id="15" name="Shape 13"/>
          <p:cNvSpPr/>
          <p:nvPr/>
        </p:nvSpPr>
        <p:spPr>
          <a:xfrm>
            <a:off x="10200382" y="4119562"/>
            <a:ext cx="2590800" cy="800100"/>
          </a:xfrm>
          <a:prstGeom prst="roundRect">
            <a:avLst>
              <a:gd name="adj" fmla="val 11905"/>
            </a:avLst>
          </a:prstGeom>
          <a:solidFill>
            <a:srgbClr val="FFFFFF"/>
          </a:solidFill>
          <a:ln w="19050">
            <a:solidFill>
              <a:srgbClr val="E2DED7"/>
            </a:solidFill>
            <a:prstDash val="solid"/>
          </a:ln>
          <a:effectLst>
            <a:outerShdw sx="100000" sy="100000" kx="0" ky="0" algn="bl" rotWithShape="0" blurRad="28575" dist="9525" dir="5400000">
              <a:srgbClr val="1A1917">
                <a:alpha val="6000"/>
              </a:srgbClr>
            </a:outerShdw>
          </a:effectLst>
        </p:spPr>
      </p:sp>
      <p:sp>
        <p:nvSpPr>
          <p:cNvPr id="16" name="Shape 14"/>
          <p:cNvSpPr/>
          <p:nvPr/>
        </p:nvSpPr>
        <p:spPr>
          <a:xfrm>
            <a:off x="10905232" y="4138613"/>
            <a:ext cx="19050" cy="762000"/>
          </a:xfrm>
          <a:prstGeom prst="rect">
            <a:avLst/>
          </a:prstGeom>
          <a:solidFill>
            <a:srgbClr val="EFECE7"/>
          </a:solidFill>
          <a:ln/>
        </p:spPr>
      </p:sp>
      <p:sp>
        <p:nvSpPr>
          <p:cNvPr id="17" name="Text 15"/>
          <p:cNvSpPr/>
          <p:nvPr/>
        </p:nvSpPr>
        <p:spPr>
          <a:xfrm>
            <a:off x="10181332" y="4138613"/>
            <a:ext cx="762000" cy="800100"/>
          </a:xfrm>
          <a:prstGeom prst="rect">
            <a:avLst/>
          </a:prstGeom>
          <a:noFill/>
          <a:ln/>
        </p:spPr>
        <p:txBody>
          <a:bodyPr wrap="square" lIns="25400" tIns="25400" rIns="25400" bIns="25400" rtlCol="0" anchor="ctr">
            <a:normAutofit/>
          </a:bodyPr>
          <a:lstStyle/>
          <a:p>
            <a:pPr algn="ctr" indent="0" marL="0">
              <a:buNone/>
            </a:pPr>
            <a:r>
              <a:rPr lang="en-US" sz="2550" dirty="0">
                <a:solidFill>
                  <a:srgbClr val="4E4A43"/>
                </a:solidFill>
                <a:latin typeface="Poppins" pitchFamily="34" charset="0"/>
                <a:ea typeface="Poppins" pitchFamily="34" charset="-122"/>
                <a:cs typeface="Poppins" pitchFamily="34" charset="-120"/>
              </a:rPr>
              <a:t>−</a:t>
            </a:r>
            <a:endParaRPr lang="en-US" sz="2550" dirty="0"/>
          </a:p>
        </p:txBody>
      </p:sp>
      <p:sp>
        <p:nvSpPr>
          <p:cNvPr id="18" name="Text 16"/>
          <p:cNvSpPr/>
          <p:nvPr/>
        </p:nvSpPr>
        <p:spPr>
          <a:xfrm>
            <a:off x="10886182" y="4319588"/>
            <a:ext cx="1219200" cy="438150"/>
          </a:xfrm>
          <a:prstGeom prst="rect">
            <a:avLst/>
          </a:prstGeom>
          <a:noFill/>
          <a:ln/>
        </p:spPr>
        <p:txBody>
          <a:bodyPr wrap="square" lIns="25400" tIns="25400" rIns="25400" bIns="25400" rtlCol="0" anchor="t">
            <a:normAutofit/>
          </a:bodyPr>
          <a:lstStyle/>
          <a:p>
            <a:pPr algn="ctr" indent="0" marL="0">
              <a:buNone/>
            </a:pPr>
            <a:r>
              <a:rPr lang="en-US" sz="2400" b="1" dirty="0">
                <a:solidFill>
                  <a:srgbClr val="1A1917"/>
                </a:solidFill>
                <a:latin typeface="IBM Plex Mono" pitchFamily="34" charset="0"/>
                <a:ea typeface="IBM Plex Mono" pitchFamily="34" charset="-122"/>
                <a:cs typeface="IBM Plex Mono" pitchFamily="34" charset="-120"/>
              </a:rPr>
              <a:t>12</a:t>
            </a:r>
            <a:endParaRPr lang="en-US" sz="2400" dirty="0"/>
          </a:p>
        </p:txBody>
      </p:sp>
      <p:sp>
        <p:nvSpPr>
          <p:cNvPr id="19" name="Shape 17"/>
          <p:cNvSpPr/>
          <p:nvPr/>
        </p:nvSpPr>
        <p:spPr>
          <a:xfrm>
            <a:off x="12067282" y="4138613"/>
            <a:ext cx="19050" cy="762000"/>
          </a:xfrm>
          <a:prstGeom prst="rect">
            <a:avLst/>
          </a:prstGeom>
          <a:solidFill>
            <a:srgbClr val="EFECE7"/>
          </a:solidFill>
          <a:ln/>
        </p:spPr>
      </p:sp>
      <p:sp>
        <p:nvSpPr>
          <p:cNvPr id="20" name="Text 18"/>
          <p:cNvSpPr/>
          <p:nvPr/>
        </p:nvSpPr>
        <p:spPr>
          <a:xfrm>
            <a:off x="12048232" y="4138613"/>
            <a:ext cx="762000" cy="800100"/>
          </a:xfrm>
          <a:prstGeom prst="rect">
            <a:avLst/>
          </a:prstGeom>
          <a:noFill/>
          <a:ln/>
        </p:spPr>
        <p:txBody>
          <a:bodyPr wrap="square" lIns="25400" tIns="25400" rIns="25400" bIns="25400" rtlCol="0" anchor="ctr">
            <a:normAutofit/>
          </a:bodyPr>
          <a:lstStyle/>
          <a:p>
            <a:pPr algn="ctr" indent="0" marL="0">
              <a:buNone/>
            </a:pPr>
            <a:r>
              <a:rPr lang="en-US" sz="2550" dirty="0">
                <a:solidFill>
                  <a:srgbClr val="4E4A43"/>
                </a:solidFill>
                <a:latin typeface="Poppins" pitchFamily="34" charset="0"/>
                <a:ea typeface="Poppins" pitchFamily="34" charset="-122"/>
                <a:cs typeface="Poppins" pitchFamily="34" charset="-120"/>
              </a:rPr>
              <a:t>+</a:t>
            </a:r>
            <a:endParaRPr lang="en-US" sz="2550" dirty="0"/>
          </a:p>
        </p:txBody>
      </p:sp>
      <p:sp>
        <p:nvSpPr>
          <p:cNvPr id="21" name="Text 19"/>
          <p:cNvSpPr/>
          <p:nvPr/>
        </p:nvSpPr>
        <p:spPr>
          <a:xfrm>
            <a:off x="10200382" y="5414963"/>
            <a:ext cx="784863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SEGMENTED TOGGLE</a:t>
            </a:r>
            <a:endParaRPr lang="en-US" sz="2100" dirty="0"/>
          </a:p>
        </p:txBody>
      </p:sp>
      <p:sp>
        <p:nvSpPr>
          <p:cNvPr id="22" name="Shape 20"/>
          <p:cNvSpPr/>
          <p:nvPr/>
        </p:nvSpPr>
        <p:spPr>
          <a:xfrm>
            <a:off x="10200382" y="6048375"/>
            <a:ext cx="1506364" cy="881063"/>
          </a:xfrm>
          <a:custGeom>
            <a:avLst/>
            <a:gdLst/>
            <a:ahLst/>
            <a:cxnLst/>
            <a:rect l="l" t="t" r="r" b="b"/>
            <a:pathLst>
              <a:path w="1506364" h="881063">
                <a:moveTo>
                  <a:pt x="95250" y="0"/>
                </a:moveTo>
                <a:lnTo>
                  <a:pt x="1506364" y="0"/>
                </a:lnTo>
                <a:lnTo>
                  <a:pt x="1506364" y="881063"/>
                </a:lnTo>
                <a:lnTo>
                  <a:pt x="95250" y="881063"/>
                </a:lnTo>
                <a:arcTo hR="95250" wR="95250" stAng="5400000" swAng="5400000"/>
                <a:lnTo>
                  <a:pt x="0" y="95250"/>
                </a:lnTo>
                <a:arcTo hR="95250" wR="95250" stAng="10800000" swAng="5400000"/>
                <a:close/>
              </a:path>
            </a:pathLst>
          </a:custGeom>
          <a:solidFill>
            <a:srgbClr val="FFF5F0"/>
          </a:solidFill>
          <a:ln w="28575">
            <a:solidFill>
              <a:srgbClr val="F78454"/>
            </a:solidFill>
            <a:prstDash val="solid"/>
          </a:ln>
          <a:effectLst>
            <a:outerShdw sx="100000" sy="100000" kx="0" ky="0" algn="bl" rotWithShape="0" blurRad="19050" dist="9525" dir="5400000">
              <a:srgbClr val="1A1917">
                <a:alpha val="6000"/>
              </a:srgbClr>
            </a:outerShdw>
          </a:effectLst>
        </p:spPr>
      </p:sp>
      <p:sp>
        <p:nvSpPr>
          <p:cNvPr id="23" name="Text 21"/>
          <p:cNvSpPr/>
          <p:nvPr/>
        </p:nvSpPr>
        <p:spPr>
          <a:xfrm>
            <a:off x="10533757" y="6286500"/>
            <a:ext cx="915814" cy="442912"/>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B23B17"/>
                </a:solidFill>
                <a:latin typeface="Poppins" pitchFamily="34" charset="0"/>
                <a:ea typeface="Poppins" pitchFamily="34" charset="-122"/>
                <a:cs typeface="Poppins" pitchFamily="34" charset="-120"/>
              </a:rPr>
              <a:t>Timed</a:t>
            </a:r>
            <a:endParaRPr lang="en-US" sz="2100" dirty="0"/>
          </a:p>
        </p:txBody>
      </p:sp>
      <p:sp>
        <p:nvSpPr>
          <p:cNvPr id="24" name="Shape 22"/>
          <p:cNvSpPr/>
          <p:nvPr/>
        </p:nvSpPr>
        <p:spPr>
          <a:xfrm>
            <a:off x="11678171" y="6048375"/>
            <a:ext cx="2298204" cy="881063"/>
          </a:xfrm>
          <a:prstGeom prst="rect">
            <a:avLst/>
          </a:prstGeom>
          <a:solidFill>
            <a:srgbClr val="FFFFFF"/>
          </a:solidFill>
          <a:ln w="28575">
            <a:solidFill>
              <a:srgbClr val="E2DED7"/>
            </a:solidFill>
            <a:prstDash val="solid"/>
          </a:ln>
        </p:spPr>
      </p:sp>
      <p:sp>
        <p:nvSpPr>
          <p:cNvPr id="25" name="Text 23"/>
          <p:cNvSpPr/>
          <p:nvPr/>
        </p:nvSpPr>
        <p:spPr>
          <a:xfrm>
            <a:off x="12011546" y="6286500"/>
            <a:ext cx="1707654" cy="442912"/>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Study mode</a:t>
            </a:r>
            <a:endParaRPr lang="en-US" sz="2100" dirty="0"/>
          </a:p>
        </p:txBody>
      </p:sp>
      <p:sp>
        <p:nvSpPr>
          <p:cNvPr id="26" name="Shape 24"/>
          <p:cNvSpPr/>
          <p:nvPr/>
        </p:nvSpPr>
        <p:spPr>
          <a:xfrm>
            <a:off x="13947800" y="6048375"/>
            <a:ext cx="1608534" cy="881063"/>
          </a:xfrm>
          <a:custGeom>
            <a:avLst/>
            <a:gdLst/>
            <a:ahLst/>
            <a:cxnLst/>
            <a:rect l="l" t="t" r="r" b="b"/>
            <a:pathLst>
              <a:path w="1608534" h="881063">
                <a:moveTo>
                  <a:pt x="0" y="0"/>
                </a:moveTo>
                <a:lnTo>
                  <a:pt x="1513284" y="0"/>
                </a:lnTo>
                <a:arcTo hR="95250" wR="95250" stAng="16200000" swAng="5400000"/>
                <a:lnTo>
                  <a:pt x="1608534" y="785813"/>
                </a:lnTo>
                <a:arcTo hR="95250" wR="95250" stAng="0" swAng="5400000"/>
                <a:lnTo>
                  <a:pt x="0" y="881063"/>
                </a:lnTo>
                <a:lnTo>
                  <a:pt x="0" y="0"/>
                </a:lnTo>
                <a:close/>
              </a:path>
            </a:pathLst>
          </a:custGeom>
          <a:solidFill>
            <a:srgbClr val="FFFFFF"/>
          </a:solidFill>
          <a:ln w="28575">
            <a:solidFill>
              <a:srgbClr val="E2DED7"/>
            </a:solidFill>
            <a:prstDash val="solid"/>
          </a:ln>
        </p:spPr>
      </p:sp>
      <p:sp>
        <p:nvSpPr>
          <p:cNvPr id="27" name="Text 25"/>
          <p:cNvSpPr/>
          <p:nvPr/>
        </p:nvSpPr>
        <p:spPr>
          <a:xfrm>
            <a:off x="14281175" y="6286500"/>
            <a:ext cx="1017984" cy="442912"/>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Review</a:t>
            </a:r>
            <a:endParaRPr lang="en-US" sz="2100" dirty="0"/>
          </a:p>
        </p:txBody>
      </p:sp>
      <p:sp>
        <p:nvSpPr>
          <p:cNvPr id="28" name="Shape 26"/>
          <p:cNvSpPr/>
          <p:nvPr/>
        </p:nvSpPr>
        <p:spPr>
          <a:xfrm>
            <a:off x="952500" y="9005888"/>
            <a:ext cx="16383000" cy="19050"/>
          </a:xfrm>
          <a:prstGeom prst="rect">
            <a:avLst/>
          </a:prstGeom>
          <a:solidFill>
            <a:srgbClr val="E2DED7"/>
          </a:solidFill>
          <a:ln/>
        </p:spPr>
      </p:sp>
      <p:sp>
        <p:nvSpPr>
          <p:cNvPr id="29" name="Text 27"/>
          <p:cNvSpPr/>
          <p:nvPr/>
        </p:nvSpPr>
        <p:spPr>
          <a:xfrm>
            <a:off x="952500" y="92154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Slider · NumberField · Rating · ToggleButton</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Search and pickers</a:t>
            </a:r>
            <a:endParaRPr lang="en-US" sz="4800" dirty="0"/>
          </a:p>
        </p:txBody>
      </p:sp>
      <p:sp>
        <p:nvSpPr>
          <p:cNvPr id="3" name="Text 1"/>
          <p:cNvSpPr/>
          <p:nvPr/>
        </p:nvSpPr>
        <p:spPr>
          <a:xfrm>
            <a:off x="952500" y="20193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With 500 exams in the catalogue, typing beats browsing. Suggestions carry a count so the choice is informed before the click.</a:t>
            </a:r>
            <a:endParaRPr lang="en-US" sz="2550" dirty="0"/>
          </a:p>
        </p:txBody>
      </p:sp>
      <p:sp>
        <p:nvSpPr>
          <p:cNvPr id="4" name="Text 2"/>
          <p:cNvSpPr/>
          <p:nvPr/>
        </p:nvSpPr>
        <p:spPr>
          <a:xfrm>
            <a:off x="952500" y="3486150"/>
            <a:ext cx="8070049"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AUTOCOMPLETE</a:t>
            </a:r>
            <a:endParaRPr lang="en-US" sz="2100" dirty="0"/>
          </a:p>
        </p:txBody>
      </p:sp>
      <p:sp>
        <p:nvSpPr>
          <p:cNvPr id="5" name="Shape 3"/>
          <p:cNvSpPr/>
          <p:nvPr/>
        </p:nvSpPr>
        <p:spPr>
          <a:xfrm>
            <a:off x="952500" y="4119562"/>
            <a:ext cx="7336408" cy="800100"/>
          </a:xfrm>
          <a:prstGeom prst="roundRect">
            <a:avLst>
              <a:gd name="adj" fmla="val 11905"/>
            </a:avLst>
          </a:prstGeom>
          <a:solidFill>
            <a:srgbClr val="FFFFFF"/>
          </a:solidFill>
          <a:ln w="19050">
            <a:solidFill>
              <a:srgbClr val="F0602A"/>
            </a:solidFill>
            <a:prstDash val="solid"/>
          </a:ln>
          <a:effectLst>
            <a:outerShdw sx="100000" sy="100000" kx="0" ky="0" algn="bl" rotWithShape="0" blurRad="101600" dist="50800" dir="16200000">
              <a:srgbClr val="F0602A">
                <a:alpha val="28000"/>
              </a:srgbClr>
            </a:outerShdw>
          </a:effectLst>
        </p:spPr>
      </p:sp>
      <p:sp>
        <p:nvSpPr>
          <p:cNvPr id="6" name="Text 4"/>
          <p:cNvSpPr/>
          <p:nvPr/>
        </p:nvSpPr>
        <p:spPr>
          <a:xfrm>
            <a:off x="1219200" y="4305300"/>
            <a:ext cx="248245" cy="466725"/>
          </a:xfrm>
          <a:prstGeom prst="rect">
            <a:avLst/>
          </a:prstGeom>
          <a:noFill/>
          <a:ln/>
        </p:spPr>
        <p:txBody>
          <a:bodyPr wrap="square" lIns="25400" tIns="25400" rIns="25400" bIns="25400" rtlCol="0" anchor="t">
            <a:normAutofit/>
          </a:bodyPr>
          <a:lstStyle/>
          <a:p>
            <a:pPr algn="l" indent="0" marL="0">
              <a:buNone/>
            </a:pPr>
            <a:r>
              <a:rPr lang="en-US" sz="2250" dirty="0">
                <a:solidFill>
                  <a:srgbClr val="ACA69C"/>
                </a:solidFill>
                <a:latin typeface="Poppins" pitchFamily="34" charset="0"/>
                <a:ea typeface="Poppins" pitchFamily="34" charset="-122"/>
                <a:cs typeface="Poppins" pitchFamily="34" charset="-120"/>
              </a:rPr>
              <a:t>⌕</a:t>
            </a:r>
            <a:endParaRPr lang="en-US" sz="2250" dirty="0"/>
          </a:p>
        </p:txBody>
      </p:sp>
      <p:sp>
        <p:nvSpPr>
          <p:cNvPr id="7" name="Text 5"/>
          <p:cNvSpPr/>
          <p:nvPr/>
        </p:nvSpPr>
        <p:spPr>
          <a:xfrm>
            <a:off x="1581745" y="4317206"/>
            <a:ext cx="2060384" cy="442913"/>
          </a:xfrm>
          <a:prstGeom prst="rect">
            <a:avLst/>
          </a:prstGeom>
          <a:noFill/>
          <a:ln/>
        </p:spPr>
        <p:txBody>
          <a:bodyPr wrap="square" lIns="25400" tIns="25400" rIns="25400" bIns="25400" rtlCol="0" anchor="t">
            <a:normAutofit/>
          </a:bodyPr>
          <a:lstStyle/>
          <a:p>
            <a:pPr algn="l" indent="0" marL="0">
              <a:buNone/>
            </a:pPr>
            <a:r>
              <a:rPr lang="en-US" sz="2100" dirty="0">
                <a:solidFill>
                  <a:srgbClr val="1A1917"/>
                </a:solidFill>
                <a:latin typeface="Poppins" pitchFamily="34" charset="0"/>
                <a:ea typeface="Poppins" pitchFamily="34" charset="-122"/>
                <a:cs typeface="Poppins" pitchFamily="34" charset="-120"/>
              </a:rPr>
              <a:t>solutions arch</a:t>
            </a:r>
            <a:endParaRPr lang="en-US" sz="2100" dirty="0"/>
          </a:p>
        </p:txBody>
      </p:sp>
      <p:sp>
        <p:nvSpPr>
          <p:cNvPr id="8" name="Shape 6"/>
          <p:cNvSpPr/>
          <p:nvPr/>
        </p:nvSpPr>
        <p:spPr>
          <a:xfrm>
            <a:off x="952500" y="5033963"/>
            <a:ext cx="7336408" cy="2490788"/>
          </a:xfrm>
          <a:prstGeom prst="roundRect">
            <a:avLst>
              <a:gd name="adj" fmla="val 3824"/>
            </a:avLst>
          </a:prstGeom>
          <a:solidFill>
            <a:srgbClr val="FFFFFF"/>
          </a:solidFill>
          <a:ln w="19050">
            <a:solidFill>
              <a:srgbClr val="E2DED7"/>
            </a:solidFill>
            <a:prstDash val="solid"/>
          </a:ln>
          <a:effectLst>
            <a:outerShdw sx="100000" sy="100000" kx="0" ky="0" algn="bl" rotWithShape="0" blurRad="266700" dist="114300" dir="5400000">
              <a:srgbClr val="1A1917">
                <a:alpha val="10000"/>
              </a:srgbClr>
            </a:outerShdw>
          </a:effectLst>
        </p:spPr>
      </p:sp>
      <p:sp>
        <p:nvSpPr>
          <p:cNvPr id="9" name="Shape 7"/>
          <p:cNvSpPr/>
          <p:nvPr/>
        </p:nvSpPr>
        <p:spPr>
          <a:xfrm>
            <a:off x="971550" y="5053013"/>
            <a:ext cx="7298308" cy="804863"/>
          </a:xfrm>
          <a:prstGeom prst="rect">
            <a:avLst/>
          </a:prstGeom>
          <a:solidFill>
            <a:srgbClr val="F9F7F4"/>
          </a:solidFill>
          <a:ln/>
        </p:spPr>
      </p:sp>
      <p:sp>
        <p:nvSpPr>
          <p:cNvPr id="10" name="Text 8"/>
          <p:cNvSpPr/>
          <p:nvPr/>
        </p:nvSpPr>
        <p:spPr>
          <a:xfrm>
            <a:off x="1219200" y="5262563"/>
            <a:ext cx="5134221"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AWS Solutions Architect – Associate</a:t>
            </a:r>
            <a:endParaRPr lang="en-US" sz="2025" dirty="0"/>
          </a:p>
        </p:txBody>
      </p:sp>
      <p:sp>
        <p:nvSpPr>
          <p:cNvPr id="11" name="Text 9"/>
          <p:cNvSpPr/>
          <p:nvPr/>
        </p:nvSpPr>
        <p:spPr>
          <a:xfrm>
            <a:off x="7315423" y="5262563"/>
            <a:ext cx="782985" cy="423863"/>
          </a:xfrm>
          <a:prstGeom prst="rect">
            <a:avLst/>
          </a:prstGeom>
          <a:noFill/>
          <a:ln/>
        </p:spPr>
        <p:txBody>
          <a:bodyPr wrap="square" lIns="25400" tIns="25400" rIns="25400" bIns="25400" rtlCol="0" anchor="t">
            <a:normAutofit/>
          </a:bodyPr>
          <a:lstStyle/>
          <a:p>
            <a:pPr algn="l" indent="0" marL="0">
              <a:buNone/>
            </a:pPr>
            <a:r>
              <a:rPr lang="en-US" sz="2025" dirty="0">
                <a:solidFill>
                  <a:srgbClr val="8A847A"/>
                </a:solidFill>
                <a:latin typeface="Poppins" pitchFamily="34" charset="0"/>
                <a:ea typeface="Poppins" pitchFamily="34" charset="-122"/>
                <a:cs typeface="Poppins" pitchFamily="34" charset="-120"/>
              </a:rPr>
              <a:t>780 q</a:t>
            </a:r>
            <a:endParaRPr lang="en-US" sz="2025" dirty="0"/>
          </a:p>
        </p:txBody>
      </p:sp>
      <p:sp>
        <p:nvSpPr>
          <p:cNvPr id="12" name="Shape 10"/>
          <p:cNvSpPr/>
          <p:nvPr/>
        </p:nvSpPr>
        <p:spPr>
          <a:xfrm>
            <a:off x="971550" y="5857875"/>
            <a:ext cx="7298308" cy="19050"/>
          </a:xfrm>
          <a:prstGeom prst="rect">
            <a:avLst/>
          </a:prstGeom>
          <a:solidFill>
            <a:srgbClr val="EFECE7"/>
          </a:solidFill>
          <a:ln/>
        </p:spPr>
      </p:sp>
      <p:sp>
        <p:nvSpPr>
          <p:cNvPr id="13" name="Text 11"/>
          <p:cNvSpPr/>
          <p:nvPr/>
        </p:nvSpPr>
        <p:spPr>
          <a:xfrm>
            <a:off x="1219200" y="6086475"/>
            <a:ext cx="4415448"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Azure Solutions Architect Expert</a:t>
            </a:r>
            <a:endParaRPr lang="en-US" sz="2025" dirty="0"/>
          </a:p>
        </p:txBody>
      </p:sp>
      <p:sp>
        <p:nvSpPr>
          <p:cNvPr id="14" name="Text 12"/>
          <p:cNvSpPr/>
          <p:nvPr/>
        </p:nvSpPr>
        <p:spPr>
          <a:xfrm>
            <a:off x="7374062" y="6086475"/>
            <a:ext cx="724346" cy="423863"/>
          </a:xfrm>
          <a:prstGeom prst="rect">
            <a:avLst/>
          </a:prstGeom>
          <a:noFill/>
          <a:ln/>
        </p:spPr>
        <p:txBody>
          <a:bodyPr wrap="square" lIns="25400" tIns="25400" rIns="25400" bIns="25400" rtlCol="0" anchor="t">
            <a:normAutofit/>
          </a:bodyPr>
          <a:lstStyle/>
          <a:p>
            <a:pPr algn="l" indent="0" marL="0">
              <a:buNone/>
            </a:pPr>
            <a:r>
              <a:rPr lang="en-US" sz="2025" dirty="0">
                <a:solidFill>
                  <a:srgbClr val="8A847A"/>
                </a:solidFill>
                <a:latin typeface="Poppins" pitchFamily="34" charset="0"/>
                <a:ea typeface="Poppins" pitchFamily="34" charset="-122"/>
                <a:cs typeface="Poppins" pitchFamily="34" charset="-120"/>
              </a:rPr>
              <a:t>410 q</a:t>
            </a:r>
            <a:endParaRPr lang="en-US" sz="2025" dirty="0"/>
          </a:p>
        </p:txBody>
      </p:sp>
      <p:sp>
        <p:nvSpPr>
          <p:cNvPr id="15" name="Shape 13"/>
          <p:cNvSpPr/>
          <p:nvPr/>
        </p:nvSpPr>
        <p:spPr>
          <a:xfrm>
            <a:off x="971550" y="6681788"/>
            <a:ext cx="7298308" cy="19050"/>
          </a:xfrm>
          <a:prstGeom prst="rect">
            <a:avLst/>
          </a:prstGeom>
          <a:solidFill>
            <a:srgbClr val="EFECE7"/>
          </a:solidFill>
          <a:ln/>
        </p:spPr>
      </p:sp>
      <p:sp>
        <p:nvSpPr>
          <p:cNvPr id="16" name="Text 14"/>
          <p:cNvSpPr/>
          <p:nvPr/>
        </p:nvSpPr>
        <p:spPr>
          <a:xfrm>
            <a:off x="1219200" y="6910388"/>
            <a:ext cx="4648490"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GCP Professional Cloud Architect</a:t>
            </a:r>
            <a:endParaRPr lang="en-US" sz="2025" dirty="0"/>
          </a:p>
        </p:txBody>
      </p:sp>
      <p:sp>
        <p:nvSpPr>
          <p:cNvPr id="17" name="Text 15"/>
          <p:cNvSpPr/>
          <p:nvPr/>
        </p:nvSpPr>
        <p:spPr>
          <a:xfrm>
            <a:off x="7294885" y="6910388"/>
            <a:ext cx="803523" cy="423863"/>
          </a:xfrm>
          <a:prstGeom prst="rect">
            <a:avLst/>
          </a:prstGeom>
          <a:noFill/>
          <a:ln/>
        </p:spPr>
        <p:txBody>
          <a:bodyPr wrap="square" lIns="25400" tIns="25400" rIns="25400" bIns="25400" rtlCol="0" anchor="t">
            <a:normAutofit/>
          </a:bodyPr>
          <a:lstStyle/>
          <a:p>
            <a:pPr algn="l" indent="0" marL="0">
              <a:buNone/>
            </a:pPr>
            <a:r>
              <a:rPr lang="en-US" sz="2025" dirty="0">
                <a:solidFill>
                  <a:srgbClr val="8A847A"/>
                </a:solidFill>
                <a:latin typeface="Poppins" pitchFamily="34" charset="0"/>
                <a:ea typeface="Poppins" pitchFamily="34" charset="-122"/>
                <a:cs typeface="Poppins" pitchFamily="34" charset="-120"/>
              </a:rPr>
              <a:t>540 q</a:t>
            </a:r>
            <a:endParaRPr lang="en-US" sz="2025" dirty="0"/>
          </a:p>
        </p:txBody>
      </p:sp>
      <p:sp>
        <p:nvSpPr>
          <p:cNvPr id="18" name="Text 16"/>
          <p:cNvSpPr/>
          <p:nvPr/>
        </p:nvSpPr>
        <p:spPr>
          <a:xfrm>
            <a:off x="8898508" y="3486150"/>
            <a:ext cx="9280609"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TRANSFER LIST — ADMIN SURFACES ONLY</a:t>
            </a:r>
            <a:endParaRPr lang="en-US" sz="2100" dirty="0"/>
          </a:p>
        </p:txBody>
      </p:sp>
      <p:sp>
        <p:nvSpPr>
          <p:cNvPr id="19" name="Shape 17"/>
          <p:cNvSpPr/>
          <p:nvPr/>
        </p:nvSpPr>
        <p:spPr>
          <a:xfrm>
            <a:off x="8898508" y="4119562"/>
            <a:ext cx="4123209" cy="3038475"/>
          </a:xfrm>
          <a:prstGeom prst="roundRect">
            <a:avLst>
              <a:gd name="adj" fmla="val 3135"/>
            </a:avLst>
          </a:prstGeom>
          <a:solidFill>
            <a:srgbClr val="FFFFFF"/>
          </a:solidFill>
          <a:ln w="19050">
            <a:solidFill>
              <a:srgbClr val="E2DED7"/>
            </a:solidFill>
            <a:prstDash val="solid"/>
          </a:ln>
        </p:spPr>
      </p:sp>
      <p:sp>
        <p:nvSpPr>
          <p:cNvPr id="20" name="Shape 18"/>
          <p:cNvSpPr/>
          <p:nvPr/>
        </p:nvSpPr>
        <p:spPr>
          <a:xfrm>
            <a:off x="8917558" y="4138613"/>
            <a:ext cx="4085109" cy="704850"/>
          </a:xfrm>
          <a:prstGeom prst="rect">
            <a:avLst/>
          </a:prstGeom>
          <a:solidFill>
            <a:srgbClr val="F9F7F4"/>
          </a:solidFill>
          <a:ln/>
        </p:spPr>
      </p:sp>
      <p:sp>
        <p:nvSpPr>
          <p:cNvPr id="21" name="Shape 19"/>
          <p:cNvSpPr/>
          <p:nvPr/>
        </p:nvSpPr>
        <p:spPr>
          <a:xfrm>
            <a:off x="8917558" y="4824413"/>
            <a:ext cx="4085109" cy="19050"/>
          </a:xfrm>
          <a:prstGeom prst="rect">
            <a:avLst/>
          </a:prstGeom>
          <a:solidFill>
            <a:srgbClr val="EFECE7"/>
          </a:solidFill>
          <a:ln/>
        </p:spPr>
      </p:sp>
      <p:sp>
        <p:nvSpPr>
          <p:cNvPr id="22" name="Text 20"/>
          <p:cNvSpPr/>
          <p:nvPr/>
        </p:nvSpPr>
        <p:spPr>
          <a:xfrm>
            <a:off x="9127108" y="4310063"/>
            <a:ext cx="1205061"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4E4A43"/>
                </a:solidFill>
                <a:latin typeface="Poppins" pitchFamily="34" charset="0"/>
                <a:ea typeface="Poppins" pitchFamily="34" charset="-122"/>
                <a:cs typeface="Poppins" pitchFamily="34" charset="-120"/>
              </a:rPr>
              <a:t>All exams</a:t>
            </a:r>
            <a:endParaRPr lang="en-US" sz="1800" dirty="0"/>
          </a:p>
        </p:txBody>
      </p:sp>
      <p:sp>
        <p:nvSpPr>
          <p:cNvPr id="23" name="Text 21"/>
          <p:cNvSpPr/>
          <p:nvPr/>
        </p:nvSpPr>
        <p:spPr>
          <a:xfrm>
            <a:off x="12655897" y="4310063"/>
            <a:ext cx="213420"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8A847A"/>
                </a:solidFill>
                <a:latin typeface="IBM Plex Mono" pitchFamily="34" charset="0"/>
                <a:ea typeface="IBM Plex Mono" pitchFamily="34" charset="-122"/>
                <a:cs typeface="IBM Plex Mono" pitchFamily="34" charset="-120"/>
              </a:rPr>
              <a:t>3</a:t>
            </a:r>
            <a:endParaRPr lang="en-US" sz="1800" dirty="0"/>
          </a:p>
        </p:txBody>
      </p:sp>
      <p:sp>
        <p:nvSpPr>
          <p:cNvPr id="24" name="Text 22"/>
          <p:cNvSpPr/>
          <p:nvPr/>
        </p:nvSpPr>
        <p:spPr>
          <a:xfrm>
            <a:off x="9127108" y="5043488"/>
            <a:ext cx="1720602" cy="385763"/>
          </a:xfrm>
          <a:prstGeom prst="rect">
            <a:avLst/>
          </a:prstGeom>
          <a:noFill/>
          <a:ln/>
        </p:spPr>
        <p:txBody>
          <a:bodyPr wrap="square" lIns="0" tIns="0" rIns="0" bIns="0" rtlCol="0" anchor="t">
            <a:normAutofit/>
          </a:bodyPr>
          <a:lstStyle/>
          <a:p>
            <a:pPr algn="l" indent="0" marL="0">
              <a:buNone/>
            </a:pPr>
            <a:r>
              <a:rPr lang="en-US" sz="1950" dirty="0">
                <a:solidFill>
                  <a:srgbClr val="1A1917"/>
                </a:solidFill>
                <a:latin typeface="Poppins" pitchFamily="34" charset="0"/>
                <a:ea typeface="Poppins" pitchFamily="34" charset="-122"/>
                <a:cs typeface="Poppins" pitchFamily="34" charset="-120"/>
              </a:rPr>
              <a:t>Azure AZ-305</a:t>
            </a:r>
            <a:endParaRPr lang="en-US" sz="1950" dirty="0"/>
          </a:p>
        </p:txBody>
      </p:sp>
      <p:sp>
        <p:nvSpPr>
          <p:cNvPr id="25" name="Text 23"/>
          <p:cNvSpPr/>
          <p:nvPr/>
        </p:nvSpPr>
        <p:spPr>
          <a:xfrm>
            <a:off x="12637591" y="5033963"/>
            <a:ext cx="231725"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F0602A"/>
                </a:solidFill>
                <a:latin typeface="Poppins" pitchFamily="34" charset="0"/>
                <a:ea typeface="Poppins" pitchFamily="34" charset="-122"/>
                <a:cs typeface="Poppins" pitchFamily="34" charset="-120"/>
              </a:rPr>
              <a:t>+</a:t>
            </a:r>
            <a:endParaRPr lang="en-US" sz="1950" dirty="0"/>
          </a:p>
        </p:txBody>
      </p:sp>
      <p:sp>
        <p:nvSpPr>
          <p:cNvPr id="26" name="Shape 24"/>
          <p:cNvSpPr/>
          <p:nvPr/>
        </p:nvSpPr>
        <p:spPr>
          <a:xfrm>
            <a:off x="8917558" y="5595938"/>
            <a:ext cx="4085109" cy="19050"/>
          </a:xfrm>
          <a:prstGeom prst="rect">
            <a:avLst/>
          </a:prstGeom>
          <a:solidFill>
            <a:srgbClr val="EFECE7"/>
          </a:solidFill>
          <a:ln/>
        </p:spPr>
      </p:sp>
      <p:sp>
        <p:nvSpPr>
          <p:cNvPr id="27" name="Text 25"/>
          <p:cNvSpPr/>
          <p:nvPr/>
        </p:nvSpPr>
        <p:spPr>
          <a:xfrm>
            <a:off x="9127108" y="5815013"/>
            <a:ext cx="1782812" cy="385763"/>
          </a:xfrm>
          <a:prstGeom prst="rect">
            <a:avLst/>
          </a:prstGeom>
          <a:noFill/>
          <a:ln/>
        </p:spPr>
        <p:txBody>
          <a:bodyPr wrap="square" lIns="0" tIns="0" rIns="0" bIns="0" rtlCol="0" anchor="t">
            <a:normAutofit/>
          </a:bodyPr>
          <a:lstStyle/>
          <a:p>
            <a:pPr algn="l" indent="0" marL="0">
              <a:buNone/>
            </a:pPr>
            <a:r>
              <a:rPr lang="en-US" sz="1950" dirty="0">
                <a:solidFill>
                  <a:srgbClr val="1A1917"/>
                </a:solidFill>
                <a:latin typeface="Poppins" pitchFamily="34" charset="0"/>
                <a:ea typeface="Poppins" pitchFamily="34" charset="-122"/>
                <a:cs typeface="Poppins" pitchFamily="34" charset="-120"/>
              </a:rPr>
              <a:t>GCP Architect</a:t>
            </a:r>
            <a:endParaRPr lang="en-US" sz="1950" dirty="0"/>
          </a:p>
        </p:txBody>
      </p:sp>
      <p:sp>
        <p:nvSpPr>
          <p:cNvPr id="28" name="Text 26"/>
          <p:cNvSpPr/>
          <p:nvPr/>
        </p:nvSpPr>
        <p:spPr>
          <a:xfrm>
            <a:off x="12637591" y="5805488"/>
            <a:ext cx="231725"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F0602A"/>
                </a:solidFill>
                <a:latin typeface="Poppins" pitchFamily="34" charset="0"/>
                <a:ea typeface="Poppins" pitchFamily="34" charset="-122"/>
                <a:cs typeface="Poppins" pitchFamily="34" charset="-120"/>
              </a:rPr>
              <a:t>+</a:t>
            </a:r>
            <a:endParaRPr lang="en-US" sz="1950" dirty="0"/>
          </a:p>
        </p:txBody>
      </p:sp>
      <p:sp>
        <p:nvSpPr>
          <p:cNvPr id="29" name="Shape 27"/>
          <p:cNvSpPr/>
          <p:nvPr/>
        </p:nvSpPr>
        <p:spPr>
          <a:xfrm>
            <a:off x="8917558" y="6367463"/>
            <a:ext cx="4085109" cy="19050"/>
          </a:xfrm>
          <a:prstGeom prst="rect">
            <a:avLst/>
          </a:prstGeom>
          <a:solidFill>
            <a:srgbClr val="EFECE7"/>
          </a:solidFill>
          <a:ln/>
        </p:spPr>
      </p:sp>
      <p:sp>
        <p:nvSpPr>
          <p:cNvPr id="30" name="Text 28"/>
          <p:cNvSpPr/>
          <p:nvPr/>
        </p:nvSpPr>
        <p:spPr>
          <a:xfrm>
            <a:off x="9127108" y="6586538"/>
            <a:ext cx="582662" cy="385763"/>
          </a:xfrm>
          <a:prstGeom prst="rect">
            <a:avLst/>
          </a:prstGeom>
          <a:noFill/>
          <a:ln/>
        </p:spPr>
        <p:txBody>
          <a:bodyPr wrap="square" lIns="0" tIns="0" rIns="0" bIns="0" rtlCol="0" anchor="t">
            <a:normAutofit/>
          </a:bodyPr>
          <a:lstStyle/>
          <a:p>
            <a:pPr algn="l" indent="0" marL="0">
              <a:buNone/>
            </a:pPr>
            <a:r>
              <a:rPr lang="en-US" sz="1950" dirty="0">
                <a:solidFill>
                  <a:srgbClr val="1A1917"/>
                </a:solidFill>
                <a:latin typeface="Poppins" pitchFamily="34" charset="0"/>
                <a:ea typeface="Poppins" pitchFamily="34" charset="-122"/>
                <a:cs typeface="Poppins" pitchFamily="34" charset="-120"/>
              </a:rPr>
              <a:t>CKA</a:t>
            </a:r>
            <a:endParaRPr lang="en-US" sz="1950" dirty="0"/>
          </a:p>
        </p:txBody>
      </p:sp>
      <p:sp>
        <p:nvSpPr>
          <p:cNvPr id="31" name="Text 29"/>
          <p:cNvSpPr/>
          <p:nvPr/>
        </p:nvSpPr>
        <p:spPr>
          <a:xfrm>
            <a:off x="12637591" y="6577013"/>
            <a:ext cx="231725"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F0602A"/>
                </a:solidFill>
                <a:latin typeface="Poppins" pitchFamily="34" charset="0"/>
                <a:ea typeface="Poppins" pitchFamily="34" charset="-122"/>
                <a:cs typeface="Poppins" pitchFamily="34" charset="-120"/>
              </a:rPr>
              <a:t>+</a:t>
            </a:r>
            <a:endParaRPr lang="en-US" sz="1950" dirty="0"/>
          </a:p>
        </p:txBody>
      </p:sp>
      <p:sp>
        <p:nvSpPr>
          <p:cNvPr id="32" name="Shape 30"/>
          <p:cNvSpPr/>
          <p:nvPr/>
        </p:nvSpPr>
        <p:spPr>
          <a:xfrm>
            <a:off x="13212217" y="4119562"/>
            <a:ext cx="4123209" cy="3038475"/>
          </a:xfrm>
          <a:prstGeom prst="roundRect">
            <a:avLst>
              <a:gd name="adj" fmla="val 3135"/>
            </a:avLst>
          </a:prstGeom>
          <a:solidFill>
            <a:srgbClr val="FFFFFF"/>
          </a:solidFill>
          <a:ln w="19050">
            <a:solidFill>
              <a:srgbClr val="E2DED7"/>
            </a:solidFill>
            <a:prstDash val="solid"/>
          </a:ln>
        </p:spPr>
      </p:sp>
      <p:sp>
        <p:nvSpPr>
          <p:cNvPr id="33" name="Shape 31"/>
          <p:cNvSpPr/>
          <p:nvPr/>
        </p:nvSpPr>
        <p:spPr>
          <a:xfrm>
            <a:off x="13231267" y="4138613"/>
            <a:ext cx="4085109" cy="704850"/>
          </a:xfrm>
          <a:prstGeom prst="rect">
            <a:avLst/>
          </a:prstGeom>
          <a:solidFill>
            <a:srgbClr val="F9F7F4"/>
          </a:solidFill>
          <a:ln/>
        </p:spPr>
      </p:sp>
      <p:sp>
        <p:nvSpPr>
          <p:cNvPr id="34" name="Shape 32"/>
          <p:cNvSpPr/>
          <p:nvPr/>
        </p:nvSpPr>
        <p:spPr>
          <a:xfrm>
            <a:off x="13231267" y="4824413"/>
            <a:ext cx="4085109" cy="19050"/>
          </a:xfrm>
          <a:prstGeom prst="rect">
            <a:avLst/>
          </a:prstGeom>
          <a:solidFill>
            <a:srgbClr val="EFECE7"/>
          </a:solidFill>
          <a:ln/>
        </p:spPr>
      </p:sp>
      <p:sp>
        <p:nvSpPr>
          <p:cNvPr id="35" name="Text 33"/>
          <p:cNvSpPr/>
          <p:nvPr/>
        </p:nvSpPr>
        <p:spPr>
          <a:xfrm>
            <a:off x="13440817" y="4310063"/>
            <a:ext cx="1431325"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4E4A43"/>
                </a:solidFill>
                <a:latin typeface="Poppins" pitchFamily="34" charset="0"/>
                <a:ea typeface="Poppins" pitchFamily="34" charset="-122"/>
                <a:cs typeface="Poppins" pitchFamily="34" charset="-120"/>
              </a:rPr>
              <a:t>In this path</a:t>
            </a:r>
            <a:endParaRPr lang="en-US" sz="1800" dirty="0"/>
          </a:p>
        </p:txBody>
      </p:sp>
      <p:sp>
        <p:nvSpPr>
          <p:cNvPr id="36" name="Text 34"/>
          <p:cNvSpPr/>
          <p:nvPr/>
        </p:nvSpPr>
        <p:spPr>
          <a:xfrm>
            <a:off x="16969606" y="4310063"/>
            <a:ext cx="213420"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8A847A"/>
                </a:solidFill>
                <a:latin typeface="IBM Plex Mono" pitchFamily="34" charset="0"/>
                <a:ea typeface="IBM Plex Mono" pitchFamily="34" charset="-122"/>
                <a:cs typeface="IBM Plex Mono" pitchFamily="34" charset="-120"/>
              </a:rPr>
              <a:t>2</a:t>
            </a:r>
            <a:endParaRPr lang="en-US" sz="1800" dirty="0"/>
          </a:p>
        </p:txBody>
      </p:sp>
      <p:sp>
        <p:nvSpPr>
          <p:cNvPr id="37" name="Text 35"/>
          <p:cNvSpPr/>
          <p:nvPr/>
        </p:nvSpPr>
        <p:spPr>
          <a:xfrm>
            <a:off x="13440817" y="5043488"/>
            <a:ext cx="1804615" cy="385763"/>
          </a:xfrm>
          <a:prstGeom prst="rect">
            <a:avLst/>
          </a:prstGeom>
          <a:noFill/>
          <a:ln/>
        </p:spPr>
        <p:txBody>
          <a:bodyPr wrap="square" lIns="0" tIns="0" rIns="0" bIns="0" rtlCol="0" anchor="t">
            <a:normAutofit/>
          </a:bodyPr>
          <a:lstStyle/>
          <a:p>
            <a:pPr algn="l" indent="0" marL="0">
              <a:buNone/>
            </a:pPr>
            <a:r>
              <a:rPr lang="en-US" sz="1950" dirty="0">
                <a:solidFill>
                  <a:srgbClr val="1A1917"/>
                </a:solidFill>
                <a:latin typeface="Poppins" pitchFamily="34" charset="0"/>
                <a:ea typeface="Poppins" pitchFamily="34" charset="-122"/>
                <a:cs typeface="Poppins" pitchFamily="34" charset="-120"/>
              </a:rPr>
              <a:t>AWS SAA-C03</a:t>
            </a:r>
            <a:endParaRPr lang="en-US" sz="1950" dirty="0"/>
          </a:p>
        </p:txBody>
      </p:sp>
      <p:sp>
        <p:nvSpPr>
          <p:cNvPr id="38" name="Text 36"/>
          <p:cNvSpPr/>
          <p:nvPr/>
        </p:nvSpPr>
        <p:spPr>
          <a:xfrm>
            <a:off x="16972285" y="5033963"/>
            <a:ext cx="210741"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F0602A"/>
                </a:solidFill>
                <a:latin typeface="Poppins" pitchFamily="34" charset="0"/>
                <a:ea typeface="Poppins" pitchFamily="34" charset="-122"/>
                <a:cs typeface="Poppins" pitchFamily="34" charset="-120"/>
              </a:rPr>
              <a:t>−</a:t>
            </a:r>
            <a:endParaRPr lang="en-US" sz="1950" dirty="0"/>
          </a:p>
        </p:txBody>
      </p:sp>
      <p:sp>
        <p:nvSpPr>
          <p:cNvPr id="39" name="Shape 37"/>
          <p:cNvSpPr/>
          <p:nvPr/>
        </p:nvSpPr>
        <p:spPr>
          <a:xfrm>
            <a:off x="13231267" y="5595938"/>
            <a:ext cx="4085109" cy="19050"/>
          </a:xfrm>
          <a:prstGeom prst="rect">
            <a:avLst/>
          </a:prstGeom>
          <a:solidFill>
            <a:srgbClr val="EFECE7"/>
          </a:solidFill>
          <a:ln/>
        </p:spPr>
      </p:sp>
      <p:sp>
        <p:nvSpPr>
          <p:cNvPr id="40" name="Text 38"/>
          <p:cNvSpPr/>
          <p:nvPr/>
        </p:nvSpPr>
        <p:spPr>
          <a:xfrm>
            <a:off x="13440817" y="5815013"/>
            <a:ext cx="1303362" cy="385763"/>
          </a:xfrm>
          <a:prstGeom prst="rect">
            <a:avLst/>
          </a:prstGeom>
          <a:noFill/>
          <a:ln/>
        </p:spPr>
        <p:txBody>
          <a:bodyPr wrap="square" lIns="0" tIns="0" rIns="0" bIns="0" rtlCol="0" anchor="t">
            <a:normAutofit/>
          </a:bodyPr>
          <a:lstStyle/>
          <a:p>
            <a:pPr algn="l" indent="0" marL="0">
              <a:buNone/>
            </a:pPr>
            <a:r>
              <a:rPr lang="en-US" sz="1950" dirty="0">
                <a:solidFill>
                  <a:srgbClr val="1A1917"/>
                </a:solidFill>
                <a:latin typeface="Poppins" pitchFamily="34" charset="0"/>
                <a:ea typeface="Poppins" pitchFamily="34" charset="-122"/>
                <a:cs typeface="Poppins" pitchFamily="34" charset="-120"/>
              </a:rPr>
              <a:t>Terraform</a:t>
            </a:r>
            <a:endParaRPr lang="en-US" sz="1950" dirty="0"/>
          </a:p>
        </p:txBody>
      </p:sp>
      <p:sp>
        <p:nvSpPr>
          <p:cNvPr id="41" name="Text 39"/>
          <p:cNvSpPr/>
          <p:nvPr/>
        </p:nvSpPr>
        <p:spPr>
          <a:xfrm>
            <a:off x="16972285" y="5805488"/>
            <a:ext cx="210741"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F0602A"/>
                </a:solidFill>
                <a:latin typeface="Poppins" pitchFamily="34" charset="0"/>
                <a:ea typeface="Poppins" pitchFamily="34" charset="-122"/>
                <a:cs typeface="Poppins" pitchFamily="34" charset="-120"/>
              </a:rPr>
              <a:t>−</a:t>
            </a:r>
            <a:endParaRPr lang="en-US" sz="1950" dirty="0"/>
          </a:p>
        </p:txBody>
      </p:sp>
      <p:sp>
        <p:nvSpPr>
          <p:cNvPr id="42" name="Shape 40"/>
          <p:cNvSpPr/>
          <p:nvPr/>
        </p:nvSpPr>
        <p:spPr>
          <a:xfrm>
            <a:off x="952500" y="9005888"/>
            <a:ext cx="16383000" cy="19050"/>
          </a:xfrm>
          <a:prstGeom prst="rect">
            <a:avLst/>
          </a:prstGeom>
          <a:solidFill>
            <a:srgbClr val="E2DED7"/>
          </a:solidFill>
          <a:ln/>
        </p:spPr>
      </p:sp>
      <p:sp>
        <p:nvSpPr>
          <p:cNvPr id="43" name="Text 41"/>
          <p:cNvSpPr/>
          <p:nvPr/>
        </p:nvSpPr>
        <p:spPr>
          <a:xfrm>
            <a:off x="952500" y="92154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Autocomplete · TransferList · SearchField</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Tables and lists</a:t>
            </a:r>
            <a:endParaRPr lang="en-US" sz="4800" dirty="0"/>
          </a:p>
        </p:txBody>
      </p:sp>
      <p:sp>
        <p:nvSpPr>
          <p:cNvPr id="3" name="Text 1"/>
          <p:cNvSpPr/>
          <p:nvPr/>
        </p:nvSpPr>
        <p:spPr>
          <a:xfrm>
            <a:off x="952500" y="17907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Codes, scores and durations go mono so digits align down the column. Uppercase header band, hairline rows, no vertical rules.</a:t>
            </a:r>
            <a:endParaRPr lang="en-US" sz="2550" dirty="0"/>
          </a:p>
        </p:txBody>
      </p:sp>
      <p:sp>
        <p:nvSpPr>
          <p:cNvPr id="4" name="Shape 2"/>
          <p:cNvSpPr/>
          <p:nvPr/>
        </p:nvSpPr>
        <p:spPr>
          <a:xfrm>
            <a:off x="952500" y="3257550"/>
            <a:ext cx="16383000" cy="2909888"/>
          </a:xfrm>
          <a:prstGeom prst="roundRect">
            <a:avLst>
              <a:gd name="adj" fmla="val 4583"/>
            </a:avLst>
          </a:prstGeom>
          <a:solidFill>
            <a:srgbClr val="FFFFFF"/>
          </a:solidFill>
          <a:ln w="19050">
            <a:solidFill>
              <a:srgbClr val="EFECE7"/>
            </a:solidFill>
            <a:prstDash val="solid"/>
          </a:ln>
        </p:spPr>
      </p:sp>
      <p:sp>
        <p:nvSpPr>
          <p:cNvPr id="5" name="Shape 3"/>
          <p:cNvSpPr/>
          <p:nvPr/>
        </p:nvSpPr>
        <p:spPr>
          <a:xfrm>
            <a:off x="971550" y="3276600"/>
            <a:ext cx="16344900" cy="704850"/>
          </a:xfrm>
          <a:prstGeom prst="rect">
            <a:avLst/>
          </a:prstGeom>
          <a:solidFill>
            <a:srgbClr val="F9F7F4"/>
          </a:solidFill>
          <a:ln/>
        </p:spPr>
      </p:sp>
      <p:sp>
        <p:nvSpPr>
          <p:cNvPr id="6" name="Shape 4"/>
          <p:cNvSpPr/>
          <p:nvPr/>
        </p:nvSpPr>
        <p:spPr>
          <a:xfrm>
            <a:off x="971550" y="3962400"/>
            <a:ext cx="16344900" cy="19050"/>
          </a:xfrm>
          <a:prstGeom prst="rect">
            <a:avLst/>
          </a:prstGeom>
          <a:solidFill>
            <a:srgbClr val="E2DED7"/>
          </a:solidFill>
          <a:ln/>
        </p:spPr>
      </p:sp>
      <p:sp>
        <p:nvSpPr>
          <p:cNvPr id="7" name="Text 5"/>
          <p:cNvSpPr/>
          <p:nvPr/>
        </p:nvSpPr>
        <p:spPr>
          <a:xfrm>
            <a:off x="1238250" y="3448050"/>
            <a:ext cx="7358397"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8A847A"/>
                </a:solidFill>
                <a:latin typeface="Poppins" pitchFamily="34" charset="0"/>
                <a:ea typeface="Poppins" pitchFamily="34" charset="-122"/>
                <a:cs typeface="Poppins" pitchFamily="34" charset="-120"/>
              </a:rPr>
              <a:t>EXAM</a:t>
            </a:r>
            <a:endParaRPr lang="en-US" sz="1800" dirty="0"/>
          </a:p>
        </p:txBody>
      </p:sp>
      <p:sp>
        <p:nvSpPr>
          <p:cNvPr id="8" name="Text 6"/>
          <p:cNvSpPr/>
          <p:nvPr/>
        </p:nvSpPr>
        <p:spPr>
          <a:xfrm>
            <a:off x="7927702" y="3448050"/>
            <a:ext cx="3344696"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8A847A"/>
                </a:solidFill>
                <a:latin typeface="Poppins" pitchFamily="34" charset="0"/>
                <a:ea typeface="Poppins" pitchFamily="34" charset="-122"/>
                <a:cs typeface="Poppins" pitchFamily="34" charset="-120"/>
              </a:rPr>
              <a:t>CODE</a:t>
            </a:r>
            <a:endParaRPr lang="en-US" sz="1800" dirty="0"/>
          </a:p>
        </p:txBody>
      </p:sp>
      <p:sp>
        <p:nvSpPr>
          <p:cNvPr id="9" name="Text 7"/>
          <p:cNvSpPr/>
          <p:nvPr/>
        </p:nvSpPr>
        <p:spPr>
          <a:xfrm>
            <a:off x="10664264" y="3448050"/>
            <a:ext cx="3344778" cy="381000"/>
          </a:xfrm>
          <a:prstGeom prst="rect">
            <a:avLst/>
          </a:prstGeom>
          <a:noFill/>
          <a:ln/>
        </p:spPr>
        <p:txBody>
          <a:bodyPr wrap="square" lIns="25400" tIns="25400" rIns="25400" bIns="25400" rtlCol="0" anchor="t">
            <a:normAutofit/>
          </a:bodyPr>
          <a:lstStyle/>
          <a:p>
            <a:pPr algn="r" indent="0" marL="0">
              <a:buNone/>
            </a:pPr>
            <a:r>
              <a:rPr lang="en-US" sz="1800" b="1" spc="180" kern="0" dirty="0">
                <a:solidFill>
                  <a:srgbClr val="8A847A"/>
                </a:solidFill>
                <a:latin typeface="Poppins" pitchFamily="34" charset="0"/>
                <a:ea typeface="Poppins" pitchFamily="34" charset="-122"/>
                <a:cs typeface="Poppins" pitchFamily="34" charset="-120"/>
              </a:rPr>
              <a:t>SCORE</a:t>
            </a:r>
            <a:endParaRPr lang="en-US" sz="1800" dirty="0"/>
          </a:p>
        </p:txBody>
      </p:sp>
      <p:sp>
        <p:nvSpPr>
          <p:cNvPr id="10" name="Text 8"/>
          <p:cNvSpPr/>
          <p:nvPr/>
        </p:nvSpPr>
        <p:spPr>
          <a:xfrm>
            <a:off x="13704972" y="3448050"/>
            <a:ext cx="3344778" cy="381000"/>
          </a:xfrm>
          <a:prstGeom prst="rect">
            <a:avLst/>
          </a:prstGeom>
          <a:noFill/>
          <a:ln/>
        </p:spPr>
        <p:txBody>
          <a:bodyPr wrap="square" lIns="25400" tIns="25400" rIns="25400" bIns="25400" rtlCol="0" anchor="t">
            <a:normAutofit/>
          </a:bodyPr>
          <a:lstStyle/>
          <a:p>
            <a:pPr algn="r" indent="0" marL="0">
              <a:buNone/>
            </a:pPr>
            <a:r>
              <a:rPr lang="en-US" sz="1800" b="1" spc="180" kern="0" dirty="0">
                <a:solidFill>
                  <a:srgbClr val="8A847A"/>
                </a:solidFill>
                <a:latin typeface="Poppins" pitchFamily="34" charset="0"/>
                <a:ea typeface="Poppins" pitchFamily="34" charset="-122"/>
                <a:cs typeface="Poppins" pitchFamily="34" charset="-120"/>
              </a:rPr>
              <a:t>RESULT</a:t>
            </a:r>
            <a:endParaRPr lang="en-US" sz="1800" dirty="0"/>
          </a:p>
        </p:txBody>
      </p:sp>
      <p:sp>
        <p:nvSpPr>
          <p:cNvPr id="11" name="Text 9"/>
          <p:cNvSpPr/>
          <p:nvPr/>
        </p:nvSpPr>
        <p:spPr>
          <a:xfrm>
            <a:off x="1238250" y="4143375"/>
            <a:ext cx="7358397"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Solutions Architect – Associate</a:t>
            </a:r>
            <a:endParaRPr lang="en-US" sz="2025" dirty="0"/>
          </a:p>
        </p:txBody>
      </p:sp>
      <p:sp>
        <p:nvSpPr>
          <p:cNvPr id="12" name="Text 10"/>
          <p:cNvSpPr/>
          <p:nvPr/>
        </p:nvSpPr>
        <p:spPr>
          <a:xfrm>
            <a:off x="7927702" y="4169569"/>
            <a:ext cx="3344696" cy="371475"/>
          </a:xfrm>
          <a:prstGeom prst="rect">
            <a:avLst/>
          </a:prstGeom>
          <a:noFill/>
          <a:ln/>
        </p:spPr>
        <p:txBody>
          <a:bodyPr wrap="square" lIns="25400" tIns="25400" rIns="25400" bIns="25400" rtlCol="0" anchor="t">
            <a:normAutofit/>
          </a:bodyPr>
          <a:lstStyle/>
          <a:p>
            <a:pPr algn="l" indent="0" marL="0">
              <a:buNone/>
            </a:pPr>
            <a:r>
              <a:rPr lang="en-US" sz="2025" dirty="0">
                <a:solidFill>
                  <a:srgbClr val="4E4A43"/>
                </a:solidFill>
                <a:latin typeface="IBM Plex Mono" pitchFamily="34" charset="0"/>
                <a:ea typeface="IBM Plex Mono" pitchFamily="34" charset="-122"/>
                <a:cs typeface="IBM Plex Mono" pitchFamily="34" charset="-120"/>
              </a:rPr>
              <a:t>SAA-C03</a:t>
            </a:r>
            <a:endParaRPr lang="en-US" sz="2025" dirty="0"/>
          </a:p>
        </p:txBody>
      </p:sp>
      <p:sp>
        <p:nvSpPr>
          <p:cNvPr id="13" name="Text 11"/>
          <p:cNvSpPr/>
          <p:nvPr/>
        </p:nvSpPr>
        <p:spPr>
          <a:xfrm>
            <a:off x="10664264" y="4169569"/>
            <a:ext cx="3344778" cy="371475"/>
          </a:xfrm>
          <a:prstGeom prst="rect">
            <a:avLst/>
          </a:prstGeom>
          <a:noFill/>
          <a:ln/>
        </p:spPr>
        <p:txBody>
          <a:bodyPr wrap="square" lIns="25400" tIns="25400" rIns="25400" bIns="25400" rtlCol="0" anchor="t">
            <a:normAutofit/>
          </a:bodyPr>
          <a:lstStyle/>
          <a:p>
            <a:pPr algn="r" indent="0" marL="0">
              <a:buNone/>
            </a:pPr>
            <a:r>
              <a:rPr lang="en-US" sz="2025" dirty="0">
                <a:solidFill>
                  <a:srgbClr val="1A1917"/>
                </a:solidFill>
                <a:latin typeface="IBM Plex Mono" pitchFamily="34" charset="0"/>
                <a:ea typeface="IBM Plex Mono" pitchFamily="34" charset="-122"/>
                <a:cs typeface="IBM Plex Mono" pitchFamily="34" charset="-120"/>
              </a:rPr>
              <a:t>792</a:t>
            </a:r>
            <a:endParaRPr lang="en-US" sz="2025" dirty="0"/>
          </a:p>
        </p:txBody>
      </p:sp>
      <p:sp>
        <p:nvSpPr>
          <p:cNvPr id="14" name="Shape 12"/>
          <p:cNvSpPr/>
          <p:nvPr/>
        </p:nvSpPr>
        <p:spPr>
          <a:xfrm>
            <a:off x="15867608" y="4110038"/>
            <a:ext cx="1182142" cy="471488"/>
          </a:xfrm>
          <a:prstGeom prst="roundRect">
            <a:avLst>
              <a:gd name="adj" fmla="val 50000"/>
            </a:avLst>
          </a:prstGeom>
          <a:solidFill>
            <a:srgbClr val="D8F3E3"/>
          </a:solidFill>
          <a:ln/>
        </p:spPr>
      </p:sp>
      <p:sp>
        <p:nvSpPr>
          <p:cNvPr id="15" name="Text 13"/>
          <p:cNvSpPr/>
          <p:nvPr/>
        </p:nvSpPr>
        <p:spPr>
          <a:xfrm>
            <a:off x="15962858" y="4186238"/>
            <a:ext cx="915442" cy="357188"/>
          </a:xfrm>
          <a:prstGeom prst="rect">
            <a:avLst/>
          </a:prstGeom>
          <a:noFill/>
          <a:ln/>
        </p:spPr>
        <p:txBody>
          <a:bodyPr wrap="square" lIns="25400" tIns="25400" rIns="25400" bIns="25400" rtlCol="0" anchor="t">
            <a:normAutofit/>
          </a:bodyPr>
          <a:lstStyle/>
          <a:p>
            <a:pPr algn="r" indent="0" marL="0">
              <a:buNone/>
            </a:pPr>
            <a:r>
              <a:rPr lang="en-US" sz="1800" b="1" dirty="0">
                <a:solidFill>
                  <a:srgbClr val="0B7A3C"/>
                </a:solidFill>
                <a:latin typeface="Poppins" pitchFamily="34" charset="0"/>
                <a:ea typeface="Poppins" pitchFamily="34" charset="-122"/>
                <a:cs typeface="Poppins" pitchFamily="34" charset="-120"/>
              </a:rPr>
              <a:t>Passed</a:t>
            </a:r>
            <a:endParaRPr lang="en-US" sz="1800" dirty="0"/>
          </a:p>
        </p:txBody>
      </p:sp>
      <p:sp>
        <p:nvSpPr>
          <p:cNvPr id="16" name="Shape 14"/>
          <p:cNvSpPr/>
          <p:nvPr/>
        </p:nvSpPr>
        <p:spPr>
          <a:xfrm>
            <a:off x="971550" y="4691063"/>
            <a:ext cx="16344900" cy="19050"/>
          </a:xfrm>
          <a:prstGeom prst="rect">
            <a:avLst/>
          </a:prstGeom>
          <a:solidFill>
            <a:srgbClr val="EFECE7"/>
          </a:solidFill>
          <a:ln/>
        </p:spPr>
      </p:sp>
      <p:sp>
        <p:nvSpPr>
          <p:cNvPr id="17" name="Text 15"/>
          <p:cNvSpPr/>
          <p:nvPr/>
        </p:nvSpPr>
        <p:spPr>
          <a:xfrm>
            <a:off x="1238250" y="4872038"/>
            <a:ext cx="7358397"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Developer – Associate</a:t>
            </a:r>
            <a:endParaRPr lang="en-US" sz="2025" dirty="0"/>
          </a:p>
        </p:txBody>
      </p:sp>
      <p:sp>
        <p:nvSpPr>
          <p:cNvPr id="18" name="Text 16"/>
          <p:cNvSpPr/>
          <p:nvPr/>
        </p:nvSpPr>
        <p:spPr>
          <a:xfrm>
            <a:off x="7927702" y="4898231"/>
            <a:ext cx="3344696" cy="371475"/>
          </a:xfrm>
          <a:prstGeom prst="rect">
            <a:avLst/>
          </a:prstGeom>
          <a:noFill/>
          <a:ln/>
        </p:spPr>
        <p:txBody>
          <a:bodyPr wrap="square" lIns="25400" tIns="25400" rIns="25400" bIns="25400" rtlCol="0" anchor="t">
            <a:normAutofit/>
          </a:bodyPr>
          <a:lstStyle/>
          <a:p>
            <a:pPr algn="l" indent="0" marL="0">
              <a:buNone/>
            </a:pPr>
            <a:r>
              <a:rPr lang="en-US" sz="2025" dirty="0">
                <a:solidFill>
                  <a:srgbClr val="4E4A43"/>
                </a:solidFill>
                <a:latin typeface="IBM Plex Mono" pitchFamily="34" charset="0"/>
                <a:ea typeface="IBM Plex Mono" pitchFamily="34" charset="-122"/>
                <a:cs typeface="IBM Plex Mono" pitchFamily="34" charset="-120"/>
              </a:rPr>
              <a:t>DVA-C02</a:t>
            </a:r>
            <a:endParaRPr lang="en-US" sz="2025" dirty="0"/>
          </a:p>
        </p:txBody>
      </p:sp>
      <p:sp>
        <p:nvSpPr>
          <p:cNvPr id="19" name="Text 17"/>
          <p:cNvSpPr/>
          <p:nvPr/>
        </p:nvSpPr>
        <p:spPr>
          <a:xfrm>
            <a:off x="10664264" y="4898231"/>
            <a:ext cx="3344778" cy="371475"/>
          </a:xfrm>
          <a:prstGeom prst="rect">
            <a:avLst/>
          </a:prstGeom>
          <a:noFill/>
          <a:ln/>
        </p:spPr>
        <p:txBody>
          <a:bodyPr wrap="square" lIns="25400" tIns="25400" rIns="25400" bIns="25400" rtlCol="0" anchor="t">
            <a:normAutofit/>
          </a:bodyPr>
          <a:lstStyle/>
          <a:p>
            <a:pPr algn="r" indent="0" marL="0">
              <a:buNone/>
            </a:pPr>
            <a:r>
              <a:rPr lang="en-US" sz="2025" dirty="0">
                <a:solidFill>
                  <a:srgbClr val="1A1917"/>
                </a:solidFill>
                <a:latin typeface="IBM Plex Mono" pitchFamily="34" charset="0"/>
                <a:ea typeface="IBM Plex Mono" pitchFamily="34" charset="-122"/>
                <a:cs typeface="IBM Plex Mono" pitchFamily="34" charset="-120"/>
              </a:rPr>
              <a:t>684</a:t>
            </a:r>
            <a:endParaRPr lang="en-US" sz="2025" dirty="0"/>
          </a:p>
        </p:txBody>
      </p:sp>
      <p:sp>
        <p:nvSpPr>
          <p:cNvPr id="20" name="Shape 18"/>
          <p:cNvSpPr/>
          <p:nvPr/>
        </p:nvSpPr>
        <p:spPr>
          <a:xfrm>
            <a:off x="16007507" y="4838700"/>
            <a:ext cx="1042243" cy="471488"/>
          </a:xfrm>
          <a:prstGeom prst="roundRect">
            <a:avLst>
              <a:gd name="adj" fmla="val 50000"/>
            </a:avLst>
          </a:prstGeom>
          <a:solidFill>
            <a:srgbClr val="FEF2F0"/>
          </a:solidFill>
          <a:ln/>
        </p:spPr>
      </p:sp>
      <p:sp>
        <p:nvSpPr>
          <p:cNvPr id="21" name="Text 19"/>
          <p:cNvSpPr/>
          <p:nvPr/>
        </p:nvSpPr>
        <p:spPr>
          <a:xfrm>
            <a:off x="16102757" y="4914900"/>
            <a:ext cx="775543" cy="357188"/>
          </a:xfrm>
          <a:prstGeom prst="rect">
            <a:avLst/>
          </a:prstGeom>
          <a:noFill/>
          <a:ln/>
        </p:spPr>
        <p:txBody>
          <a:bodyPr wrap="square" lIns="25400" tIns="25400" rIns="25400" bIns="25400" rtlCol="0" anchor="t">
            <a:normAutofit/>
          </a:bodyPr>
          <a:lstStyle/>
          <a:p>
            <a:pPr algn="r" indent="0" marL="0">
              <a:buNone/>
            </a:pPr>
            <a:r>
              <a:rPr lang="en-US" sz="1800" b="1" dirty="0">
                <a:solidFill>
                  <a:srgbClr val="A4271A"/>
                </a:solidFill>
                <a:latin typeface="Poppins" pitchFamily="34" charset="0"/>
                <a:ea typeface="Poppins" pitchFamily="34" charset="-122"/>
                <a:cs typeface="Poppins" pitchFamily="34" charset="-120"/>
              </a:rPr>
              <a:t>Failed</a:t>
            </a:r>
            <a:endParaRPr lang="en-US" sz="1800" dirty="0"/>
          </a:p>
        </p:txBody>
      </p:sp>
      <p:sp>
        <p:nvSpPr>
          <p:cNvPr id="22" name="Shape 20"/>
          <p:cNvSpPr/>
          <p:nvPr/>
        </p:nvSpPr>
        <p:spPr>
          <a:xfrm>
            <a:off x="971550" y="5419725"/>
            <a:ext cx="16344900" cy="19050"/>
          </a:xfrm>
          <a:prstGeom prst="rect">
            <a:avLst/>
          </a:prstGeom>
          <a:solidFill>
            <a:srgbClr val="EFECE7"/>
          </a:solidFill>
          <a:ln/>
        </p:spPr>
      </p:sp>
      <p:sp>
        <p:nvSpPr>
          <p:cNvPr id="23" name="Text 21"/>
          <p:cNvSpPr/>
          <p:nvPr/>
        </p:nvSpPr>
        <p:spPr>
          <a:xfrm>
            <a:off x="1238250" y="5600700"/>
            <a:ext cx="7358397"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Terraform Associate</a:t>
            </a:r>
            <a:endParaRPr lang="en-US" sz="2025" dirty="0"/>
          </a:p>
        </p:txBody>
      </p:sp>
      <p:sp>
        <p:nvSpPr>
          <p:cNvPr id="24" name="Text 22"/>
          <p:cNvSpPr/>
          <p:nvPr/>
        </p:nvSpPr>
        <p:spPr>
          <a:xfrm>
            <a:off x="7927702" y="5626894"/>
            <a:ext cx="3344696" cy="371475"/>
          </a:xfrm>
          <a:prstGeom prst="rect">
            <a:avLst/>
          </a:prstGeom>
          <a:noFill/>
          <a:ln/>
        </p:spPr>
        <p:txBody>
          <a:bodyPr wrap="square" lIns="25400" tIns="25400" rIns="25400" bIns="25400" rtlCol="0" anchor="t">
            <a:normAutofit/>
          </a:bodyPr>
          <a:lstStyle/>
          <a:p>
            <a:pPr algn="l" indent="0" marL="0">
              <a:buNone/>
            </a:pPr>
            <a:r>
              <a:rPr lang="en-US" sz="2025" dirty="0">
                <a:solidFill>
                  <a:srgbClr val="4E4A43"/>
                </a:solidFill>
                <a:latin typeface="IBM Plex Mono" pitchFamily="34" charset="0"/>
                <a:ea typeface="IBM Plex Mono" pitchFamily="34" charset="-122"/>
                <a:cs typeface="IBM Plex Mono" pitchFamily="34" charset="-120"/>
              </a:rPr>
              <a:t>TA-003</a:t>
            </a:r>
            <a:endParaRPr lang="en-US" sz="2025" dirty="0"/>
          </a:p>
        </p:txBody>
      </p:sp>
      <p:sp>
        <p:nvSpPr>
          <p:cNvPr id="25" name="Text 23"/>
          <p:cNvSpPr/>
          <p:nvPr/>
        </p:nvSpPr>
        <p:spPr>
          <a:xfrm>
            <a:off x="10664264" y="5626894"/>
            <a:ext cx="3344778" cy="371475"/>
          </a:xfrm>
          <a:prstGeom prst="rect">
            <a:avLst/>
          </a:prstGeom>
          <a:noFill/>
          <a:ln/>
        </p:spPr>
        <p:txBody>
          <a:bodyPr wrap="square" lIns="25400" tIns="25400" rIns="25400" bIns="25400" rtlCol="0" anchor="t">
            <a:normAutofit/>
          </a:bodyPr>
          <a:lstStyle/>
          <a:p>
            <a:pPr algn="r" indent="0" marL="0">
              <a:buNone/>
            </a:pPr>
            <a:r>
              <a:rPr lang="en-US" sz="2025" dirty="0">
                <a:solidFill>
                  <a:srgbClr val="1A1917"/>
                </a:solidFill>
                <a:latin typeface="IBM Plex Mono" pitchFamily="34" charset="0"/>
                <a:ea typeface="IBM Plex Mono" pitchFamily="34" charset="-122"/>
                <a:cs typeface="IBM Plex Mono" pitchFamily="34" charset="-120"/>
              </a:rPr>
              <a:t>810</a:t>
            </a:r>
            <a:endParaRPr lang="en-US" sz="2025" dirty="0"/>
          </a:p>
        </p:txBody>
      </p:sp>
      <p:sp>
        <p:nvSpPr>
          <p:cNvPr id="26" name="Shape 24"/>
          <p:cNvSpPr/>
          <p:nvPr/>
        </p:nvSpPr>
        <p:spPr>
          <a:xfrm>
            <a:off x="15867608" y="5567363"/>
            <a:ext cx="1182142" cy="471488"/>
          </a:xfrm>
          <a:prstGeom prst="roundRect">
            <a:avLst>
              <a:gd name="adj" fmla="val 50000"/>
            </a:avLst>
          </a:prstGeom>
          <a:solidFill>
            <a:srgbClr val="D8F3E3"/>
          </a:solidFill>
          <a:ln/>
        </p:spPr>
      </p:sp>
      <p:sp>
        <p:nvSpPr>
          <p:cNvPr id="27" name="Text 25"/>
          <p:cNvSpPr/>
          <p:nvPr/>
        </p:nvSpPr>
        <p:spPr>
          <a:xfrm>
            <a:off x="15962858" y="5643563"/>
            <a:ext cx="915442" cy="357188"/>
          </a:xfrm>
          <a:prstGeom prst="rect">
            <a:avLst/>
          </a:prstGeom>
          <a:noFill/>
          <a:ln/>
        </p:spPr>
        <p:txBody>
          <a:bodyPr wrap="square" lIns="25400" tIns="25400" rIns="25400" bIns="25400" rtlCol="0" anchor="t">
            <a:normAutofit/>
          </a:bodyPr>
          <a:lstStyle/>
          <a:p>
            <a:pPr algn="r" indent="0" marL="0">
              <a:buNone/>
            </a:pPr>
            <a:r>
              <a:rPr lang="en-US" sz="1800" b="1" dirty="0">
                <a:solidFill>
                  <a:srgbClr val="0B7A3C"/>
                </a:solidFill>
                <a:latin typeface="Poppins" pitchFamily="34" charset="0"/>
                <a:ea typeface="Poppins" pitchFamily="34" charset="-122"/>
                <a:cs typeface="Poppins" pitchFamily="34" charset="-120"/>
              </a:rPr>
              <a:t>Passed</a:t>
            </a:r>
            <a:endParaRPr lang="en-US" sz="1800" dirty="0"/>
          </a:p>
        </p:txBody>
      </p:sp>
      <p:sp>
        <p:nvSpPr>
          <p:cNvPr id="28" name="Shape 26"/>
          <p:cNvSpPr/>
          <p:nvPr/>
        </p:nvSpPr>
        <p:spPr>
          <a:xfrm>
            <a:off x="952500" y="6548438"/>
            <a:ext cx="9023003" cy="2314575"/>
          </a:xfrm>
          <a:prstGeom prst="roundRect">
            <a:avLst>
              <a:gd name="adj" fmla="val 5761"/>
            </a:avLst>
          </a:prstGeom>
          <a:solidFill>
            <a:srgbClr val="FFFFFF"/>
          </a:solidFill>
          <a:ln w="19050">
            <a:solidFill>
              <a:srgbClr val="EFECE7"/>
            </a:solidFill>
            <a:prstDash val="solid"/>
          </a:ln>
        </p:spPr>
      </p:sp>
      <p:sp>
        <p:nvSpPr>
          <p:cNvPr id="29" name="Text 27"/>
          <p:cNvSpPr/>
          <p:nvPr/>
        </p:nvSpPr>
        <p:spPr>
          <a:xfrm>
            <a:off x="1238250" y="6738938"/>
            <a:ext cx="7818425"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Certificate of completion</a:t>
            </a:r>
            <a:endParaRPr lang="en-US" sz="2100" dirty="0"/>
          </a:p>
        </p:txBody>
      </p:sp>
      <p:sp>
        <p:nvSpPr>
          <p:cNvPr id="30" name="Text 28"/>
          <p:cNvSpPr/>
          <p:nvPr/>
        </p:nvSpPr>
        <p:spPr>
          <a:xfrm>
            <a:off x="1238250" y="7181850"/>
            <a:ext cx="7818425"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PDF · 240 KB</a:t>
            </a:r>
            <a:endParaRPr lang="en-US" sz="1800" dirty="0"/>
          </a:p>
        </p:txBody>
      </p:sp>
      <p:sp>
        <p:nvSpPr>
          <p:cNvPr id="31" name="Text 29"/>
          <p:cNvSpPr/>
          <p:nvPr/>
        </p:nvSpPr>
        <p:spPr>
          <a:xfrm>
            <a:off x="8536409" y="6960394"/>
            <a:ext cx="1229544"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Download</a:t>
            </a:r>
            <a:endParaRPr lang="en-US" sz="1800" dirty="0"/>
          </a:p>
        </p:txBody>
      </p:sp>
      <p:sp>
        <p:nvSpPr>
          <p:cNvPr id="32" name="Shape 30"/>
          <p:cNvSpPr/>
          <p:nvPr/>
        </p:nvSpPr>
        <p:spPr>
          <a:xfrm>
            <a:off x="971550" y="7696200"/>
            <a:ext cx="8984903" cy="1147763"/>
          </a:xfrm>
          <a:prstGeom prst="rect">
            <a:avLst/>
          </a:prstGeom>
          <a:solidFill>
            <a:srgbClr val="F9F7F4"/>
          </a:solidFill>
          <a:ln/>
        </p:spPr>
      </p:sp>
      <p:sp>
        <p:nvSpPr>
          <p:cNvPr id="33" name="Shape 31"/>
          <p:cNvSpPr/>
          <p:nvPr/>
        </p:nvSpPr>
        <p:spPr>
          <a:xfrm>
            <a:off x="971550" y="7696200"/>
            <a:ext cx="8984903" cy="19050"/>
          </a:xfrm>
          <a:prstGeom prst="rect">
            <a:avLst/>
          </a:prstGeom>
          <a:solidFill>
            <a:srgbClr val="EFECE7"/>
          </a:solidFill>
          <a:ln/>
        </p:spPr>
      </p:sp>
      <p:sp>
        <p:nvSpPr>
          <p:cNvPr id="34" name="Text 32"/>
          <p:cNvSpPr/>
          <p:nvPr/>
        </p:nvSpPr>
        <p:spPr>
          <a:xfrm>
            <a:off x="1238250" y="7886700"/>
            <a:ext cx="8493078"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Attempt 3 report</a:t>
            </a:r>
            <a:endParaRPr lang="en-US" sz="2100" dirty="0"/>
          </a:p>
        </p:txBody>
      </p:sp>
      <p:sp>
        <p:nvSpPr>
          <p:cNvPr id="35" name="Text 33"/>
          <p:cNvSpPr/>
          <p:nvPr/>
        </p:nvSpPr>
        <p:spPr>
          <a:xfrm>
            <a:off x="1238250" y="8329613"/>
            <a:ext cx="8493078"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Submitted 7 Aug 2026</a:t>
            </a:r>
            <a:endParaRPr lang="en-US" sz="1800" dirty="0"/>
          </a:p>
        </p:txBody>
      </p:sp>
      <p:sp>
        <p:nvSpPr>
          <p:cNvPr id="36" name="Text 34"/>
          <p:cNvSpPr/>
          <p:nvPr/>
        </p:nvSpPr>
        <p:spPr>
          <a:xfrm>
            <a:off x="9149730" y="8108156"/>
            <a:ext cx="61622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View</a:t>
            </a:r>
            <a:endParaRPr lang="en-US" sz="1800" dirty="0"/>
          </a:p>
        </p:txBody>
      </p:sp>
      <p:sp>
        <p:nvSpPr>
          <p:cNvPr id="37" name="Text 35"/>
          <p:cNvSpPr/>
          <p:nvPr/>
        </p:nvSpPr>
        <p:spPr>
          <a:xfrm>
            <a:off x="10394603" y="6548438"/>
            <a:ext cx="7634987"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DIVIDER WITH LABEL</a:t>
            </a:r>
            <a:endParaRPr lang="en-US" sz="2100" dirty="0"/>
          </a:p>
        </p:txBody>
      </p:sp>
      <p:sp>
        <p:nvSpPr>
          <p:cNvPr id="38" name="Shape 36"/>
          <p:cNvSpPr/>
          <p:nvPr/>
        </p:nvSpPr>
        <p:spPr>
          <a:xfrm>
            <a:off x="10394603" y="7343775"/>
            <a:ext cx="3094062" cy="19050"/>
          </a:xfrm>
          <a:prstGeom prst="rect">
            <a:avLst/>
          </a:prstGeom>
          <a:solidFill>
            <a:srgbClr val="EFECE7"/>
          </a:solidFill>
          <a:ln/>
        </p:spPr>
      </p:sp>
      <p:sp>
        <p:nvSpPr>
          <p:cNvPr id="39" name="Text 37"/>
          <p:cNvSpPr/>
          <p:nvPr/>
        </p:nvSpPr>
        <p:spPr>
          <a:xfrm>
            <a:off x="13679165" y="7181850"/>
            <a:ext cx="447973"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8A847A"/>
                </a:solidFill>
                <a:latin typeface="Poppins" pitchFamily="34" charset="0"/>
                <a:ea typeface="Poppins" pitchFamily="34" charset="-122"/>
                <a:cs typeface="Poppins" pitchFamily="34" charset="-120"/>
              </a:rPr>
              <a:t>OR</a:t>
            </a:r>
            <a:endParaRPr lang="en-US" sz="1800" dirty="0"/>
          </a:p>
        </p:txBody>
      </p:sp>
      <p:sp>
        <p:nvSpPr>
          <p:cNvPr id="40" name="Shape 38"/>
          <p:cNvSpPr/>
          <p:nvPr/>
        </p:nvSpPr>
        <p:spPr>
          <a:xfrm>
            <a:off x="14241438" y="7343775"/>
            <a:ext cx="3094062" cy="19050"/>
          </a:xfrm>
          <a:prstGeom prst="rect">
            <a:avLst/>
          </a:prstGeom>
          <a:solidFill>
            <a:srgbClr val="EFECE7"/>
          </a:solidFill>
          <a:ln/>
        </p:spPr>
      </p:sp>
      <p:sp>
        <p:nvSpPr>
          <p:cNvPr id="41" name="Text 39"/>
          <p:cNvSpPr/>
          <p:nvPr/>
        </p:nvSpPr>
        <p:spPr>
          <a:xfrm>
            <a:off x="10394603" y="7829550"/>
            <a:ext cx="7149124" cy="830461"/>
          </a:xfrm>
          <a:prstGeom prst="rect">
            <a:avLst/>
          </a:prstGeom>
          <a:noFill/>
          <a:ln/>
        </p:spPr>
        <p:txBody>
          <a:bodyPr wrap="square" lIns="25400" tIns="25400" rIns="25400" bIns="25400" rtlCol="0" anchor="t">
            <a:normAutofit/>
          </a:bodyPr>
          <a:lstStyle/>
          <a:p>
            <a:pPr algn="l" indent="0" marL="0">
              <a:lnSpc>
                <a:spcPct val="106667"/>
              </a:lnSpc>
              <a:buNone/>
            </a:pPr>
            <a:r>
              <a:rPr lang="en-US" sz="1950" dirty="0">
                <a:solidFill>
                  <a:srgbClr val="6A655C"/>
                </a:solidFill>
                <a:latin typeface="Poppins" pitchFamily="34" charset="0"/>
                <a:ea typeface="Poppins" pitchFamily="34" charset="-122"/>
                <a:cs typeface="Poppins" pitchFamily="34" charset="-120"/>
              </a:rPr>
              <a:t>Use List for generic rows and LessonRow for curriculum, where done, current and not-yet must read at a glance.</a:t>
            </a:r>
            <a:endParaRPr lang="en-US" sz="1950" dirty="0"/>
          </a:p>
        </p:txBody>
      </p:sp>
      <p:sp>
        <p:nvSpPr>
          <p:cNvPr id="42" name="Shape 40"/>
          <p:cNvSpPr/>
          <p:nvPr/>
        </p:nvSpPr>
        <p:spPr>
          <a:xfrm>
            <a:off x="952500" y="9091613"/>
            <a:ext cx="16383000" cy="19050"/>
          </a:xfrm>
          <a:prstGeom prst="rect">
            <a:avLst/>
          </a:prstGeom>
          <a:solidFill>
            <a:srgbClr val="E2DED7"/>
          </a:solidFill>
          <a:ln/>
        </p:spPr>
      </p:sp>
      <p:sp>
        <p:nvSpPr>
          <p:cNvPr id="43" name="Text 41"/>
          <p:cNvSpPr/>
          <p:nvPr/>
        </p:nvSpPr>
        <p:spPr>
          <a:xfrm>
            <a:off x="952500" y="9301163"/>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Table · List · Divider</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Surfaces</a:t>
            </a:r>
            <a:endParaRPr lang="en-US" sz="4800" dirty="0"/>
          </a:p>
        </p:txBody>
      </p:sp>
      <p:sp>
        <p:nvSpPr>
          <p:cNvPr id="3" name="Text 1"/>
          <p:cNvSpPr/>
          <p:nvPr/>
        </p:nvSpPr>
        <p:spPr>
          <a:xfrm>
            <a:off x="952500" y="1790700"/>
            <a:ext cx="11917609" cy="1495425"/>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Card represents one content object. Paper is a surface — a panel, a well, a sheet. Keeping them apart stops hover-lift appearing on things that are not clickable.</a:t>
            </a:r>
            <a:endParaRPr lang="en-US" sz="2550" dirty="0"/>
          </a:p>
        </p:txBody>
      </p:sp>
      <p:sp>
        <p:nvSpPr>
          <p:cNvPr id="4" name="Text 2"/>
          <p:cNvSpPr/>
          <p:nvPr/>
        </p:nvSpPr>
        <p:spPr>
          <a:xfrm>
            <a:off x="952500" y="3743325"/>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PAPER TONES</a:t>
            </a:r>
            <a:endParaRPr lang="en-US" sz="2100" dirty="0"/>
          </a:p>
        </p:txBody>
      </p:sp>
      <p:sp>
        <p:nvSpPr>
          <p:cNvPr id="5" name="Shape 3"/>
          <p:cNvSpPr/>
          <p:nvPr/>
        </p:nvSpPr>
        <p:spPr>
          <a:xfrm>
            <a:off x="952500" y="4376738"/>
            <a:ext cx="3924300" cy="1514475"/>
          </a:xfrm>
          <a:prstGeom prst="roundRect">
            <a:avLst>
              <a:gd name="adj" fmla="val 8805"/>
            </a:avLst>
          </a:prstGeom>
          <a:solidFill>
            <a:srgbClr val="FFFFFF"/>
          </a:solidFill>
          <a:ln w="19050">
            <a:solidFill>
              <a:srgbClr val="EFECE7"/>
            </a:solidFill>
            <a:prstDash val="solid"/>
          </a:ln>
          <a:effectLst>
            <a:outerShdw sx="100000" sy="100000" kx="0" ky="0" algn="bl" rotWithShape="0" blurRad="19050" dist="9525" dir="5400000">
              <a:srgbClr val="1A1917">
                <a:alpha val="6000"/>
              </a:srgbClr>
            </a:outerShdw>
          </a:effectLst>
        </p:spPr>
      </p:sp>
      <p:sp>
        <p:nvSpPr>
          <p:cNvPr id="6" name="Text 4"/>
          <p:cNvSpPr/>
          <p:nvPr/>
        </p:nvSpPr>
        <p:spPr>
          <a:xfrm>
            <a:off x="1238250" y="4662488"/>
            <a:ext cx="3688080"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Default</a:t>
            </a:r>
            <a:endParaRPr lang="en-US" sz="2250" dirty="0"/>
          </a:p>
        </p:txBody>
      </p:sp>
      <p:sp>
        <p:nvSpPr>
          <p:cNvPr id="7" name="Text 5"/>
          <p:cNvSpPr/>
          <p:nvPr/>
        </p:nvSpPr>
        <p:spPr>
          <a:xfrm>
            <a:off x="1238250" y="5167313"/>
            <a:ext cx="3688080" cy="400050"/>
          </a:xfrm>
          <a:prstGeom prst="rect">
            <a:avLst/>
          </a:prstGeom>
          <a:noFill/>
          <a:ln/>
        </p:spPr>
        <p:txBody>
          <a:bodyPr wrap="square" lIns="25400" tIns="25400" rIns="25400" bIns="25400" rtlCol="0" anchor="t">
            <a:normAutofit/>
          </a:bodyPr>
          <a:lstStyle/>
          <a:p>
            <a:pPr algn="l" indent="0" marL="0">
              <a:buNone/>
            </a:pPr>
            <a:r>
              <a:rPr lang="en-US" sz="1875" dirty="0">
                <a:solidFill>
                  <a:srgbClr val="6A655C"/>
                </a:solidFill>
                <a:latin typeface="Poppins" pitchFamily="34" charset="0"/>
                <a:ea typeface="Poppins" pitchFamily="34" charset="-122"/>
                <a:cs typeface="Poppins" pitchFamily="34" charset="-120"/>
              </a:rPr>
              <a:t>elevation 1</a:t>
            </a:r>
            <a:endParaRPr lang="en-US" sz="1875" dirty="0"/>
          </a:p>
        </p:txBody>
      </p:sp>
      <p:sp>
        <p:nvSpPr>
          <p:cNvPr id="8" name="Shape 6"/>
          <p:cNvSpPr/>
          <p:nvPr/>
        </p:nvSpPr>
        <p:spPr>
          <a:xfrm>
            <a:off x="5105400" y="4376738"/>
            <a:ext cx="3924300" cy="1514475"/>
          </a:xfrm>
          <a:prstGeom prst="roundRect">
            <a:avLst>
              <a:gd name="adj" fmla="val 8805"/>
            </a:avLst>
          </a:prstGeom>
          <a:solidFill>
            <a:srgbClr val="F9F7F4"/>
          </a:solidFill>
          <a:ln w="19050">
            <a:solidFill>
              <a:srgbClr val="EFECE7"/>
            </a:solidFill>
            <a:prstDash val="solid"/>
          </a:ln>
        </p:spPr>
      </p:sp>
      <p:sp>
        <p:nvSpPr>
          <p:cNvPr id="9" name="Text 7"/>
          <p:cNvSpPr/>
          <p:nvPr/>
        </p:nvSpPr>
        <p:spPr>
          <a:xfrm>
            <a:off x="5429250" y="4700588"/>
            <a:ext cx="3604260"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Subtle</a:t>
            </a:r>
            <a:endParaRPr lang="en-US" sz="2250" dirty="0"/>
          </a:p>
        </p:txBody>
      </p:sp>
      <p:sp>
        <p:nvSpPr>
          <p:cNvPr id="10" name="Text 8"/>
          <p:cNvSpPr/>
          <p:nvPr/>
        </p:nvSpPr>
        <p:spPr>
          <a:xfrm>
            <a:off x="5429250" y="5205413"/>
            <a:ext cx="3604260" cy="400050"/>
          </a:xfrm>
          <a:prstGeom prst="rect">
            <a:avLst/>
          </a:prstGeom>
          <a:noFill/>
          <a:ln/>
        </p:spPr>
        <p:txBody>
          <a:bodyPr wrap="square" lIns="25400" tIns="25400" rIns="25400" bIns="25400" rtlCol="0" anchor="t">
            <a:normAutofit/>
          </a:bodyPr>
          <a:lstStyle/>
          <a:p>
            <a:pPr algn="l" indent="0" marL="0">
              <a:buNone/>
            </a:pPr>
            <a:r>
              <a:rPr lang="en-US" sz="1875" dirty="0">
                <a:solidFill>
                  <a:srgbClr val="6A655C"/>
                </a:solidFill>
                <a:latin typeface="Poppins" pitchFamily="34" charset="0"/>
                <a:ea typeface="Poppins" pitchFamily="34" charset="-122"/>
                <a:cs typeface="Poppins" pitchFamily="34" charset="-120"/>
              </a:rPr>
              <a:t>section well</a:t>
            </a:r>
            <a:endParaRPr lang="en-US" sz="1875" dirty="0"/>
          </a:p>
        </p:txBody>
      </p:sp>
      <p:sp>
        <p:nvSpPr>
          <p:cNvPr id="11" name="Shape 9"/>
          <p:cNvSpPr/>
          <p:nvPr/>
        </p:nvSpPr>
        <p:spPr>
          <a:xfrm>
            <a:off x="9258300" y="4376738"/>
            <a:ext cx="3924300" cy="1514475"/>
          </a:xfrm>
          <a:prstGeom prst="roundRect">
            <a:avLst>
              <a:gd name="adj" fmla="val 8805"/>
            </a:avLst>
          </a:prstGeom>
          <a:gradFill rotWithShape="1">
            <a:gsLst>
              <a:gs pos="0">
                <a:srgbClr val="FFF3EE">
                  <a:alpha val="100000"/>
                </a:srgbClr>
              </a:gs>
              <a:gs pos="100000">
                <a:srgbClr val="FFF8EA">
                  <a:alpha val="100000"/>
                </a:srgbClr>
              </a:gs>
            </a:gsLst>
            <a:lin ang="2700000" scaled="0"/>
          </a:gradFill>
          <a:ln w="19050">
            <a:solidFill>
              <a:srgbClr val="FFE7DC"/>
            </a:solidFill>
            <a:prstDash val="solid"/>
          </a:ln>
        </p:spPr>
      </p:sp>
      <p:sp>
        <p:nvSpPr>
          <p:cNvPr id="12" name="Text 10"/>
          <p:cNvSpPr/>
          <p:nvPr/>
        </p:nvSpPr>
        <p:spPr>
          <a:xfrm>
            <a:off x="9582150" y="4700588"/>
            <a:ext cx="3604260"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8C2F14"/>
                </a:solidFill>
                <a:latin typeface="Poppins" pitchFamily="34" charset="0"/>
                <a:ea typeface="Poppins" pitchFamily="34" charset="-122"/>
                <a:cs typeface="Poppins" pitchFamily="34" charset="-120"/>
              </a:rPr>
              <a:t>Exam in 26 days</a:t>
            </a:r>
            <a:endParaRPr lang="en-US" sz="2250" dirty="0"/>
          </a:p>
        </p:txBody>
      </p:sp>
      <p:sp>
        <p:nvSpPr>
          <p:cNvPr id="13" name="Text 11"/>
          <p:cNvSpPr/>
          <p:nvPr/>
        </p:nvSpPr>
        <p:spPr>
          <a:xfrm>
            <a:off x="9582150" y="5205413"/>
            <a:ext cx="3604260" cy="400050"/>
          </a:xfrm>
          <a:prstGeom prst="rect">
            <a:avLst/>
          </a:prstGeom>
          <a:noFill/>
          <a:ln/>
        </p:spPr>
        <p:txBody>
          <a:bodyPr wrap="square" lIns="25400" tIns="25400" rIns="25400" bIns="25400" rtlCol="0" anchor="t">
            <a:normAutofit/>
          </a:bodyPr>
          <a:lstStyle/>
          <a:p>
            <a:pPr algn="l" indent="0" marL="0">
              <a:buNone/>
            </a:pPr>
            <a:r>
              <a:rPr lang="en-US" sz="1875" dirty="0">
                <a:solidFill>
                  <a:srgbClr val="B23B17"/>
                </a:solidFill>
                <a:latin typeface="Poppins" pitchFamily="34" charset="0"/>
                <a:ea typeface="Poppins" pitchFamily="34" charset="-122"/>
                <a:cs typeface="Poppins" pitchFamily="34" charset="-120"/>
              </a:rPr>
              <a:t>38% through your plan</a:t>
            </a:r>
            <a:endParaRPr lang="en-US" sz="1875" dirty="0"/>
          </a:p>
        </p:txBody>
      </p:sp>
      <p:sp>
        <p:nvSpPr>
          <p:cNvPr id="14" name="Shape 12"/>
          <p:cNvSpPr/>
          <p:nvPr/>
        </p:nvSpPr>
        <p:spPr>
          <a:xfrm>
            <a:off x="13411200" y="4376738"/>
            <a:ext cx="3924300" cy="1514475"/>
          </a:xfrm>
          <a:prstGeom prst="roundRect">
            <a:avLst>
              <a:gd name="adj" fmla="val 8805"/>
            </a:avLst>
          </a:prstGeom>
          <a:solidFill>
            <a:srgbClr val="1A1917"/>
          </a:solidFill>
          <a:ln/>
          <a:effectLst>
            <a:outerShdw sx="100000" sy="100000" kx="0" ky="0" algn="bl" rotWithShape="0" blurRad="114300" dist="38100" dir="5400000">
              <a:srgbClr val="1A1917">
                <a:alpha val="8000"/>
              </a:srgbClr>
            </a:outerShdw>
          </a:effectLst>
        </p:spPr>
      </p:sp>
      <p:sp>
        <p:nvSpPr>
          <p:cNvPr id="15" name="Text 13"/>
          <p:cNvSpPr/>
          <p:nvPr/>
        </p:nvSpPr>
        <p:spPr>
          <a:xfrm>
            <a:off x="13716000" y="4681538"/>
            <a:ext cx="3646170"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Poppins" pitchFamily="34" charset="0"/>
                <a:ea typeface="Poppins" pitchFamily="34" charset="-122"/>
                <a:cs typeface="Poppins" pitchFamily="34" charset="-120"/>
              </a:rPr>
              <a:t>Inverse</a:t>
            </a:r>
            <a:endParaRPr lang="en-US" sz="2250" dirty="0"/>
          </a:p>
        </p:txBody>
      </p:sp>
      <p:sp>
        <p:nvSpPr>
          <p:cNvPr id="16" name="Text 14"/>
          <p:cNvSpPr/>
          <p:nvPr/>
        </p:nvSpPr>
        <p:spPr>
          <a:xfrm>
            <a:off x="13716000" y="5186363"/>
            <a:ext cx="3646170" cy="400050"/>
          </a:xfrm>
          <a:prstGeom prst="rect">
            <a:avLst/>
          </a:prstGeom>
          <a:noFill/>
          <a:ln/>
        </p:spPr>
        <p:txBody>
          <a:bodyPr wrap="square" lIns="25400" tIns="25400" rIns="25400" bIns="25400" rtlCol="0" anchor="t">
            <a:normAutofit/>
          </a:bodyPr>
          <a:lstStyle/>
          <a:p>
            <a:pPr algn="l" indent="0" marL="0">
              <a:buNone/>
            </a:pPr>
            <a:r>
              <a:rPr lang="en-US" sz="1875" dirty="0">
                <a:solidFill>
                  <a:srgbClr val="CBC6BD"/>
                </a:solidFill>
                <a:latin typeface="Poppins" pitchFamily="34" charset="0"/>
                <a:ea typeface="Poppins" pitchFamily="34" charset="-122"/>
                <a:cs typeface="Poppins" pitchFamily="34" charset="-120"/>
              </a:rPr>
              <a:t>on ink-950</a:t>
            </a:r>
            <a:endParaRPr lang="en-US" sz="1875" dirty="0"/>
          </a:p>
        </p:txBody>
      </p:sp>
      <p:sp>
        <p:nvSpPr>
          <p:cNvPr id="17" name="Text 15"/>
          <p:cNvSpPr/>
          <p:nvPr/>
        </p:nvSpPr>
        <p:spPr>
          <a:xfrm>
            <a:off x="952500" y="6310313"/>
            <a:ext cx="1802130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ACCORDION — ONE PANEL OPEN</a:t>
            </a:r>
            <a:endParaRPr lang="en-US" sz="2100" dirty="0"/>
          </a:p>
        </p:txBody>
      </p:sp>
      <p:sp>
        <p:nvSpPr>
          <p:cNvPr id="18" name="Shape 16"/>
          <p:cNvSpPr/>
          <p:nvPr/>
        </p:nvSpPr>
        <p:spPr>
          <a:xfrm>
            <a:off x="952500" y="6943725"/>
            <a:ext cx="16383000" cy="1831628"/>
          </a:xfrm>
          <a:prstGeom prst="roundRect">
            <a:avLst>
              <a:gd name="adj" fmla="val 7280"/>
            </a:avLst>
          </a:prstGeom>
          <a:solidFill>
            <a:srgbClr val="FFFFFF"/>
          </a:solidFill>
          <a:ln w="19050">
            <a:solidFill>
              <a:srgbClr val="EFECE7"/>
            </a:solidFill>
            <a:prstDash val="solid"/>
          </a:ln>
        </p:spPr>
      </p:sp>
      <p:sp>
        <p:nvSpPr>
          <p:cNvPr id="19" name="Shape 17"/>
          <p:cNvSpPr/>
          <p:nvPr/>
        </p:nvSpPr>
        <p:spPr>
          <a:xfrm>
            <a:off x="971550" y="6962775"/>
            <a:ext cx="16344900" cy="985838"/>
          </a:xfrm>
          <a:prstGeom prst="rect">
            <a:avLst/>
          </a:prstGeom>
          <a:solidFill>
            <a:srgbClr val="FFF5F0"/>
          </a:solidFill>
          <a:ln/>
        </p:spPr>
      </p:sp>
      <p:sp>
        <p:nvSpPr>
          <p:cNvPr id="20" name="Text 18"/>
          <p:cNvSpPr/>
          <p:nvPr/>
        </p:nvSpPr>
        <p:spPr>
          <a:xfrm>
            <a:off x="1276350" y="7229475"/>
            <a:ext cx="14591801" cy="490538"/>
          </a:xfrm>
          <a:prstGeom prst="rect">
            <a:avLst/>
          </a:prstGeom>
          <a:noFill/>
          <a:ln/>
        </p:spPr>
        <p:txBody>
          <a:bodyPr wrap="square" lIns="25400" tIns="25400" rIns="25400" bIns="25400" rtlCol="0" anchor="t">
            <a:normAutofit/>
          </a:bodyPr>
          <a:lstStyle/>
          <a:p>
            <a:pPr algn="l" indent="0" marL="0">
              <a:buNone/>
            </a:pPr>
            <a:r>
              <a:rPr lang="en-US" sz="2400" b="1" dirty="0">
                <a:solidFill>
                  <a:srgbClr val="B23B17"/>
                </a:solidFill>
                <a:latin typeface="Poppins" pitchFamily="34" charset="0"/>
                <a:ea typeface="Poppins" pitchFamily="34" charset="-122"/>
                <a:cs typeface="Poppins" pitchFamily="34" charset="-120"/>
              </a:rPr>
              <a:t>Domain 1: Design Resilient Architectures</a:t>
            </a:r>
            <a:endParaRPr lang="en-US" sz="2400" dirty="0"/>
          </a:p>
        </p:txBody>
      </p:sp>
      <p:sp>
        <p:nvSpPr>
          <p:cNvPr id="21" name="Text 19"/>
          <p:cNvSpPr/>
          <p:nvPr/>
        </p:nvSpPr>
        <p:spPr>
          <a:xfrm>
            <a:off x="14732124" y="7269956"/>
            <a:ext cx="2067424"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12 lessons · 26%</a:t>
            </a:r>
            <a:endParaRPr lang="en-US" sz="1950" dirty="0"/>
          </a:p>
        </p:txBody>
      </p:sp>
      <p:sp>
        <p:nvSpPr>
          <p:cNvPr id="22" name="Text 20"/>
          <p:cNvSpPr/>
          <p:nvPr/>
        </p:nvSpPr>
        <p:spPr>
          <a:xfrm>
            <a:off x="16802100" y="7296150"/>
            <a:ext cx="285750" cy="357188"/>
          </a:xfrm>
          <a:prstGeom prst="rect">
            <a:avLst/>
          </a:prstGeom>
          <a:noFill/>
          <a:ln/>
        </p:spPr>
        <p:txBody>
          <a:bodyPr wrap="square" lIns="25400" tIns="25400" rIns="25400" bIns="25400" rtlCol="0" anchor="t">
            <a:normAutofit/>
          </a:bodyPr>
          <a:lstStyle/>
          <a:p>
            <a:pPr algn="l" indent="0" marL="0">
              <a:buNone/>
            </a:pPr>
            <a:r>
              <a:rPr lang="en-US" sz="1650" dirty="0">
                <a:solidFill>
                  <a:srgbClr val="F0602A"/>
                </a:solidFill>
                <a:latin typeface="Poppins" pitchFamily="34" charset="0"/>
                <a:ea typeface="Poppins" pitchFamily="34" charset="-122"/>
                <a:cs typeface="Poppins" pitchFamily="34" charset="-120"/>
              </a:rPr>
              <a:t>▲</a:t>
            </a:r>
            <a:endParaRPr lang="en-US" sz="1650" dirty="0"/>
          </a:p>
        </p:txBody>
      </p:sp>
      <p:sp>
        <p:nvSpPr>
          <p:cNvPr id="23" name="Text 21"/>
          <p:cNvSpPr/>
          <p:nvPr/>
        </p:nvSpPr>
        <p:spPr>
          <a:xfrm>
            <a:off x="1276350" y="8024813"/>
            <a:ext cx="16225647" cy="46479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4E4A43"/>
                </a:solidFill>
                <a:latin typeface="Poppins" pitchFamily="34" charset="0"/>
                <a:ea typeface="Poppins" pitchFamily="34" charset="-122"/>
                <a:cs typeface="Poppins" pitchFamily="34" charset="-120"/>
              </a:rPr>
              <a:t>Multi-AZ patterns, decoupling with SQS and EventBridge, failover and recovery objectives.</a:t>
            </a:r>
            <a:endParaRPr lang="en-US" sz="2100" dirty="0"/>
          </a:p>
        </p:txBody>
      </p:sp>
      <p:sp>
        <p:nvSpPr>
          <p:cNvPr id="24" name="Shape 22"/>
          <p:cNvSpPr/>
          <p:nvPr/>
        </p:nvSpPr>
        <p:spPr>
          <a:xfrm>
            <a:off x="952500" y="9003953"/>
            <a:ext cx="16383000" cy="19050"/>
          </a:xfrm>
          <a:prstGeom prst="rect">
            <a:avLst/>
          </a:prstGeom>
          <a:solidFill>
            <a:srgbClr val="E2DED7"/>
          </a:solidFill>
          <a:ln/>
        </p:spPr>
      </p:sp>
      <p:sp>
        <p:nvSpPr>
          <p:cNvPr id="25" name="Text 23"/>
          <p:cNvSpPr/>
          <p:nvPr/>
        </p:nvSpPr>
        <p:spPr>
          <a:xfrm>
            <a:off x="952500" y="9213503"/>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Paper · Accordion · AppBar · Card</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Overlays</a:t>
            </a:r>
            <a:endParaRPr lang="en-US" sz="4800" dirty="0"/>
          </a:p>
        </p:txBody>
      </p:sp>
      <p:sp>
        <p:nvSpPr>
          <p:cNvPr id="3" name="Text 1"/>
          <p:cNvSpPr/>
          <p:nvPr/>
        </p:nvSpPr>
        <p:spPr>
          <a:xfrm>
            <a:off x="952500" y="1790700"/>
            <a:ext cx="13162501" cy="1452563"/>
          </a:xfrm>
          <a:prstGeom prst="rect">
            <a:avLst/>
          </a:prstGeom>
          <a:noFill/>
          <a:ln/>
        </p:spPr>
        <p:txBody>
          <a:bodyPr wrap="square" lIns="25400" tIns="25400" rIns="25400" bIns="25400" rtlCol="0" anchor="t">
            <a:normAutofit/>
          </a:bodyPr>
          <a:lstStyle/>
          <a:p>
            <a:pPr algn="l" indent="0" marL="0">
              <a:lnSpc>
                <a:spcPct val="100000"/>
              </a:lnSpc>
              <a:buNone/>
            </a:pPr>
            <a:r>
              <a:rPr lang="en-US" sz="2475" dirty="0">
                <a:solidFill>
                  <a:srgbClr val="4E4A43"/>
                </a:solidFill>
                <a:latin typeface="Poppins" pitchFamily="34" charset="0"/>
                <a:ea typeface="Poppins" pitchFamily="34" charset="-122"/>
                <a:cs typeface="Poppins" pitchFamily="34" charset="-120"/>
              </a:rPr>
              <a:t>Ordered by cost to the learner: snackbar confirms, tooltip explains, dialog demands a decision, backdrop stops everything. Use the cheapest one that does the job.</a:t>
            </a:r>
            <a:endParaRPr lang="en-US" sz="2475" dirty="0"/>
          </a:p>
        </p:txBody>
      </p:sp>
      <p:sp>
        <p:nvSpPr>
          <p:cNvPr id="4" name="Text 2"/>
          <p:cNvSpPr/>
          <p:nvPr/>
        </p:nvSpPr>
        <p:spPr>
          <a:xfrm>
            <a:off x="952500" y="3586163"/>
            <a:ext cx="9325384" cy="409575"/>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8A847A"/>
                </a:solidFill>
                <a:latin typeface="Poppins" pitchFamily="34" charset="0"/>
                <a:ea typeface="Poppins" pitchFamily="34" charset="-122"/>
                <a:cs typeface="Poppins" pitchFamily="34" charset="-120"/>
              </a:rPr>
              <a:t>DIALOG</a:t>
            </a:r>
            <a:endParaRPr lang="en-US" sz="1950" dirty="0"/>
          </a:p>
        </p:txBody>
      </p:sp>
      <p:sp>
        <p:nvSpPr>
          <p:cNvPr id="5" name="Shape 3"/>
          <p:cNvSpPr/>
          <p:nvPr/>
        </p:nvSpPr>
        <p:spPr>
          <a:xfrm>
            <a:off x="952500" y="4110038"/>
            <a:ext cx="8477622" cy="2941290"/>
          </a:xfrm>
          <a:prstGeom prst="roundRect">
            <a:avLst>
              <a:gd name="adj" fmla="val 6477"/>
            </a:avLst>
          </a:prstGeom>
          <a:solidFill>
            <a:srgbClr val="FFFFFF"/>
          </a:solidFill>
          <a:ln/>
          <a:effectLst>
            <a:outerShdw sx="100000" sy="100000" kx="0" ky="0" algn="bl" rotWithShape="0" blurRad="533400" dist="228600" dir="5400000">
              <a:srgbClr val="1A1917">
                <a:alpha val="14000"/>
              </a:srgbClr>
            </a:outerShdw>
          </a:effectLst>
        </p:spPr>
      </p:sp>
      <p:sp>
        <p:nvSpPr>
          <p:cNvPr id="6" name="Text 4"/>
          <p:cNvSpPr/>
          <p:nvPr/>
        </p:nvSpPr>
        <p:spPr>
          <a:xfrm>
            <a:off x="1276350" y="4395788"/>
            <a:ext cx="8612914" cy="552450"/>
          </a:xfrm>
          <a:prstGeom prst="rect">
            <a:avLst/>
          </a:prstGeom>
          <a:noFill/>
          <a:ln/>
        </p:spPr>
        <p:txBody>
          <a:bodyPr wrap="square" lIns="25400" tIns="25400" rIns="25400" bIns="25400" rtlCol="0" anchor="t">
            <a:normAutofit/>
          </a:bodyPr>
          <a:lstStyle/>
          <a:p>
            <a:pPr algn="l" indent="0" marL="0">
              <a:buNone/>
            </a:pPr>
            <a:r>
              <a:rPr lang="en-US" sz="2700" b="1" spc="-27" kern="0" dirty="0">
                <a:solidFill>
                  <a:srgbClr val="1A1917"/>
                </a:solidFill>
                <a:latin typeface="Poppins" pitchFamily="34" charset="0"/>
                <a:ea typeface="Poppins" pitchFamily="34" charset="-122"/>
                <a:cs typeface="Poppins" pitchFamily="34" charset="-120"/>
              </a:rPr>
              <a:t>Submit attempt?</a:t>
            </a:r>
            <a:endParaRPr lang="en-US" sz="2700" dirty="0"/>
          </a:p>
        </p:txBody>
      </p:sp>
      <p:sp>
        <p:nvSpPr>
          <p:cNvPr id="7" name="Text 5"/>
          <p:cNvSpPr/>
          <p:nvPr/>
        </p:nvSpPr>
        <p:spPr>
          <a:xfrm>
            <a:off x="1276350" y="5024438"/>
            <a:ext cx="8064820" cy="864840"/>
          </a:xfrm>
          <a:prstGeom prst="rect">
            <a:avLst/>
          </a:prstGeom>
          <a:noFill/>
          <a:ln/>
        </p:spPr>
        <p:txBody>
          <a:bodyPr wrap="square" lIns="25400" tIns="25400" rIns="25400" bIns="25400" rtlCol="0" anchor="t">
            <a:normAutofit/>
          </a:bodyPr>
          <a:lstStyle/>
          <a:p>
            <a:pPr algn="l" indent="0" marL="0">
              <a:lnSpc>
                <a:spcPct val="102118"/>
              </a:lnSpc>
              <a:buNone/>
            </a:pPr>
            <a:r>
              <a:rPr lang="en-US" sz="2100" dirty="0">
                <a:solidFill>
                  <a:srgbClr val="4E4A43"/>
                </a:solidFill>
                <a:latin typeface="Poppins" pitchFamily="34" charset="0"/>
                <a:ea typeface="Poppins" pitchFamily="34" charset="-122"/>
                <a:cs typeface="Poppins" pitchFamily="34" charset="-120"/>
              </a:rPr>
              <a:t>14 questions are still unanswered. Submitting ends the attempt and scores it immediately.</a:t>
            </a:r>
            <a:endParaRPr lang="en-US" sz="2100" dirty="0"/>
          </a:p>
        </p:txBody>
      </p:sp>
      <p:sp>
        <p:nvSpPr>
          <p:cNvPr id="8" name="Shape 6"/>
          <p:cNvSpPr/>
          <p:nvPr/>
        </p:nvSpPr>
        <p:spPr>
          <a:xfrm>
            <a:off x="952500" y="6098828"/>
            <a:ext cx="8477622" cy="952500"/>
          </a:xfrm>
          <a:prstGeom prst="rect">
            <a:avLst/>
          </a:prstGeom>
          <a:solidFill>
            <a:srgbClr val="F9F7F4"/>
          </a:solidFill>
          <a:ln/>
        </p:spPr>
      </p:sp>
      <p:sp>
        <p:nvSpPr>
          <p:cNvPr id="9" name="Shape 7"/>
          <p:cNvSpPr/>
          <p:nvPr/>
        </p:nvSpPr>
        <p:spPr>
          <a:xfrm>
            <a:off x="952500" y="6098828"/>
            <a:ext cx="8477622" cy="19050"/>
          </a:xfrm>
          <a:prstGeom prst="rect">
            <a:avLst/>
          </a:prstGeom>
          <a:solidFill>
            <a:srgbClr val="EFECE7"/>
          </a:solidFill>
          <a:ln/>
        </p:spPr>
      </p:sp>
      <p:sp>
        <p:nvSpPr>
          <p:cNvPr id="10" name="Shape 8"/>
          <p:cNvSpPr/>
          <p:nvPr/>
        </p:nvSpPr>
        <p:spPr>
          <a:xfrm>
            <a:off x="5684788" y="6308378"/>
            <a:ext cx="1901726" cy="552450"/>
          </a:xfrm>
          <a:prstGeom prst="roundRect">
            <a:avLst>
              <a:gd name="adj" fmla="val 17241"/>
            </a:avLst>
          </a:prstGeom>
          <a:solidFill>
            <a:srgbClr val="FFFFFF"/>
          </a:solidFill>
          <a:ln w="19050">
            <a:solidFill>
              <a:srgbClr val="E2DED7"/>
            </a:solidFill>
            <a:prstDash val="solid"/>
          </a:ln>
        </p:spPr>
      </p:sp>
      <p:sp>
        <p:nvSpPr>
          <p:cNvPr id="11" name="Text 9"/>
          <p:cNvSpPr/>
          <p:nvPr/>
        </p:nvSpPr>
        <p:spPr>
          <a:xfrm>
            <a:off x="5951488" y="6327428"/>
            <a:ext cx="1444526" cy="552450"/>
          </a:xfrm>
          <a:prstGeom prst="rect">
            <a:avLst/>
          </a:prstGeom>
          <a:noFill/>
          <a:ln/>
        </p:spPr>
        <p:txBody>
          <a:bodyPr wrap="square" lIns="25400" tIns="25400" rIns="25400" bIns="25400" rtlCol="0" anchor="ctr">
            <a:normAutofit/>
          </a:bodyPr>
          <a:lstStyle/>
          <a:p>
            <a:pPr algn="l" indent="0" marL="0">
              <a:buNone/>
            </a:pPr>
            <a:r>
              <a:rPr lang="en-US" sz="1875" b="1" dirty="0">
                <a:solidFill>
                  <a:srgbClr val="1A1917"/>
                </a:solidFill>
                <a:latin typeface="Poppins" pitchFamily="34" charset="0"/>
                <a:ea typeface="Poppins" pitchFamily="34" charset="-122"/>
                <a:cs typeface="Poppins" pitchFamily="34" charset="-120"/>
              </a:rPr>
              <a:t>Keep going</a:t>
            </a:r>
            <a:endParaRPr lang="en-US" sz="1875" dirty="0"/>
          </a:p>
        </p:txBody>
      </p:sp>
      <p:sp>
        <p:nvSpPr>
          <p:cNvPr id="12" name="Shape 10"/>
          <p:cNvSpPr/>
          <p:nvPr/>
        </p:nvSpPr>
        <p:spPr>
          <a:xfrm>
            <a:off x="7738914" y="6308378"/>
            <a:ext cx="1367358" cy="514350"/>
          </a:xfrm>
          <a:prstGeom prst="roundRect">
            <a:avLst>
              <a:gd name="adj" fmla="val 18519"/>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3" name="Text 11"/>
          <p:cNvSpPr/>
          <p:nvPr/>
        </p:nvSpPr>
        <p:spPr>
          <a:xfrm>
            <a:off x="7986564" y="6308378"/>
            <a:ext cx="948258" cy="552450"/>
          </a:xfrm>
          <a:prstGeom prst="rect">
            <a:avLst/>
          </a:prstGeom>
          <a:noFill/>
          <a:ln/>
        </p:spPr>
        <p:txBody>
          <a:bodyPr wrap="square" lIns="25400" tIns="25400" rIns="25400" bIns="25400" rtlCol="0" anchor="ctr">
            <a:normAutofit/>
          </a:bodyPr>
          <a:lstStyle/>
          <a:p>
            <a:pPr algn="l" indent="0" marL="0">
              <a:buNone/>
            </a:pPr>
            <a:r>
              <a:rPr lang="en-US" sz="1875" b="1" dirty="0">
                <a:solidFill>
                  <a:srgbClr val="FFFFFF"/>
                </a:solidFill>
                <a:latin typeface="Poppins" pitchFamily="34" charset="0"/>
                <a:ea typeface="Poppins" pitchFamily="34" charset="-122"/>
                <a:cs typeface="Poppins" pitchFamily="34" charset="-120"/>
              </a:rPr>
              <a:t>Submit</a:t>
            </a:r>
            <a:endParaRPr lang="en-US" sz="1875" dirty="0"/>
          </a:p>
        </p:txBody>
      </p:sp>
      <p:sp>
        <p:nvSpPr>
          <p:cNvPr id="14" name="Text 12"/>
          <p:cNvSpPr/>
          <p:nvPr/>
        </p:nvSpPr>
        <p:spPr>
          <a:xfrm>
            <a:off x="9963522" y="3586163"/>
            <a:ext cx="8109094" cy="409575"/>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8A847A"/>
                </a:solidFill>
                <a:latin typeface="Poppins" pitchFamily="34" charset="0"/>
                <a:ea typeface="Poppins" pitchFamily="34" charset="-122"/>
                <a:cs typeface="Poppins" pitchFamily="34" charset="-120"/>
              </a:rPr>
              <a:t>SNACKBAR</a:t>
            </a:r>
            <a:endParaRPr lang="en-US" sz="1950" dirty="0"/>
          </a:p>
        </p:txBody>
      </p:sp>
      <p:sp>
        <p:nvSpPr>
          <p:cNvPr id="15" name="Shape 13"/>
          <p:cNvSpPr/>
          <p:nvPr/>
        </p:nvSpPr>
        <p:spPr>
          <a:xfrm>
            <a:off x="9963522" y="4129088"/>
            <a:ext cx="4030340" cy="904875"/>
          </a:xfrm>
          <a:prstGeom prst="roundRect">
            <a:avLst>
              <a:gd name="adj" fmla="val 10526"/>
            </a:avLst>
          </a:prstGeom>
          <a:solidFill>
            <a:srgbClr val="12A150"/>
          </a:solidFill>
          <a:ln/>
          <a:effectLst>
            <a:outerShdw sx="100000" sy="100000" kx="0" ky="0" algn="bl" rotWithShape="0" blurRad="266700" dist="114300" dir="5400000">
              <a:srgbClr val="1A1917">
                <a:alpha val="10000"/>
              </a:srgbClr>
            </a:outerShdw>
          </a:effectLst>
        </p:spPr>
      </p:sp>
      <p:sp>
        <p:nvSpPr>
          <p:cNvPr id="16" name="Text 14"/>
          <p:cNvSpPr/>
          <p:nvPr/>
        </p:nvSpPr>
        <p:spPr>
          <a:xfrm>
            <a:off x="10192122" y="4395788"/>
            <a:ext cx="265509" cy="409575"/>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Poppins" pitchFamily="34" charset="0"/>
                <a:ea typeface="Poppins" pitchFamily="34" charset="-122"/>
                <a:cs typeface="Poppins" pitchFamily="34" charset="-120"/>
              </a:rPr>
              <a:t>✓</a:t>
            </a:r>
            <a:endParaRPr lang="en-US" sz="1950" dirty="0"/>
          </a:p>
        </p:txBody>
      </p:sp>
      <p:sp>
        <p:nvSpPr>
          <p:cNvPr id="17" name="Text 15"/>
          <p:cNvSpPr/>
          <p:nvPr/>
        </p:nvSpPr>
        <p:spPr>
          <a:xfrm>
            <a:off x="10552881" y="4379119"/>
            <a:ext cx="2197410" cy="442913"/>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Poppins" pitchFamily="34" charset="0"/>
                <a:ea typeface="Poppins" pitchFamily="34" charset="-122"/>
                <a:cs typeface="Poppins" pitchFamily="34" charset="-120"/>
              </a:rPr>
              <a:t>Attempt saved</a:t>
            </a:r>
            <a:endParaRPr lang="en-US" sz="2100" dirty="0"/>
          </a:p>
        </p:txBody>
      </p:sp>
      <p:sp>
        <p:nvSpPr>
          <p:cNvPr id="18" name="Shape 16"/>
          <p:cNvSpPr/>
          <p:nvPr/>
        </p:nvSpPr>
        <p:spPr>
          <a:xfrm>
            <a:off x="12721977" y="4300538"/>
            <a:ext cx="1043285" cy="561975"/>
          </a:xfrm>
          <a:prstGeom prst="roundRect">
            <a:avLst>
              <a:gd name="adj" fmla="val 13559"/>
            </a:avLst>
          </a:prstGeom>
          <a:ln w="19050">
            <a:solidFill>
              <a:srgbClr val="FFFFFF">
                <a:alpha val="50000"/>
              </a:srgbClr>
            </a:solidFill>
            <a:prstDash val="solid"/>
          </a:ln>
        </p:spPr>
      </p:sp>
      <p:sp>
        <p:nvSpPr>
          <p:cNvPr id="19" name="Text 17"/>
          <p:cNvSpPr/>
          <p:nvPr/>
        </p:nvSpPr>
        <p:spPr>
          <a:xfrm>
            <a:off x="12912477" y="4395788"/>
            <a:ext cx="738485"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Poppins" pitchFamily="34" charset="0"/>
                <a:ea typeface="Poppins" pitchFamily="34" charset="-122"/>
                <a:cs typeface="Poppins" pitchFamily="34" charset="-120"/>
              </a:rPr>
              <a:t>Undo</a:t>
            </a:r>
            <a:endParaRPr lang="en-US" sz="1950" dirty="0"/>
          </a:p>
        </p:txBody>
      </p:sp>
      <p:sp>
        <p:nvSpPr>
          <p:cNvPr id="20" name="Text 18"/>
          <p:cNvSpPr/>
          <p:nvPr/>
        </p:nvSpPr>
        <p:spPr>
          <a:xfrm>
            <a:off x="9963522" y="5300663"/>
            <a:ext cx="8109094" cy="409575"/>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8A847A"/>
                </a:solidFill>
                <a:latin typeface="Poppins" pitchFamily="34" charset="0"/>
                <a:ea typeface="Poppins" pitchFamily="34" charset="-122"/>
                <a:cs typeface="Poppins" pitchFamily="34" charset="-120"/>
              </a:rPr>
              <a:t>TOOLTIP</a:t>
            </a:r>
            <a:endParaRPr lang="en-US" sz="1950" dirty="0"/>
          </a:p>
        </p:txBody>
      </p:sp>
      <p:sp>
        <p:nvSpPr>
          <p:cNvPr id="21" name="Shape 19"/>
          <p:cNvSpPr/>
          <p:nvPr/>
        </p:nvSpPr>
        <p:spPr>
          <a:xfrm>
            <a:off x="9963522" y="5824538"/>
            <a:ext cx="2186880" cy="638175"/>
          </a:xfrm>
          <a:prstGeom prst="roundRect">
            <a:avLst>
              <a:gd name="adj" fmla="val 11940"/>
            </a:avLst>
          </a:prstGeom>
          <a:solidFill>
            <a:srgbClr val="1A1917"/>
          </a:solidFill>
          <a:ln/>
        </p:spPr>
      </p:sp>
      <p:sp>
        <p:nvSpPr>
          <p:cNvPr id="22" name="Text 20"/>
          <p:cNvSpPr/>
          <p:nvPr/>
        </p:nvSpPr>
        <p:spPr>
          <a:xfrm>
            <a:off x="10154022" y="5957888"/>
            <a:ext cx="1882080" cy="409575"/>
          </a:xfrm>
          <a:prstGeom prst="rect">
            <a:avLst/>
          </a:prstGeom>
          <a:noFill/>
          <a:ln/>
        </p:spPr>
        <p:txBody>
          <a:bodyPr wrap="square" lIns="25400" tIns="25400" rIns="25400" bIns="25400" rtlCol="0" anchor="t">
            <a:normAutofit/>
          </a:bodyPr>
          <a:lstStyle/>
          <a:p>
            <a:pPr algn="l" indent="0" marL="0">
              <a:buNone/>
            </a:pPr>
            <a:r>
              <a:rPr lang="en-US" sz="1950" dirty="0">
                <a:solidFill>
                  <a:srgbClr val="FFFFFF"/>
                </a:solidFill>
                <a:latin typeface="Poppins" pitchFamily="34" charset="0"/>
                <a:ea typeface="Poppins" pitchFamily="34" charset="-122"/>
                <a:cs typeface="Poppins" pitchFamily="34" charset="-120"/>
              </a:rPr>
              <a:t>Flag for review</a:t>
            </a:r>
            <a:endParaRPr lang="en-US" sz="1950" dirty="0"/>
          </a:p>
        </p:txBody>
      </p:sp>
      <p:sp>
        <p:nvSpPr>
          <p:cNvPr id="23" name="Shape 21"/>
          <p:cNvSpPr/>
          <p:nvPr/>
        </p:nvSpPr>
        <p:spPr>
          <a:xfrm>
            <a:off x="10752162" y="6577013"/>
            <a:ext cx="609600" cy="609600"/>
          </a:xfrm>
          <a:prstGeom prst="roundRect">
            <a:avLst>
              <a:gd name="adj" fmla="val 15625"/>
            </a:avLst>
          </a:prstGeom>
          <a:solidFill>
            <a:srgbClr val="FFFFFF"/>
          </a:solidFill>
          <a:ln w="19050">
            <a:solidFill>
              <a:srgbClr val="E2DED7"/>
            </a:solidFill>
            <a:prstDash val="solid"/>
          </a:ln>
        </p:spPr>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90262" y="6615113"/>
            <a:ext cx="533400" cy="533400"/>
          </a:xfrm>
          <a:prstGeom prst="rect">
            <a:avLst/>
          </a:prstGeom>
        </p:spPr>
      </p:pic>
      <p:sp>
        <p:nvSpPr>
          <p:cNvPr id="25" name="Text 22"/>
          <p:cNvSpPr/>
          <p:nvPr/>
        </p:nvSpPr>
        <p:spPr>
          <a:xfrm>
            <a:off x="9963522" y="7453312"/>
            <a:ext cx="8109094" cy="409575"/>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8A847A"/>
                </a:solidFill>
                <a:latin typeface="Poppins" pitchFamily="34" charset="0"/>
                <a:ea typeface="Poppins" pitchFamily="34" charset="-122"/>
                <a:cs typeface="Poppins" pitchFamily="34" charset="-120"/>
              </a:rPr>
              <a:t>BACKDROP AND SPINNER</a:t>
            </a:r>
            <a:endParaRPr lang="en-US" sz="1950" dirty="0"/>
          </a:p>
        </p:txBody>
      </p:sp>
      <p:sp>
        <p:nvSpPr>
          <p:cNvPr id="26" name="Shape 23"/>
          <p:cNvSpPr/>
          <p:nvPr/>
        </p:nvSpPr>
        <p:spPr>
          <a:xfrm>
            <a:off x="9963522" y="7977188"/>
            <a:ext cx="7371904" cy="895350"/>
          </a:xfrm>
          <a:prstGeom prst="roundRect">
            <a:avLst>
              <a:gd name="adj" fmla="val 10638"/>
            </a:avLst>
          </a:prstGeom>
          <a:solidFill>
            <a:srgbClr val="1A1917">
              <a:alpha val="90000"/>
            </a:srgbClr>
          </a:solidFill>
          <a:ln/>
        </p:spPr>
      </p:sp>
      <p:sp>
        <p:nvSpPr>
          <p:cNvPr id="27" name="Shape 24"/>
          <p:cNvSpPr/>
          <p:nvPr/>
        </p:nvSpPr>
        <p:spPr>
          <a:xfrm>
            <a:off x="10211172" y="8634413"/>
            <a:ext cx="514350" cy="47625"/>
          </a:xfrm>
          <a:prstGeom prst="rect">
            <a:avLst/>
          </a:prstGeom>
          <a:solidFill>
            <a:srgbClr val="FFFFFF">
              <a:alpha val="25000"/>
            </a:srgbClr>
          </a:solidFill>
          <a:ln/>
        </p:spPr>
      </p:sp>
      <p:sp>
        <p:nvSpPr>
          <p:cNvPr id="28" name="Shape 25"/>
          <p:cNvSpPr/>
          <p:nvPr/>
        </p:nvSpPr>
        <p:spPr>
          <a:xfrm>
            <a:off x="10211172" y="8167687"/>
            <a:ext cx="514350" cy="47625"/>
          </a:xfrm>
          <a:prstGeom prst="rect">
            <a:avLst/>
          </a:prstGeom>
          <a:solidFill>
            <a:srgbClr val="FFFFFF"/>
          </a:solidFill>
          <a:ln/>
        </p:spPr>
      </p:sp>
      <p:sp>
        <p:nvSpPr>
          <p:cNvPr id="29" name="Shape 26"/>
          <p:cNvSpPr/>
          <p:nvPr/>
        </p:nvSpPr>
        <p:spPr>
          <a:xfrm>
            <a:off x="10211172" y="8167687"/>
            <a:ext cx="47625" cy="514350"/>
          </a:xfrm>
          <a:prstGeom prst="rect">
            <a:avLst/>
          </a:prstGeom>
          <a:solidFill>
            <a:srgbClr val="FFFFFF">
              <a:alpha val="25000"/>
            </a:srgbClr>
          </a:solidFill>
          <a:ln/>
        </p:spPr>
      </p:sp>
      <p:sp>
        <p:nvSpPr>
          <p:cNvPr id="30" name="Shape 27"/>
          <p:cNvSpPr/>
          <p:nvPr/>
        </p:nvSpPr>
        <p:spPr>
          <a:xfrm>
            <a:off x="10677897" y="8167687"/>
            <a:ext cx="47625" cy="514350"/>
          </a:xfrm>
          <a:prstGeom prst="rect">
            <a:avLst/>
          </a:prstGeom>
          <a:solidFill>
            <a:srgbClr val="FFFFFF">
              <a:alpha val="25000"/>
            </a:srgbClr>
          </a:solidFill>
          <a:ln/>
        </p:spPr>
      </p:sp>
      <p:sp>
        <p:nvSpPr>
          <p:cNvPr id="31" name="Text 28"/>
          <p:cNvSpPr/>
          <p:nvPr/>
        </p:nvSpPr>
        <p:spPr>
          <a:xfrm>
            <a:off x="10935072" y="8222456"/>
            <a:ext cx="3228543" cy="442913"/>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Poppins" pitchFamily="34" charset="0"/>
                <a:ea typeface="Poppins" pitchFamily="34" charset="-122"/>
                <a:cs typeface="Poppins" pitchFamily="34" charset="-120"/>
              </a:rPr>
              <a:t>Grading your attempt</a:t>
            </a:r>
            <a:endParaRPr lang="en-US" sz="2100" dirty="0"/>
          </a:p>
        </p:txBody>
      </p:sp>
      <p:sp>
        <p:nvSpPr>
          <p:cNvPr id="32" name="Shape 29"/>
          <p:cNvSpPr/>
          <p:nvPr/>
        </p:nvSpPr>
        <p:spPr>
          <a:xfrm>
            <a:off x="952500" y="9234488"/>
            <a:ext cx="16383000" cy="19050"/>
          </a:xfrm>
          <a:prstGeom prst="rect">
            <a:avLst/>
          </a:prstGeom>
          <a:solidFill>
            <a:srgbClr val="E2DED7"/>
          </a:solidFill>
          <a:ln/>
        </p:spPr>
      </p:sp>
      <p:sp>
        <p:nvSpPr>
          <p:cNvPr id="33" name="Text 30"/>
          <p:cNvSpPr/>
          <p:nvPr/>
        </p:nvSpPr>
        <p:spPr>
          <a:xfrm>
            <a:off x="952500" y="94440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Dialog · Snackbar · Tooltip · Backdrop · Spinner</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7239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Wayfinding</a:t>
            </a:r>
            <a:endParaRPr lang="en-US" sz="4800" dirty="0"/>
          </a:p>
        </p:txBody>
      </p:sp>
      <p:sp>
        <p:nvSpPr>
          <p:cNvPr id="3" name="Text 1"/>
          <p:cNvSpPr/>
          <p:nvPr/>
        </p:nvSpPr>
        <p:spPr>
          <a:xfrm>
            <a:off x="952500" y="1790700"/>
            <a:ext cx="11917609"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Stepper for a flow with a known end. Menu for actions, destructive ones last. Bottom nav for mobile, 3–5 destinations, rows never under 56px.</a:t>
            </a:r>
            <a:endParaRPr lang="en-US" sz="2550" dirty="0"/>
          </a:p>
        </p:txBody>
      </p:sp>
      <p:sp>
        <p:nvSpPr>
          <p:cNvPr id="4" name="Shape 2"/>
          <p:cNvSpPr/>
          <p:nvPr/>
        </p:nvSpPr>
        <p:spPr>
          <a:xfrm>
            <a:off x="3000375" y="3505200"/>
            <a:ext cx="2047875" cy="38100"/>
          </a:xfrm>
          <a:prstGeom prst="rect">
            <a:avLst/>
          </a:prstGeom>
          <a:solidFill>
            <a:srgbClr val="FFCAB2"/>
          </a:solidFill>
          <a:ln/>
        </p:spPr>
      </p:sp>
      <p:sp>
        <p:nvSpPr>
          <p:cNvPr id="5" name="Shape 3"/>
          <p:cNvSpPr/>
          <p:nvPr/>
        </p:nvSpPr>
        <p:spPr>
          <a:xfrm>
            <a:off x="2733675" y="3257550"/>
            <a:ext cx="533400" cy="533400"/>
          </a:xfrm>
          <a:prstGeom prst="ellipse">
            <a:avLst/>
          </a:prstGeom>
          <a:solidFill>
            <a:srgbClr val="12A150"/>
          </a:solidFill>
          <a:ln/>
        </p:spPr>
      </p:sp>
      <p:sp>
        <p:nvSpPr>
          <p:cNvPr id="6" name="Text 4"/>
          <p:cNvSpPr/>
          <p:nvPr/>
        </p:nvSpPr>
        <p:spPr>
          <a:xfrm>
            <a:off x="2695575" y="32575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Poppins" pitchFamily="34" charset="0"/>
                <a:ea typeface="Poppins" pitchFamily="34" charset="-122"/>
                <a:cs typeface="Poppins" pitchFamily="34" charset="-120"/>
              </a:rPr>
              <a:t>✓</a:t>
            </a:r>
            <a:endParaRPr lang="en-US" sz="1950" dirty="0"/>
          </a:p>
        </p:txBody>
      </p:sp>
      <p:sp>
        <p:nvSpPr>
          <p:cNvPr id="7" name="Text 5"/>
          <p:cNvSpPr/>
          <p:nvPr/>
        </p:nvSpPr>
        <p:spPr>
          <a:xfrm>
            <a:off x="2074590" y="3943350"/>
            <a:ext cx="2036646"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Choose exam</a:t>
            </a:r>
            <a:endParaRPr lang="en-US" sz="2100" dirty="0"/>
          </a:p>
        </p:txBody>
      </p:sp>
      <p:sp>
        <p:nvSpPr>
          <p:cNvPr id="8" name="Shape 6"/>
          <p:cNvSpPr/>
          <p:nvPr/>
        </p:nvSpPr>
        <p:spPr>
          <a:xfrm>
            <a:off x="5048250" y="3505200"/>
            <a:ext cx="2047875" cy="38100"/>
          </a:xfrm>
          <a:prstGeom prst="rect">
            <a:avLst/>
          </a:prstGeom>
          <a:solidFill>
            <a:srgbClr val="FFCAB2"/>
          </a:solidFill>
          <a:ln/>
        </p:spPr>
      </p:sp>
      <p:sp>
        <p:nvSpPr>
          <p:cNvPr id="9" name="Shape 7"/>
          <p:cNvSpPr/>
          <p:nvPr/>
        </p:nvSpPr>
        <p:spPr>
          <a:xfrm>
            <a:off x="7096125" y="3505200"/>
            <a:ext cx="2047875" cy="38100"/>
          </a:xfrm>
          <a:prstGeom prst="rect">
            <a:avLst/>
          </a:prstGeom>
          <a:solidFill>
            <a:srgbClr val="E2DED7"/>
          </a:solidFill>
          <a:ln/>
        </p:spPr>
      </p:sp>
      <p:sp>
        <p:nvSpPr>
          <p:cNvPr id="10" name="Shape 8"/>
          <p:cNvSpPr/>
          <p:nvPr/>
        </p:nvSpPr>
        <p:spPr>
          <a:xfrm>
            <a:off x="6829425" y="3257550"/>
            <a:ext cx="533400" cy="5334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1" name="Text 9"/>
          <p:cNvSpPr/>
          <p:nvPr/>
        </p:nvSpPr>
        <p:spPr>
          <a:xfrm>
            <a:off x="6791325" y="32575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Poppins" pitchFamily="34" charset="0"/>
                <a:ea typeface="Poppins" pitchFamily="34" charset="-122"/>
                <a:cs typeface="Poppins" pitchFamily="34" charset="-120"/>
              </a:rPr>
              <a:t>2</a:t>
            </a:r>
            <a:endParaRPr lang="en-US" sz="1950" dirty="0"/>
          </a:p>
        </p:txBody>
      </p:sp>
      <p:sp>
        <p:nvSpPr>
          <p:cNvPr id="12" name="Text 10"/>
          <p:cNvSpPr/>
          <p:nvPr/>
        </p:nvSpPr>
        <p:spPr>
          <a:xfrm>
            <a:off x="6277347" y="3943350"/>
            <a:ext cx="1801311"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Assess level</a:t>
            </a:r>
            <a:endParaRPr lang="en-US" sz="2100" dirty="0"/>
          </a:p>
        </p:txBody>
      </p:sp>
      <p:sp>
        <p:nvSpPr>
          <p:cNvPr id="13" name="Shape 11"/>
          <p:cNvSpPr/>
          <p:nvPr/>
        </p:nvSpPr>
        <p:spPr>
          <a:xfrm>
            <a:off x="9144000" y="3505200"/>
            <a:ext cx="2047875" cy="38100"/>
          </a:xfrm>
          <a:prstGeom prst="rect">
            <a:avLst/>
          </a:prstGeom>
          <a:solidFill>
            <a:srgbClr val="E2DED7"/>
          </a:solidFill>
          <a:ln/>
        </p:spPr>
      </p:sp>
      <p:sp>
        <p:nvSpPr>
          <p:cNvPr id="14" name="Shape 12"/>
          <p:cNvSpPr/>
          <p:nvPr/>
        </p:nvSpPr>
        <p:spPr>
          <a:xfrm>
            <a:off x="11191875" y="3505200"/>
            <a:ext cx="2047875" cy="38100"/>
          </a:xfrm>
          <a:prstGeom prst="rect">
            <a:avLst/>
          </a:prstGeom>
          <a:solidFill>
            <a:srgbClr val="E2DED7"/>
          </a:solidFill>
          <a:ln/>
        </p:spPr>
      </p:sp>
      <p:sp>
        <p:nvSpPr>
          <p:cNvPr id="15" name="Shape 13"/>
          <p:cNvSpPr/>
          <p:nvPr/>
        </p:nvSpPr>
        <p:spPr>
          <a:xfrm>
            <a:off x="10887075" y="3257550"/>
            <a:ext cx="609600" cy="609600"/>
          </a:xfrm>
          <a:prstGeom prst="ellipse">
            <a:avLst/>
          </a:prstGeom>
          <a:solidFill>
            <a:srgbClr val="FFFFFF"/>
          </a:solidFill>
          <a:ln w="38100">
            <a:solidFill>
              <a:srgbClr val="CBC6BD"/>
            </a:solidFill>
            <a:prstDash val="solid"/>
          </a:ln>
        </p:spPr>
      </p:sp>
      <p:sp>
        <p:nvSpPr>
          <p:cNvPr id="16" name="Text 14"/>
          <p:cNvSpPr/>
          <p:nvPr/>
        </p:nvSpPr>
        <p:spPr>
          <a:xfrm>
            <a:off x="10887075" y="32956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8A847A"/>
                </a:solidFill>
                <a:latin typeface="Poppins" pitchFamily="34" charset="0"/>
                <a:ea typeface="Poppins" pitchFamily="34" charset="-122"/>
                <a:cs typeface="Poppins" pitchFamily="34" charset="-120"/>
              </a:rPr>
              <a:t>3</a:t>
            </a:r>
            <a:endParaRPr lang="en-US" sz="1950" dirty="0"/>
          </a:p>
        </p:txBody>
      </p:sp>
      <p:sp>
        <p:nvSpPr>
          <p:cNvPr id="17" name="Text 15"/>
          <p:cNvSpPr/>
          <p:nvPr/>
        </p:nvSpPr>
        <p:spPr>
          <a:xfrm>
            <a:off x="10523190" y="4019550"/>
            <a:ext cx="1471025"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Build plan</a:t>
            </a:r>
            <a:endParaRPr lang="en-US" sz="2100" dirty="0"/>
          </a:p>
        </p:txBody>
      </p:sp>
      <p:sp>
        <p:nvSpPr>
          <p:cNvPr id="18" name="Shape 16"/>
          <p:cNvSpPr/>
          <p:nvPr/>
        </p:nvSpPr>
        <p:spPr>
          <a:xfrm>
            <a:off x="13239750" y="3505200"/>
            <a:ext cx="2047875" cy="38100"/>
          </a:xfrm>
          <a:prstGeom prst="rect">
            <a:avLst/>
          </a:prstGeom>
          <a:solidFill>
            <a:srgbClr val="E2DED7"/>
          </a:solidFill>
          <a:ln/>
        </p:spPr>
      </p:sp>
      <p:sp>
        <p:nvSpPr>
          <p:cNvPr id="19" name="Shape 17"/>
          <p:cNvSpPr/>
          <p:nvPr/>
        </p:nvSpPr>
        <p:spPr>
          <a:xfrm>
            <a:off x="14982825" y="3257550"/>
            <a:ext cx="609600" cy="609600"/>
          </a:xfrm>
          <a:prstGeom prst="ellipse">
            <a:avLst/>
          </a:prstGeom>
          <a:solidFill>
            <a:srgbClr val="FFFFFF"/>
          </a:solidFill>
          <a:ln w="38100">
            <a:solidFill>
              <a:srgbClr val="CBC6BD"/>
            </a:solidFill>
            <a:prstDash val="solid"/>
          </a:ln>
        </p:spPr>
      </p:sp>
      <p:sp>
        <p:nvSpPr>
          <p:cNvPr id="20" name="Text 18"/>
          <p:cNvSpPr/>
          <p:nvPr/>
        </p:nvSpPr>
        <p:spPr>
          <a:xfrm>
            <a:off x="14982825" y="32956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8A847A"/>
                </a:solidFill>
                <a:latin typeface="Poppins" pitchFamily="34" charset="0"/>
                <a:ea typeface="Poppins" pitchFamily="34" charset="-122"/>
                <a:cs typeface="Poppins" pitchFamily="34" charset="-120"/>
              </a:rPr>
              <a:t>4</a:t>
            </a:r>
            <a:endParaRPr lang="en-US" sz="1950" dirty="0"/>
          </a:p>
        </p:txBody>
      </p:sp>
      <p:sp>
        <p:nvSpPr>
          <p:cNvPr id="21" name="Text 19"/>
          <p:cNvSpPr/>
          <p:nvPr/>
        </p:nvSpPr>
        <p:spPr>
          <a:xfrm>
            <a:off x="14343980" y="4019550"/>
            <a:ext cx="2075937" cy="442913"/>
          </a:xfrm>
          <a:prstGeom prst="rect">
            <a:avLst/>
          </a:prstGeom>
          <a:noFill/>
          <a:ln/>
        </p:spPr>
        <p:txBody>
          <a:bodyPr wrap="square" lIns="25400" tIns="25400" rIns="25400" bIns="25400" rtlCol="0" anchor="t">
            <a:normAutofit/>
          </a:bodyPr>
          <a:lstStyle/>
          <a:p>
            <a:pPr algn="l" indent="0" marL="0">
              <a:buNone/>
            </a:pPr>
            <a:r>
              <a:rPr lang="en-US" sz="2100" dirty="0">
                <a:solidFill>
                  <a:srgbClr val="6A655C"/>
                </a:solidFill>
                <a:latin typeface="Poppins" pitchFamily="34" charset="0"/>
                <a:ea typeface="Poppins" pitchFamily="34" charset="-122"/>
                <a:cs typeface="Poppins" pitchFamily="34" charset="-120"/>
              </a:rPr>
              <a:t>Start studying</a:t>
            </a:r>
            <a:endParaRPr lang="en-US" sz="2100" dirty="0"/>
          </a:p>
        </p:txBody>
      </p:sp>
      <p:sp>
        <p:nvSpPr>
          <p:cNvPr id="22" name="Text 20"/>
          <p:cNvSpPr/>
          <p:nvPr/>
        </p:nvSpPr>
        <p:spPr>
          <a:xfrm>
            <a:off x="952500" y="4957763"/>
            <a:ext cx="871728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MENU</a:t>
            </a:r>
            <a:endParaRPr lang="en-US" sz="2100" dirty="0"/>
          </a:p>
        </p:txBody>
      </p:sp>
      <p:sp>
        <p:nvSpPr>
          <p:cNvPr id="23" name="Shape 21"/>
          <p:cNvSpPr/>
          <p:nvPr/>
        </p:nvSpPr>
        <p:spPr>
          <a:xfrm>
            <a:off x="952500" y="5591175"/>
            <a:ext cx="7924800" cy="3352800"/>
          </a:xfrm>
          <a:prstGeom prst="roundRect">
            <a:avLst>
              <a:gd name="adj" fmla="val 2841"/>
            </a:avLst>
          </a:prstGeom>
          <a:solidFill>
            <a:srgbClr val="FFFFFF"/>
          </a:solidFill>
          <a:ln w="19050">
            <a:solidFill>
              <a:srgbClr val="E2DED7"/>
            </a:solidFill>
            <a:prstDash val="solid"/>
          </a:ln>
          <a:effectLst>
            <a:outerShdw sx="100000" sy="100000" kx="0" ky="0" algn="bl" rotWithShape="0" blurRad="266700" dist="114300" dir="5400000">
              <a:srgbClr val="1A1917">
                <a:alpha val="10000"/>
              </a:srgbClr>
            </a:outerShdw>
          </a:effectLst>
        </p:spPr>
      </p:sp>
      <p:sp>
        <p:nvSpPr>
          <p:cNvPr id="24" name="Text 22"/>
          <p:cNvSpPr/>
          <p:nvPr/>
        </p:nvSpPr>
        <p:spPr>
          <a:xfrm>
            <a:off x="1257300" y="5876925"/>
            <a:ext cx="7546086"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Account settings</a:t>
            </a:r>
            <a:endParaRPr lang="en-US" sz="2025" dirty="0"/>
          </a:p>
        </p:txBody>
      </p:sp>
      <p:sp>
        <p:nvSpPr>
          <p:cNvPr id="25" name="Shape 23"/>
          <p:cNvSpPr/>
          <p:nvPr/>
        </p:nvSpPr>
        <p:spPr>
          <a:xfrm>
            <a:off x="1066800" y="6434138"/>
            <a:ext cx="7696200" cy="728663"/>
          </a:xfrm>
          <a:prstGeom prst="roundRect">
            <a:avLst>
              <a:gd name="adj" fmla="val 10458"/>
            </a:avLst>
          </a:prstGeom>
          <a:solidFill>
            <a:srgbClr val="F9F7F4"/>
          </a:solidFill>
          <a:ln/>
        </p:spPr>
      </p:sp>
      <p:sp>
        <p:nvSpPr>
          <p:cNvPr id="26" name="Text 24"/>
          <p:cNvSpPr/>
          <p:nvPr/>
        </p:nvSpPr>
        <p:spPr>
          <a:xfrm>
            <a:off x="1257300" y="6615113"/>
            <a:ext cx="851074" cy="400050"/>
          </a:xfrm>
          <a:prstGeom prst="rect">
            <a:avLst/>
          </a:prstGeom>
          <a:noFill/>
          <a:ln/>
        </p:spPr>
        <p:txBody>
          <a:bodyPr wrap="square" lIns="0" tIns="0" rIns="0" bIns="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Billing</a:t>
            </a:r>
            <a:endParaRPr lang="en-US" sz="2025" dirty="0"/>
          </a:p>
        </p:txBody>
      </p:sp>
      <p:sp>
        <p:nvSpPr>
          <p:cNvPr id="27" name="Text 25"/>
          <p:cNvSpPr/>
          <p:nvPr/>
        </p:nvSpPr>
        <p:spPr>
          <a:xfrm>
            <a:off x="8309149" y="6605588"/>
            <a:ext cx="339551" cy="423863"/>
          </a:xfrm>
          <a:prstGeom prst="rect">
            <a:avLst/>
          </a:prstGeom>
          <a:noFill/>
          <a:ln/>
        </p:spPr>
        <p:txBody>
          <a:bodyPr wrap="square" lIns="25400" tIns="25400" rIns="25400" bIns="25400" rtlCol="0" anchor="t">
            <a:normAutofit/>
          </a:bodyPr>
          <a:lstStyle/>
          <a:p>
            <a:pPr algn="l" indent="0" marL="0">
              <a:buNone/>
            </a:pPr>
            <a:r>
              <a:rPr lang="en-US" sz="1725" dirty="0">
                <a:solidFill>
                  <a:srgbClr val="ACA69C"/>
                </a:solidFill>
                <a:latin typeface="IBM Plex Mono" pitchFamily="34" charset="0"/>
                <a:ea typeface="IBM Plex Mono" pitchFamily="34" charset="-122"/>
                <a:cs typeface="IBM Plex Mono" pitchFamily="34" charset="-120"/>
              </a:rPr>
              <a:t>⌘B</a:t>
            </a:r>
            <a:endParaRPr lang="en-US" sz="1725" dirty="0"/>
          </a:p>
        </p:txBody>
      </p:sp>
      <p:sp>
        <p:nvSpPr>
          <p:cNvPr id="28" name="Text 26"/>
          <p:cNvSpPr/>
          <p:nvPr/>
        </p:nvSpPr>
        <p:spPr>
          <a:xfrm>
            <a:off x="1257300" y="7334250"/>
            <a:ext cx="7546086" cy="423863"/>
          </a:xfrm>
          <a:prstGeom prst="rect">
            <a:avLst/>
          </a:prstGeom>
          <a:noFill/>
          <a:ln/>
        </p:spPr>
        <p:txBody>
          <a:bodyPr wrap="square" lIns="25400" tIns="25400" rIns="25400" bIns="25400" rtlCol="0" anchor="t">
            <a:normAutofit/>
          </a:bodyPr>
          <a:lstStyle/>
          <a:p>
            <a:pPr algn="l" indent="0" marL="0">
              <a:buNone/>
            </a:pPr>
            <a:r>
              <a:rPr lang="en-US" sz="2025" dirty="0">
                <a:solidFill>
                  <a:srgbClr val="1A1917"/>
                </a:solidFill>
                <a:latin typeface="Poppins" pitchFamily="34" charset="0"/>
                <a:ea typeface="Poppins" pitchFamily="34" charset="-122"/>
                <a:cs typeface="Poppins" pitchFamily="34" charset="-120"/>
              </a:rPr>
              <a:t>Download certificates</a:t>
            </a:r>
            <a:endParaRPr lang="en-US" sz="2025" dirty="0"/>
          </a:p>
        </p:txBody>
      </p:sp>
      <p:sp>
        <p:nvSpPr>
          <p:cNvPr id="29" name="Shape 27"/>
          <p:cNvSpPr/>
          <p:nvPr/>
        </p:nvSpPr>
        <p:spPr>
          <a:xfrm>
            <a:off x="1143000" y="7986713"/>
            <a:ext cx="7543800" cy="19050"/>
          </a:xfrm>
          <a:prstGeom prst="rect">
            <a:avLst/>
          </a:prstGeom>
          <a:solidFill>
            <a:srgbClr val="EFECE7"/>
          </a:solidFill>
          <a:ln/>
        </p:spPr>
      </p:sp>
      <p:sp>
        <p:nvSpPr>
          <p:cNvPr id="30" name="Text 28"/>
          <p:cNvSpPr/>
          <p:nvPr/>
        </p:nvSpPr>
        <p:spPr>
          <a:xfrm>
            <a:off x="1257300" y="8272463"/>
            <a:ext cx="7546086" cy="423863"/>
          </a:xfrm>
          <a:prstGeom prst="rect">
            <a:avLst/>
          </a:prstGeom>
          <a:noFill/>
          <a:ln/>
        </p:spPr>
        <p:txBody>
          <a:bodyPr wrap="square" lIns="25400" tIns="25400" rIns="25400" bIns="25400" rtlCol="0" anchor="t">
            <a:normAutofit/>
          </a:bodyPr>
          <a:lstStyle/>
          <a:p>
            <a:pPr algn="l" indent="0" marL="0">
              <a:buNone/>
            </a:pPr>
            <a:r>
              <a:rPr lang="en-US" sz="2025" dirty="0">
                <a:solidFill>
                  <a:srgbClr val="A4271A"/>
                </a:solidFill>
                <a:latin typeface="Poppins" pitchFamily="34" charset="0"/>
                <a:ea typeface="Poppins" pitchFamily="34" charset="-122"/>
                <a:cs typeface="Poppins" pitchFamily="34" charset="-120"/>
              </a:rPr>
              <a:t>Sign out</a:t>
            </a:r>
            <a:endParaRPr lang="en-US" sz="2025" dirty="0"/>
          </a:p>
        </p:txBody>
      </p:sp>
      <p:sp>
        <p:nvSpPr>
          <p:cNvPr id="31" name="Text 29"/>
          <p:cNvSpPr/>
          <p:nvPr/>
        </p:nvSpPr>
        <p:spPr>
          <a:xfrm>
            <a:off x="9410700" y="4957763"/>
            <a:ext cx="8717280" cy="442913"/>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8A847A"/>
                </a:solidFill>
                <a:latin typeface="Poppins" pitchFamily="34" charset="0"/>
                <a:ea typeface="Poppins" pitchFamily="34" charset="-122"/>
                <a:cs typeface="Poppins" pitchFamily="34" charset="-120"/>
              </a:rPr>
              <a:t>BOTTOM NAV — MOBILE</a:t>
            </a:r>
            <a:endParaRPr lang="en-US" sz="2100" dirty="0"/>
          </a:p>
        </p:txBody>
      </p:sp>
      <p:sp>
        <p:nvSpPr>
          <p:cNvPr id="32" name="Shape 30"/>
          <p:cNvSpPr/>
          <p:nvPr/>
        </p:nvSpPr>
        <p:spPr>
          <a:xfrm>
            <a:off x="9410700" y="5591175"/>
            <a:ext cx="7924800" cy="1376363"/>
          </a:xfrm>
          <a:prstGeom prst="roundRect">
            <a:avLst>
              <a:gd name="adj" fmla="val 6920"/>
            </a:avLst>
          </a:prstGeom>
          <a:solidFill>
            <a:srgbClr val="FFFFFF"/>
          </a:solidFill>
          <a:ln w="19050">
            <a:solidFill>
              <a:srgbClr val="E2DED7"/>
            </a:solidFill>
            <a:prstDash val="solid"/>
          </a:ln>
        </p:spPr>
      </p:sp>
      <p:pic>
        <p:nvPicPr>
          <p:cNvPr id="3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48888" y="5819775"/>
            <a:ext cx="533400" cy="533400"/>
          </a:xfrm>
          <a:prstGeom prst="rect">
            <a:avLst/>
          </a:prstGeom>
        </p:spPr>
      </p:pic>
      <p:sp>
        <p:nvSpPr>
          <p:cNvPr id="34" name="Text 31"/>
          <p:cNvSpPr/>
          <p:nvPr/>
        </p:nvSpPr>
        <p:spPr>
          <a:xfrm>
            <a:off x="10101337" y="6429375"/>
            <a:ext cx="704701" cy="347663"/>
          </a:xfrm>
          <a:prstGeom prst="rect">
            <a:avLst/>
          </a:prstGeom>
          <a:noFill/>
          <a:ln/>
        </p:spPr>
        <p:txBody>
          <a:bodyPr wrap="square" lIns="25400" tIns="25400" rIns="25400" bIns="25400" rtlCol="0" anchor="t">
            <a:normAutofit/>
          </a:bodyPr>
          <a:lstStyle/>
          <a:p>
            <a:pPr algn="l" indent="0" marL="0">
              <a:buNone/>
            </a:pPr>
            <a:r>
              <a:rPr lang="en-US" sz="1650" dirty="0">
                <a:solidFill>
                  <a:srgbClr val="8A847A"/>
                </a:solidFill>
                <a:latin typeface="Poppins" pitchFamily="34" charset="0"/>
                <a:ea typeface="Poppins" pitchFamily="34" charset="-122"/>
                <a:cs typeface="Poppins" pitchFamily="34" charset="-120"/>
              </a:rPr>
              <a:t>Home</a:t>
            </a:r>
            <a:endParaRPr lang="en-US" sz="1650" dirty="0"/>
          </a:p>
        </p:txBody>
      </p:sp>
      <p:pic>
        <p:nvPicPr>
          <p:cNvPr id="3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20563" y="5819775"/>
            <a:ext cx="533400" cy="533400"/>
          </a:xfrm>
          <a:prstGeom prst="rect">
            <a:avLst/>
          </a:prstGeom>
        </p:spPr>
      </p:pic>
      <p:sp>
        <p:nvSpPr>
          <p:cNvPr id="36" name="Text 32"/>
          <p:cNvSpPr/>
          <p:nvPr/>
        </p:nvSpPr>
        <p:spPr>
          <a:xfrm>
            <a:off x="12107242" y="6429375"/>
            <a:ext cx="636166" cy="347663"/>
          </a:xfrm>
          <a:prstGeom prst="rect">
            <a:avLst/>
          </a:prstGeom>
          <a:noFill/>
          <a:ln/>
        </p:spPr>
        <p:txBody>
          <a:bodyPr wrap="square" lIns="25400" tIns="25400" rIns="25400" bIns="25400" rtlCol="0" anchor="t">
            <a:normAutofit/>
          </a:bodyPr>
          <a:lstStyle/>
          <a:p>
            <a:pPr algn="l" indent="0" marL="0">
              <a:buNone/>
            </a:pPr>
            <a:r>
              <a:rPr lang="en-US" sz="1650" b="1" dirty="0">
                <a:solidFill>
                  <a:srgbClr val="D94B1C"/>
                </a:solidFill>
                <a:latin typeface="Poppins" pitchFamily="34" charset="0"/>
                <a:ea typeface="Poppins" pitchFamily="34" charset="-122"/>
                <a:cs typeface="Poppins" pitchFamily="34" charset="-120"/>
              </a:rPr>
              <a:t>Tests</a:t>
            </a:r>
            <a:endParaRPr lang="en-US" sz="1650" dirty="0"/>
          </a:p>
        </p:txBody>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092238" y="5819775"/>
            <a:ext cx="533400" cy="533400"/>
          </a:xfrm>
          <a:prstGeom prst="rect">
            <a:avLst/>
          </a:prstGeom>
        </p:spPr>
      </p:pic>
      <p:sp>
        <p:nvSpPr>
          <p:cNvPr id="38" name="Shape 33"/>
          <p:cNvSpPr/>
          <p:nvPr/>
        </p:nvSpPr>
        <p:spPr>
          <a:xfrm>
            <a:off x="14557028" y="5762625"/>
            <a:ext cx="275183" cy="338138"/>
          </a:xfrm>
          <a:prstGeom prst="ellipse">
            <a:avLst/>
          </a:prstGeom>
          <a:solidFill>
            <a:srgbClr val="E8402B"/>
          </a:solidFill>
          <a:ln/>
        </p:spPr>
      </p:sp>
      <p:sp>
        <p:nvSpPr>
          <p:cNvPr id="39" name="Text 34"/>
          <p:cNvSpPr/>
          <p:nvPr/>
        </p:nvSpPr>
        <p:spPr>
          <a:xfrm>
            <a:off x="14642753" y="5800725"/>
            <a:ext cx="179933" cy="300038"/>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Poppins" pitchFamily="34" charset="0"/>
                <a:ea typeface="Poppins" pitchFamily="34" charset="-122"/>
                <a:cs typeface="Poppins" pitchFamily="34" charset="-120"/>
              </a:rPr>
              <a:t>3</a:t>
            </a:r>
            <a:endParaRPr lang="en-US" sz="1350" dirty="0"/>
          </a:p>
        </p:txBody>
      </p:sp>
      <p:sp>
        <p:nvSpPr>
          <p:cNvPr id="40" name="Text 35"/>
          <p:cNvSpPr/>
          <p:nvPr/>
        </p:nvSpPr>
        <p:spPr>
          <a:xfrm>
            <a:off x="14114338" y="6429375"/>
            <a:ext cx="565324" cy="347663"/>
          </a:xfrm>
          <a:prstGeom prst="rect">
            <a:avLst/>
          </a:prstGeom>
          <a:noFill/>
          <a:ln/>
        </p:spPr>
        <p:txBody>
          <a:bodyPr wrap="square" lIns="25400" tIns="25400" rIns="25400" bIns="25400" rtlCol="0" anchor="t">
            <a:normAutofit/>
          </a:bodyPr>
          <a:lstStyle/>
          <a:p>
            <a:pPr algn="l" indent="0" marL="0">
              <a:buNone/>
            </a:pPr>
            <a:r>
              <a:rPr lang="en-US" sz="1650" dirty="0">
                <a:solidFill>
                  <a:srgbClr val="8A847A"/>
                </a:solidFill>
                <a:latin typeface="Poppins" pitchFamily="34" charset="0"/>
                <a:ea typeface="Poppins" pitchFamily="34" charset="-122"/>
                <a:cs typeface="Poppins" pitchFamily="34" charset="-120"/>
              </a:rPr>
              <a:t>Labs</a:t>
            </a:r>
            <a:endParaRPr lang="en-US" sz="1650" dirty="0"/>
          </a:p>
        </p:txBody>
      </p:sp>
      <p:pic>
        <p:nvPicPr>
          <p:cNvPr id="4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063912" y="5819775"/>
            <a:ext cx="533400" cy="533400"/>
          </a:xfrm>
          <a:prstGeom prst="rect">
            <a:avLst/>
          </a:prstGeom>
        </p:spPr>
      </p:pic>
      <p:sp>
        <p:nvSpPr>
          <p:cNvPr id="42" name="Text 36"/>
          <p:cNvSpPr/>
          <p:nvPr/>
        </p:nvSpPr>
        <p:spPr>
          <a:xfrm>
            <a:off x="16006390" y="6429375"/>
            <a:ext cx="724570" cy="347663"/>
          </a:xfrm>
          <a:prstGeom prst="rect">
            <a:avLst/>
          </a:prstGeom>
          <a:noFill/>
          <a:ln/>
        </p:spPr>
        <p:txBody>
          <a:bodyPr wrap="square" lIns="25400" tIns="25400" rIns="25400" bIns="25400" rtlCol="0" anchor="t">
            <a:normAutofit/>
          </a:bodyPr>
          <a:lstStyle/>
          <a:p>
            <a:pPr algn="l" indent="0" marL="0">
              <a:buNone/>
            </a:pPr>
            <a:r>
              <a:rPr lang="en-US" sz="1650" dirty="0">
                <a:solidFill>
                  <a:srgbClr val="8A847A"/>
                </a:solidFill>
                <a:latin typeface="Poppins" pitchFamily="34" charset="0"/>
                <a:ea typeface="Poppins" pitchFamily="34" charset="-122"/>
                <a:cs typeface="Poppins" pitchFamily="34" charset="-120"/>
              </a:rPr>
              <a:t>Profile</a:t>
            </a:r>
            <a:endParaRPr lang="en-US" sz="1650" dirty="0"/>
          </a:p>
        </p:txBody>
      </p:sp>
      <p:sp>
        <p:nvSpPr>
          <p:cNvPr id="43" name="Text 37"/>
          <p:cNvSpPr/>
          <p:nvPr/>
        </p:nvSpPr>
        <p:spPr>
          <a:xfrm>
            <a:off x="9410700" y="7234238"/>
            <a:ext cx="8162544" cy="830461"/>
          </a:xfrm>
          <a:prstGeom prst="rect">
            <a:avLst/>
          </a:prstGeom>
          <a:noFill/>
          <a:ln/>
        </p:spPr>
        <p:txBody>
          <a:bodyPr wrap="square" lIns="25400" tIns="25400" rIns="25400" bIns="25400" rtlCol="0" anchor="t">
            <a:normAutofit/>
          </a:bodyPr>
          <a:lstStyle/>
          <a:p>
            <a:pPr algn="l" indent="0" marL="0">
              <a:lnSpc>
                <a:spcPct val="106667"/>
              </a:lnSpc>
              <a:buNone/>
            </a:pPr>
            <a:r>
              <a:rPr lang="en-US" sz="1950" dirty="0">
                <a:solidFill>
                  <a:srgbClr val="6A655C"/>
                </a:solidFill>
                <a:latin typeface="Poppins" pitchFamily="34" charset="0"/>
                <a:ea typeface="Poppins" pitchFamily="34" charset="-122"/>
                <a:cs typeface="Poppins" pitchFamily="34" charset="-120"/>
              </a:rPr>
              <a:t>Links are orange-600 and underline on hover — never blue, never bare.</a:t>
            </a:r>
            <a:endParaRPr lang="en-US" sz="1950" dirty="0"/>
          </a:p>
        </p:txBody>
      </p:sp>
      <p:sp>
        <p:nvSpPr>
          <p:cNvPr id="44" name="Shape 38"/>
          <p:cNvSpPr/>
          <p:nvPr/>
        </p:nvSpPr>
        <p:spPr>
          <a:xfrm>
            <a:off x="952500" y="9234488"/>
            <a:ext cx="16383000" cy="19050"/>
          </a:xfrm>
          <a:prstGeom prst="rect">
            <a:avLst/>
          </a:prstGeom>
          <a:solidFill>
            <a:srgbClr val="E2DED7"/>
          </a:solidFill>
          <a:ln/>
        </p:spPr>
      </p:sp>
      <p:sp>
        <p:nvSpPr>
          <p:cNvPr id="45" name="Text 39"/>
          <p:cNvSpPr/>
          <p:nvPr/>
        </p:nvSpPr>
        <p:spPr>
          <a:xfrm>
            <a:off x="952500" y="9444038"/>
            <a:ext cx="1687449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8A847A"/>
                </a:solidFill>
                <a:latin typeface="IBM Plex Mono" pitchFamily="34" charset="0"/>
                <a:ea typeface="IBM Plex Mono" pitchFamily="34" charset="-122"/>
                <a:cs typeface="IBM Plex Mono" pitchFamily="34" charset="-120"/>
              </a:rPr>
              <a:t>Stepper · Menu · BottomNav · Link</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UI kit — marketing site</a:t>
            </a:r>
            <a:endParaRPr lang="en-US" sz="4800" dirty="0"/>
          </a:p>
        </p:txBody>
      </p:sp>
      <p:sp>
        <p:nvSpPr>
          <p:cNvPr id="3" name="Text 1"/>
          <p:cNvSpPr/>
          <p:nvPr/>
        </p:nvSpPr>
        <p:spPr>
          <a:xfrm>
            <a:off x="952500" y="2019300"/>
            <a:ext cx="12328510"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Home, catalog, course detail and pricing, composed entirely from the components above.</a:t>
            </a:r>
            <a:endParaRPr lang="en-US" sz="2550" dirty="0"/>
          </a:p>
        </p:txBody>
      </p:sp>
      <p:sp>
        <p:nvSpPr>
          <p:cNvPr id="4" name="Shape 2"/>
          <p:cNvSpPr/>
          <p:nvPr/>
        </p:nvSpPr>
        <p:spPr>
          <a:xfrm>
            <a:off x="952500" y="3448050"/>
            <a:ext cx="16383000" cy="6076950"/>
          </a:xfrm>
          <a:prstGeom prst="roundRect">
            <a:avLst>
              <a:gd name="adj" fmla="val 3135"/>
            </a:avLst>
          </a:prstGeom>
          <a:ln w="19050">
            <a:solidFill>
              <a:srgbClr val="EFECE7"/>
            </a:solidFill>
            <a:prstDash val="solid"/>
          </a:ln>
          <a:effectLst>
            <a:outerShdw sx="100000" sy="100000" kx="0" ky="0" algn="bl" rotWithShape="0" blurRad="266700" dist="114300" dir="5400000">
              <a:srgbClr val="1A1917">
                <a:alpha val="10000"/>
              </a:srgbClr>
            </a:outerShdw>
          </a:effectLst>
        </p:spPr>
      </p:sp>
      <p:sp>
        <p:nvSpPr>
          <p:cNvPr id="5" name="Shape 3"/>
          <p:cNvSpPr/>
          <p:nvPr/>
        </p:nvSpPr>
        <p:spPr>
          <a:xfrm>
            <a:off x="971550" y="3467100"/>
            <a:ext cx="16344900" cy="933450"/>
          </a:xfrm>
          <a:prstGeom prst="rect">
            <a:avLst/>
          </a:prstGeom>
          <a:solidFill>
            <a:srgbClr val="FFFFFF">
              <a:alpha val="90000"/>
            </a:srgbClr>
          </a:solidFill>
          <a:ln/>
        </p:spPr>
      </p:sp>
      <p:sp>
        <p:nvSpPr>
          <p:cNvPr id="6" name="Shape 4"/>
          <p:cNvSpPr/>
          <p:nvPr/>
        </p:nvSpPr>
        <p:spPr>
          <a:xfrm>
            <a:off x="971550" y="4381500"/>
            <a:ext cx="16344900" cy="19050"/>
          </a:xfrm>
          <a:prstGeom prst="rect">
            <a:avLst/>
          </a:prstGeom>
          <a:solidFill>
            <a:srgbClr val="EFECE7"/>
          </a:solidFill>
          <a:ln/>
        </p:spPr>
      </p:sp>
      <p:pic>
        <p:nvPicPr>
          <p:cNvPr id="7" name="Image 0" descr="preencoded.png">    </p:cNvPr>
          <p:cNvPicPr>
            <a:picLocks noChangeAspect="1"/>
          </p:cNvPicPr>
          <p:nvPr/>
        </p:nvPicPr>
        <p:blipFill>
          <a:blip r:embed="rId1"/>
          <a:stretch>
            <a:fillRect/>
          </a:stretch>
        </p:blipFill>
        <p:spPr>
          <a:xfrm>
            <a:off x="1352550" y="3752850"/>
            <a:ext cx="2515791" cy="342900"/>
          </a:xfrm>
          <a:prstGeom prst="rect">
            <a:avLst/>
          </a:prstGeom>
        </p:spPr>
      </p:pic>
      <p:sp>
        <p:nvSpPr>
          <p:cNvPr id="8" name="Text 5"/>
          <p:cNvSpPr/>
          <p:nvPr/>
        </p:nvSpPr>
        <p:spPr>
          <a:xfrm>
            <a:off x="4287441" y="3738563"/>
            <a:ext cx="1870970"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D94B1C"/>
                </a:solidFill>
                <a:latin typeface="Poppins" pitchFamily="34" charset="0"/>
                <a:ea typeface="Poppins" pitchFamily="34" charset="-122"/>
                <a:cs typeface="Poppins" pitchFamily="34" charset="-120"/>
              </a:rPr>
              <a:t>Certifications</a:t>
            </a:r>
            <a:endParaRPr lang="en-US" sz="1950" dirty="0"/>
          </a:p>
        </p:txBody>
      </p:sp>
      <p:sp>
        <p:nvSpPr>
          <p:cNvPr id="9" name="Text 6"/>
          <p:cNvSpPr/>
          <p:nvPr/>
        </p:nvSpPr>
        <p:spPr>
          <a:xfrm>
            <a:off x="6407423" y="3738563"/>
            <a:ext cx="1930643"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Practice Tests</a:t>
            </a:r>
            <a:endParaRPr lang="en-US" sz="1950" dirty="0"/>
          </a:p>
        </p:txBody>
      </p:sp>
      <p:sp>
        <p:nvSpPr>
          <p:cNvPr id="10" name="Text 7"/>
          <p:cNvSpPr/>
          <p:nvPr/>
        </p:nvSpPr>
        <p:spPr>
          <a:xfrm>
            <a:off x="8581653" y="3738563"/>
            <a:ext cx="2153781"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Hands-On Labs</a:t>
            </a:r>
            <a:endParaRPr lang="en-US" sz="1950" dirty="0"/>
          </a:p>
        </p:txBody>
      </p:sp>
      <p:sp>
        <p:nvSpPr>
          <p:cNvPr id="11" name="Text 8"/>
          <p:cNvSpPr/>
          <p:nvPr/>
        </p:nvSpPr>
        <p:spPr>
          <a:xfrm>
            <a:off x="10958736" y="3738563"/>
            <a:ext cx="945207"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4E4A43"/>
                </a:solidFill>
                <a:latin typeface="Poppins" pitchFamily="34" charset="0"/>
                <a:ea typeface="Poppins" pitchFamily="34" charset="-122"/>
                <a:cs typeface="Poppins" pitchFamily="34" charset="-120"/>
              </a:rPr>
              <a:t>Pricing</a:t>
            </a:r>
            <a:endParaRPr lang="en-US" sz="1950" dirty="0"/>
          </a:p>
        </p:txBody>
      </p:sp>
      <p:sp>
        <p:nvSpPr>
          <p:cNvPr id="12" name="Shape 9"/>
          <p:cNvSpPr/>
          <p:nvPr/>
        </p:nvSpPr>
        <p:spPr>
          <a:xfrm>
            <a:off x="14642232" y="3657600"/>
            <a:ext cx="2293218" cy="533400"/>
          </a:xfrm>
          <a:prstGeom prst="roundRect">
            <a:avLst>
              <a:gd name="adj" fmla="val 17857"/>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13" name="Text 10"/>
          <p:cNvSpPr/>
          <p:nvPr/>
        </p:nvSpPr>
        <p:spPr>
          <a:xfrm>
            <a:off x="14927982" y="3657600"/>
            <a:ext cx="1797918" cy="57150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Poppins" pitchFamily="34" charset="0"/>
                <a:ea typeface="Poppins" pitchFamily="34" charset="-122"/>
                <a:cs typeface="Poppins" pitchFamily="34" charset="-120"/>
              </a:rPr>
              <a:t>Start free trial</a:t>
            </a:r>
            <a:endParaRPr lang="en-US" sz="1950" dirty="0"/>
          </a:p>
        </p:txBody>
      </p:sp>
      <p:sp>
        <p:nvSpPr>
          <p:cNvPr id="14" name="Shape 11"/>
          <p:cNvSpPr/>
          <p:nvPr/>
        </p:nvSpPr>
        <p:spPr>
          <a:xfrm>
            <a:off x="971550" y="4400550"/>
            <a:ext cx="16344900" cy="5105400"/>
          </a:xfrm>
          <a:prstGeom prst="rect">
            <a:avLst/>
          </a:prstGeom>
          <a:gradFill rotWithShape="1">
            <a:gsLst>
              <a:gs pos="0">
                <a:srgbClr val="FFF3EE">
                  <a:alpha val="100000"/>
                </a:srgbClr>
              </a:gs>
              <a:gs pos="100000">
                <a:srgbClr val="FFF8EA">
                  <a:alpha val="100000"/>
                </a:srgbClr>
              </a:gs>
            </a:gsLst>
            <a:lin ang="2700000" scaled="0"/>
          </a:gradFill>
          <a:ln/>
        </p:spPr>
      </p:sp>
      <p:sp>
        <p:nvSpPr>
          <p:cNvPr id="15" name="Text 12"/>
          <p:cNvSpPr/>
          <p:nvPr/>
        </p:nvSpPr>
        <p:spPr>
          <a:xfrm>
            <a:off x="1352550" y="5236815"/>
            <a:ext cx="9104948" cy="409575"/>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D94B1C"/>
                </a:solidFill>
                <a:latin typeface="Poppins" pitchFamily="34" charset="0"/>
                <a:ea typeface="Poppins" pitchFamily="34" charset="-122"/>
                <a:cs typeface="Poppins" pitchFamily="34" charset="-120"/>
              </a:rPr>
              <a:t>CLOUD AND DEVOPS CERTIFICATION PREP</a:t>
            </a:r>
            <a:endParaRPr lang="en-US" sz="1950" dirty="0"/>
          </a:p>
        </p:txBody>
      </p:sp>
      <p:sp>
        <p:nvSpPr>
          <p:cNvPr id="16" name="Text 13"/>
          <p:cNvSpPr/>
          <p:nvPr/>
        </p:nvSpPr>
        <p:spPr>
          <a:xfrm>
            <a:off x="1352550" y="5779740"/>
            <a:ext cx="8525542" cy="1370707"/>
          </a:xfrm>
          <a:prstGeom prst="rect">
            <a:avLst/>
          </a:prstGeom>
          <a:noFill/>
          <a:ln/>
        </p:spPr>
        <p:txBody>
          <a:bodyPr wrap="square" lIns="25400" tIns="25400" rIns="25400" bIns="25400" rtlCol="0" anchor="t">
            <a:normAutofit/>
          </a:bodyPr>
          <a:lstStyle/>
          <a:p>
            <a:pPr algn="l" indent="0" marL="0">
              <a:lnSpc>
                <a:spcPct val="70667"/>
              </a:lnSpc>
              <a:buNone/>
            </a:pPr>
            <a:r>
              <a:rPr lang="en-US" sz="4950" b="1" spc="-124" kern="0" dirty="0">
                <a:solidFill>
                  <a:srgbClr val="1A1917"/>
                </a:solidFill>
                <a:latin typeface="Poppins" pitchFamily="34" charset="0"/>
                <a:ea typeface="Poppins" pitchFamily="34" charset="-122"/>
                <a:cs typeface="Poppins" pitchFamily="34" charset="-120"/>
              </a:rPr>
              <a:t>Pass the exam the first time.</a:t>
            </a:r>
            <a:endParaRPr lang="en-US" sz="4950" dirty="0"/>
          </a:p>
        </p:txBody>
      </p:sp>
      <p:sp>
        <p:nvSpPr>
          <p:cNvPr id="17" name="Text 14"/>
          <p:cNvSpPr/>
          <p:nvPr/>
        </p:nvSpPr>
        <p:spPr>
          <a:xfrm>
            <a:off x="1352550" y="7340947"/>
            <a:ext cx="5801679" cy="1366838"/>
          </a:xfrm>
          <a:prstGeom prst="rect">
            <a:avLst/>
          </a:prstGeom>
          <a:noFill/>
          <a:ln/>
        </p:spPr>
        <p:txBody>
          <a:bodyPr wrap="square" lIns="25400" tIns="25400" rIns="25400" bIns="25400" rtlCol="0" anchor="t">
            <a:normAutofit/>
          </a:bodyPr>
          <a:lstStyle/>
          <a:p>
            <a:pPr algn="l" indent="0" marL="0">
              <a:lnSpc>
                <a:spcPct val="103333"/>
              </a:lnSpc>
              <a:buNone/>
            </a:pPr>
            <a:r>
              <a:rPr lang="en-US" sz="2250" dirty="0">
                <a:solidFill>
                  <a:srgbClr val="4E4A43"/>
                </a:solidFill>
                <a:latin typeface="Poppins" pitchFamily="34" charset="0"/>
                <a:ea typeface="Poppins" pitchFamily="34" charset="-122"/>
                <a:cs typeface="Poppins" pitchFamily="34" charset="-120"/>
              </a:rPr>
              <a:t>Practice tests written against the current blueprint, taught by working engineers.</a:t>
            </a:r>
            <a:endParaRPr lang="en-US" sz="2250" dirty="0"/>
          </a:p>
        </p:txBody>
      </p:sp>
      <p:sp>
        <p:nvSpPr>
          <p:cNvPr id="18" name="Shape 15"/>
          <p:cNvSpPr/>
          <p:nvPr/>
        </p:nvSpPr>
        <p:spPr>
          <a:xfrm>
            <a:off x="10163175" y="5022056"/>
            <a:ext cx="6772275" cy="3862387"/>
          </a:xfrm>
          <a:prstGeom prst="roundRect">
            <a:avLst>
              <a:gd name="adj" fmla="val 4932"/>
            </a:avLst>
          </a:prstGeom>
          <a:solidFill>
            <a:srgbClr val="FFFFFF"/>
          </a:solidFill>
          <a:ln/>
          <a:effectLst>
            <a:outerShdw sx="100000" sy="100000" kx="0" ky="0" algn="bl" rotWithShape="0" blurRad="533400" dist="228600" dir="5400000">
              <a:srgbClr val="1A1917">
                <a:alpha val="14000"/>
              </a:srgbClr>
            </a:outerShdw>
          </a:effectLst>
        </p:spPr>
      </p:sp>
      <p:sp>
        <p:nvSpPr>
          <p:cNvPr id="19" name="Shape 16"/>
          <p:cNvSpPr/>
          <p:nvPr/>
        </p:nvSpPr>
        <p:spPr>
          <a:xfrm>
            <a:off x="10163175" y="5022056"/>
            <a:ext cx="6772275" cy="95250"/>
          </a:xfrm>
          <a:prstGeom prst="rect">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20" name="Text 17"/>
          <p:cNvSpPr/>
          <p:nvPr/>
        </p:nvSpPr>
        <p:spPr>
          <a:xfrm>
            <a:off x="10467975" y="5422106"/>
            <a:ext cx="6778943"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6A655C"/>
                </a:solidFill>
                <a:latin typeface="IBM Plex Mono" pitchFamily="34" charset="0"/>
                <a:ea typeface="IBM Plex Mono" pitchFamily="34" charset="-122"/>
                <a:cs typeface="IBM Plex Mono" pitchFamily="34" charset="-120"/>
              </a:rPr>
              <a:t>Q12 / 65 · 42:17</a:t>
            </a:r>
            <a:endParaRPr lang="en-US" sz="1950" dirty="0"/>
          </a:p>
        </p:txBody>
      </p:sp>
      <p:sp>
        <p:nvSpPr>
          <p:cNvPr id="21" name="Text 18"/>
          <p:cNvSpPr/>
          <p:nvPr/>
        </p:nvSpPr>
        <p:spPr>
          <a:xfrm>
            <a:off x="10467975" y="5931694"/>
            <a:ext cx="6347555" cy="838200"/>
          </a:xfrm>
          <a:prstGeom prst="rect">
            <a:avLst/>
          </a:prstGeom>
          <a:noFill/>
          <a:ln/>
        </p:spPr>
        <p:txBody>
          <a:bodyPr wrap="square" lIns="25400" tIns="25400" rIns="25400" bIns="25400" rtlCol="0" anchor="t">
            <a:normAutofit/>
          </a:bodyPr>
          <a:lstStyle/>
          <a:p>
            <a:pPr algn="l" indent="0" marL="0">
              <a:lnSpc>
                <a:spcPct val="98824"/>
              </a:lnSpc>
              <a:buNone/>
            </a:pPr>
            <a:r>
              <a:rPr lang="en-US" sz="2100" dirty="0">
                <a:solidFill>
                  <a:srgbClr val="1A1917"/>
                </a:solidFill>
                <a:latin typeface="Poppins" pitchFamily="34" charset="0"/>
                <a:ea typeface="Poppins" pitchFamily="34" charset="-122"/>
                <a:cs typeface="Poppins" pitchFamily="34" charset="-120"/>
              </a:rPr>
              <a:t>Which service guarantees exactly-once processing?</a:t>
            </a:r>
            <a:endParaRPr lang="en-US" sz="2100" dirty="0"/>
          </a:p>
        </p:txBody>
      </p:sp>
      <p:sp>
        <p:nvSpPr>
          <p:cNvPr id="22" name="Shape 19"/>
          <p:cNvSpPr/>
          <p:nvPr/>
        </p:nvSpPr>
        <p:spPr>
          <a:xfrm>
            <a:off x="10467975" y="6960394"/>
            <a:ext cx="6162675" cy="752475"/>
          </a:xfrm>
          <a:prstGeom prst="roundRect">
            <a:avLst>
              <a:gd name="adj" fmla="val 12658"/>
            </a:avLst>
          </a:prstGeom>
          <a:ln w="19050">
            <a:solidFill>
              <a:srgbClr val="E2DED7"/>
            </a:solidFill>
            <a:prstDash val="solid"/>
          </a:ln>
        </p:spPr>
      </p:sp>
      <p:sp>
        <p:nvSpPr>
          <p:cNvPr id="23" name="Text 20"/>
          <p:cNvSpPr/>
          <p:nvPr/>
        </p:nvSpPr>
        <p:spPr>
          <a:xfrm>
            <a:off x="10696575" y="7150894"/>
            <a:ext cx="5890355" cy="409575"/>
          </a:xfrm>
          <a:prstGeom prst="rect">
            <a:avLst/>
          </a:prstGeom>
          <a:noFill/>
          <a:ln/>
        </p:spPr>
        <p:txBody>
          <a:bodyPr wrap="square" lIns="25400" tIns="25400" rIns="25400" bIns="25400" rtlCol="0" anchor="t">
            <a:normAutofit/>
          </a:bodyPr>
          <a:lstStyle/>
          <a:p>
            <a:pPr algn="l" indent="0" marL="0">
              <a:buNone/>
            </a:pPr>
            <a:r>
              <a:rPr lang="en-US" sz="1950" dirty="0">
                <a:solidFill>
                  <a:srgbClr val="4E4A43"/>
                </a:solidFill>
                <a:latin typeface="Poppins" pitchFamily="34" charset="0"/>
                <a:ea typeface="Poppins" pitchFamily="34" charset="-122"/>
                <a:cs typeface="Poppins" pitchFamily="34" charset="-120"/>
              </a:rPr>
              <a:t>Amazon SNS standard topic</a:t>
            </a:r>
            <a:endParaRPr lang="en-US" sz="1950" dirty="0"/>
          </a:p>
        </p:txBody>
      </p:sp>
      <p:sp>
        <p:nvSpPr>
          <p:cNvPr id="24" name="Shape 21"/>
          <p:cNvSpPr/>
          <p:nvPr/>
        </p:nvSpPr>
        <p:spPr>
          <a:xfrm>
            <a:off x="10467975" y="7827169"/>
            <a:ext cx="6162675" cy="752475"/>
          </a:xfrm>
          <a:prstGeom prst="roundRect">
            <a:avLst>
              <a:gd name="adj" fmla="val 12658"/>
            </a:avLst>
          </a:prstGeom>
          <a:solidFill>
            <a:srgbClr val="FFF5F0"/>
          </a:solidFill>
          <a:ln w="19050">
            <a:solidFill>
              <a:srgbClr val="FCA781"/>
            </a:solidFill>
            <a:prstDash val="solid"/>
          </a:ln>
        </p:spPr>
      </p:sp>
      <p:sp>
        <p:nvSpPr>
          <p:cNvPr id="25" name="Text 22"/>
          <p:cNvSpPr/>
          <p:nvPr/>
        </p:nvSpPr>
        <p:spPr>
          <a:xfrm>
            <a:off x="10696575" y="8017669"/>
            <a:ext cx="5890355" cy="409575"/>
          </a:xfrm>
          <a:prstGeom prst="rect">
            <a:avLst/>
          </a:prstGeom>
          <a:noFill/>
          <a:ln/>
        </p:spPr>
        <p:txBody>
          <a:bodyPr wrap="square" lIns="25400" tIns="25400" rIns="25400" bIns="25400" rtlCol="0" anchor="t">
            <a:normAutofit/>
          </a:bodyPr>
          <a:lstStyle/>
          <a:p>
            <a:pPr algn="l" indent="0" marL="0">
              <a:buNone/>
            </a:pPr>
            <a:r>
              <a:rPr lang="en-US" sz="1950" dirty="0">
                <a:solidFill>
                  <a:srgbClr val="37342E"/>
                </a:solidFill>
                <a:latin typeface="Poppins" pitchFamily="34" charset="0"/>
                <a:ea typeface="Poppins" pitchFamily="34" charset="-122"/>
                <a:cs typeface="Poppins" pitchFamily="34" charset="-120"/>
              </a:rPr>
              <a:t>Amazon SQS FIFO queue</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UI kit — learner app</a:t>
            </a:r>
            <a:endParaRPr lang="en-US" sz="4800" dirty="0"/>
          </a:p>
        </p:txBody>
      </p:sp>
      <p:sp>
        <p:nvSpPr>
          <p:cNvPr id="3" name="Text 1"/>
          <p:cNvSpPr/>
          <p:nvPr/>
        </p:nvSpPr>
        <p:spPr>
          <a:xfrm>
            <a:off x="952500" y="2019300"/>
            <a:ext cx="12328510"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Dashboard, practice-test library, exam player and results, behind a 248px sidebar shell.</a:t>
            </a:r>
            <a:endParaRPr lang="en-US" sz="2550" dirty="0"/>
          </a:p>
        </p:txBody>
      </p:sp>
      <p:sp>
        <p:nvSpPr>
          <p:cNvPr id="4" name="Shape 2"/>
          <p:cNvSpPr/>
          <p:nvPr/>
        </p:nvSpPr>
        <p:spPr>
          <a:xfrm>
            <a:off x="952500" y="3448050"/>
            <a:ext cx="16383000" cy="6076950"/>
          </a:xfrm>
          <a:prstGeom prst="roundRect">
            <a:avLst>
              <a:gd name="adj" fmla="val 3135"/>
            </a:avLst>
          </a:prstGeom>
          <a:ln w="19050">
            <a:solidFill>
              <a:srgbClr val="EFECE7"/>
            </a:solidFill>
            <a:prstDash val="solid"/>
          </a:ln>
          <a:effectLst>
            <a:outerShdw sx="100000" sy="100000" kx="0" ky="0" algn="bl" rotWithShape="0" blurRad="266700" dist="114300" dir="5400000">
              <a:srgbClr val="1A1917">
                <a:alpha val="10000"/>
              </a:srgbClr>
            </a:outerShdw>
          </a:effectLst>
        </p:spPr>
      </p:sp>
      <p:sp>
        <p:nvSpPr>
          <p:cNvPr id="5" name="Shape 3"/>
          <p:cNvSpPr/>
          <p:nvPr/>
        </p:nvSpPr>
        <p:spPr>
          <a:xfrm>
            <a:off x="4000500" y="3467100"/>
            <a:ext cx="19050" cy="6516886"/>
          </a:xfrm>
          <a:prstGeom prst="rect">
            <a:avLst/>
          </a:prstGeom>
          <a:solidFill>
            <a:srgbClr val="EFECE7"/>
          </a:solidFill>
          <a:ln/>
        </p:spPr>
      </p:sp>
      <p:pic>
        <p:nvPicPr>
          <p:cNvPr id="6" name="Image 0" descr="preencoded.png">    </p:cNvPr>
          <p:cNvPicPr>
            <a:picLocks noChangeAspect="1"/>
          </p:cNvPicPr>
          <p:nvPr/>
        </p:nvPicPr>
        <p:blipFill>
          <a:blip r:embed="rId1"/>
          <a:stretch>
            <a:fillRect/>
          </a:stretch>
        </p:blipFill>
        <p:spPr>
          <a:xfrm>
            <a:off x="1314450" y="3810000"/>
            <a:ext cx="2343150" cy="304800"/>
          </a:xfrm>
          <a:prstGeom prst="rect">
            <a:avLst/>
          </a:prstGeom>
        </p:spPr>
      </p:pic>
      <p:sp>
        <p:nvSpPr>
          <p:cNvPr id="7" name="Text 4"/>
          <p:cNvSpPr/>
          <p:nvPr/>
        </p:nvSpPr>
        <p:spPr>
          <a:xfrm>
            <a:off x="1409700" y="4667250"/>
            <a:ext cx="2229803"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Dashboard</a:t>
            </a:r>
            <a:endParaRPr lang="en-US" sz="1950" dirty="0"/>
          </a:p>
        </p:txBody>
      </p:sp>
      <p:sp>
        <p:nvSpPr>
          <p:cNvPr id="8" name="Shape 5"/>
          <p:cNvSpPr/>
          <p:nvPr/>
        </p:nvSpPr>
        <p:spPr>
          <a:xfrm>
            <a:off x="1200150" y="5362575"/>
            <a:ext cx="2571750" cy="752475"/>
          </a:xfrm>
          <a:prstGeom prst="roundRect">
            <a:avLst>
              <a:gd name="adj" fmla="val 12658"/>
            </a:avLst>
          </a:prstGeom>
          <a:solidFill>
            <a:srgbClr val="FFF5F0"/>
          </a:solidFill>
          <a:ln/>
        </p:spPr>
      </p:sp>
      <p:sp>
        <p:nvSpPr>
          <p:cNvPr id="9" name="Text 6"/>
          <p:cNvSpPr/>
          <p:nvPr/>
        </p:nvSpPr>
        <p:spPr>
          <a:xfrm>
            <a:off x="1409700" y="5553075"/>
            <a:ext cx="2229803"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B23B17"/>
                </a:solidFill>
                <a:latin typeface="Poppins" pitchFamily="34" charset="0"/>
                <a:ea typeface="Poppins" pitchFamily="34" charset="-122"/>
                <a:cs typeface="Poppins" pitchFamily="34" charset="-120"/>
              </a:rPr>
              <a:t>Practice Tests</a:t>
            </a:r>
            <a:endParaRPr lang="en-US" sz="1950" dirty="0"/>
          </a:p>
        </p:txBody>
      </p:sp>
      <p:sp>
        <p:nvSpPr>
          <p:cNvPr id="10" name="Text 7"/>
          <p:cNvSpPr/>
          <p:nvPr/>
        </p:nvSpPr>
        <p:spPr>
          <a:xfrm>
            <a:off x="1409700" y="6438900"/>
            <a:ext cx="2229803"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Results</a:t>
            </a:r>
            <a:endParaRPr lang="en-US" sz="1950" dirty="0"/>
          </a:p>
        </p:txBody>
      </p:sp>
      <p:sp>
        <p:nvSpPr>
          <p:cNvPr id="11" name="Text 8"/>
          <p:cNvSpPr/>
          <p:nvPr/>
        </p:nvSpPr>
        <p:spPr>
          <a:xfrm>
            <a:off x="1409700" y="7324725"/>
            <a:ext cx="2229803" cy="409575"/>
          </a:xfrm>
          <a:prstGeom prst="rect">
            <a:avLst/>
          </a:prstGeom>
          <a:noFill/>
          <a:ln/>
        </p:spPr>
        <p:txBody>
          <a:bodyPr wrap="square" lIns="25400" tIns="25400" rIns="25400" bIns="25400" rtlCol="0" anchor="t">
            <a:normAutofit/>
          </a:bodyPr>
          <a:lstStyle/>
          <a:p>
            <a:pPr algn="l" indent="0" marL="0">
              <a:buNone/>
            </a:pPr>
            <a:r>
              <a:rPr lang="en-US" sz="1950" dirty="0">
                <a:solidFill>
                  <a:srgbClr val="6A655C"/>
                </a:solidFill>
                <a:latin typeface="Poppins" pitchFamily="34" charset="0"/>
                <a:ea typeface="Poppins" pitchFamily="34" charset="-122"/>
                <a:cs typeface="Poppins" pitchFamily="34" charset="-120"/>
              </a:rPr>
              <a:t>Hands-On Labs</a:t>
            </a:r>
            <a:endParaRPr lang="en-US" sz="1950" dirty="0"/>
          </a:p>
        </p:txBody>
      </p:sp>
      <p:sp>
        <p:nvSpPr>
          <p:cNvPr id="12" name="Shape 9"/>
          <p:cNvSpPr/>
          <p:nvPr/>
        </p:nvSpPr>
        <p:spPr>
          <a:xfrm>
            <a:off x="1200150" y="8020050"/>
            <a:ext cx="2571750" cy="1621036"/>
          </a:xfrm>
          <a:prstGeom prst="roundRect">
            <a:avLst>
              <a:gd name="adj" fmla="val 5876"/>
            </a:avLst>
          </a:prstGeom>
          <a:gradFill rotWithShape="1">
            <a:gsLst>
              <a:gs pos="0">
                <a:srgbClr val="FFF3EE">
                  <a:alpha val="100000"/>
                </a:srgbClr>
              </a:gs>
              <a:gs pos="100000">
                <a:srgbClr val="FFF8EA">
                  <a:alpha val="100000"/>
                </a:srgbClr>
              </a:gs>
            </a:gsLst>
            <a:lin ang="2700000" scaled="0"/>
          </a:gradFill>
          <a:ln w="19050">
            <a:solidFill>
              <a:srgbClr val="FFE7DC"/>
            </a:solidFill>
            <a:prstDash val="solid"/>
          </a:ln>
        </p:spPr>
      </p:sp>
      <p:sp>
        <p:nvSpPr>
          <p:cNvPr id="13" name="Text 10"/>
          <p:cNvSpPr/>
          <p:nvPr/>
        </p:nvSpPr>
        <p:spPr>
          <a:xfrm>
            <a:off x="1466850" y="8286750"/>
            <a:ext cx="2242185" cy="409575"/>
          </a:xfrm>
          <a:prstGeom prst="rect">
            <a:avLst/>
          </a:prstGeom>
          <a:noFill/>
          <a:ln/>
        </p:spPr>
        <p:txBody>
          <a:bodyPr wrap="square" lIns="25400" tIns="25400" rIns="25400" bIns="25400" rtlCol="0" anchor="t">
            <a:normAutofit/>
          </a:bodyPr>
          <a:lstStyle/>
          <a:p>
            <a:pPr algn="l" indent="0" marL="0">
              <a:buNone/>
            </a:pPr>
            <a:r>
              <a:rPr lang="en-US" sz="1950" b="1" dirty="0">
                <a:solidFill>
                  <a:srgbClr val="8C2F14"/>
                </a:solidFill>
                <a:latin typeface="Poppins" pitchFamily="34" charset="0"/>
                <a:ea typeface="Poppins" pitchFamily="34" charset="-122"/>
                <a:cs typeface="Poppins" pitchFamily="34" charset="-120"/>
              </a:rPr>
              <a:t>Exam in 26 days</a:t>
            </a:r>
            <a:endParaRPr lang="en-US" sz="1950" dirty="0"/>
          </a:p>
        </p:txBody>
      </p:sp>
      <p:sp>
        <p:nvSpPr>
          <p:cNvPr id="14" name="Text 11"/>
          <p:cNvSpPr/>
          <p:nvPr/>
        </p:nvSpPr>
        <p:spPr>
          <a:xfrm>
            <a:off x="1466850" y="8734425"/>
            <a:ext cx="2114550" cy="678061"/>
          </a:xfrm>
          <a:prstGeom prst="rect">
            <a:avLst/>
          </a:prstGeom>
          <a:noFill/>
          <a:ln/>
        </p:spPr>
        <p:txBody>
          <a:bodyPr wrap="square" lIns="25400" tIns="25400" rIns="25400" bIns="25400" rtlCol="0" anchor="t">
            <a:normAutofit/>
          </a:bodyPr>
          <a:lstStyle/>
          <a:p>
            <a:pPr algn="l" indent="0" marL="0">
              <a:lnSpc>
                <a:spcPct val="93333"/>
              </a:lnSpc>
              <a:buNone/>
            </a:pPr>
            <a:r>
              <a:rPr lang="en-US" sz="1800" dirty="0">
                <a:solidFill>
                  <a:srgbClr val="B23B17"/>
                </a:solidFill>
                <a:latin typeface="Poppins" pitchFamily="34" charset="0"/>
                <a:ea typeface="Poppins" pitchFamily="34" charset="-122"/>
                <a:cs typeface="Poppins" pitchFamily="34" charset="-120"/>
              </a:rPr>
              <a:t>38% through your readiness plan.</a:t>
            </a:r>
            <a:endParaRPr lang="en-US" sz="1800" dirty="0"/>
          </a:p>
        </p:txBody>
      </p:sp>
      <p:sp>
        <p:nvSpPr>
          <p:cNvPr id="15" name="Shape 12"/>
          <p:cNvSpPr/>
          <p:nvPr/>
        </p:nvSpPr>
        <p:spPr>
          <a:xfrm>
            <a:off x="4019550" y="3467100"/>
            <a:ext cx="13296900" cy="6516886"/>
          </a:xfrm>
          <a:prstGeom prst="rect">
            <a:avLst/>
          </a:prstGeom>
          <a:solidFill>
            <a:srgbClr val="F9F7F4"/>
          </a:solidFill>
          <a:ln/>
        </p:spPr>
      </p:sp>
      <p:sp>
        <p:nvSpPr>
          <p:cNvPr id="16" name="Text 13"/>
          <p:cNvSpPr/>
          <p:nvPr/>
        </p:nvSpPr>
        <p:spPr>
          <a:xfrm>
            <a:off x="4400550" y="3848100"/>
            <a:ext cx="13788390" cy="66675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1A1917"/>
                </a:solidFill>
                <a:latin typeface="Poppins" pitchFamily="34" charset="0"/>
                <a:ea typeface="Poppins" pitchFamily="34" charset="-122"/>
                <a:cs typeface="Poppins" pitchFamily="34" charset="-120"/>
              </a:rPr>
              <a:t>Good morning, Priya</a:t>
            </a:r>
            <a:endParaRPr lang="en-US" sz="3300" dirty="0"/>
          </a:p>
        </p:txBody>
      </p:sp>
      <p:sp>
        <p:nvSpPr>
          <p:cNvPr id="17" name="Shape 14"/>
          <p:cNvSpPr/>
          <p:nvPr/>
        </p:nvSpPr>
        <p:spPr>
          <a:xfrm>
            <a:off x="4400550" y="4781550"/>
            <a:ext cx="4025875" cy="1619250"/>
          </a:xfrm>
          <a:prstGeom prst="roundRect">
            <a:avLst>
              <a:gd name="adj" fmla="val 8235"/>
            </a:avLst>
          </a:prstGeom>
          <a:solidFill>
            <a:srgbClr val="FFFFFF"/>
          </a:solidFill>
          <a:ln w="19050">
            <a:solidFill>
              <a:srgbClr val="EFECE7"/>
            </a:solidFill>
            <a:prstDash val="solid"/>
          </a:ln>
        </p:spPr>
      </p:sp>
      <p:sp>
        <p:nvSpPr>
          <p:cNvPr id="18" name="Text 15"/>
          <p:cNvSpPr/>
          <p:nvPr/>
        </p:nvSpPr>
        <p:spPr>
          <a:xfrm>
            <a:off x="4686300" y="5067300"/>
            <a:ext cx="3799813" cy="666750"/>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1A1917"/>
                </a:solidFill>
                <a:latin typeface="Poppins" pitchFamily="34" charset="0"/>
                <a:ea typeface="Poppins" pitchFamily="34" charset="-122"/>
                <a:cs typeface="Poppins" pitchFamily="34" charset="-120"/>
              </a:rPr>
              <a:t>82%</a:t>
            </a:r>
            <a:endParaRPr lang="en-US" sz="3300" dirty="0"/>
          </a:p>
        </p:txBody>
      </p:sp>
      <p:sp>
        <p:nvSpPr>
          <p:cNvPr id="19" name="Text 16"/>
          <p:cNvSpPr/>
          <p:nvPr/>
        </p:nvSpPr>
        <p:spPr>
          <a:xfrm>
            <a:off x="4686300" y="5772150"/>
            <a:ext cx="379981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Average mock score</a:t>
            </a:r>
            <a:endParaRPr lang="en-US" sz="1800" dirty="0"/>
          </a:p>
        </p:txBody>
      </p:sp>
      <p:sp>
        <p:nvSpPr>
          <p:cNvPr id="20" name="Shape 17"/>
          <p:cNvSpPr/>
          <p:nvPr/>
        </p:nvSpPr>
        <p:spPr>
          <a:xfrm>
            <a:off x="8655025" y="4781550"/>
            <a:ext cx="4025875" cy="1619250"/>
          </a:xfrm>
          <a:prstGeom prst="roundRect">
            <a:avLst>
              <a:gd name="adj" fmla="val 8235"/>
            </a:avLst>
          </a:prstGeom>
          <a:solidFill>
            <a:srgbClr val="FFFFFF"/>
          </a:solidFill>
          <a:ln w="19050">
            <a:solidFill>
              <a:srgbClr val="EFECE7"/>
            </a:solidFill>
            <a:prstDash val="solid"/>
          </a:ln>
        </p:spPr>
      </p:sp>
      <p:sp>
        <p:nvSpPr>
          <p:cNvPr id="21" name="Text 18"/>
          <p:cNvSpPr/>
          <p:nvPr/>
        </p:nvSpPr>
        <p:spPr>
          <a:xfrm>
            <a:off x="8940775" y="5067300"/>
            <a:ext cx="3799813" cy="666750"/>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1A1917"/>
                </a:solidFill>
                <a:latin typeface="Poppins" pitchFamily="34" charset="0"/>
                <a:ea typeface="Poppins" pitchFamily="34" charset="-122"/>
                <a:cs typeface="Poppins" pitchFamily="34" charset="-120"/>
              </a:rPr>
              <a:t>14</a:t>
            </a:r>
            <a:endParaRPr lang="en-US" sz="3300" dirty="0"/>
          </a:p>
        </p:txBody>
      </p:sp>
      <p:sp>
        <p:nvSpPr>
          <p:cNvPr id="22" name="Text 19"/>
          <p:cNvSpPr/>
          <p:nvPr/>
        </p:nvSpPr>
        <p:spPr>
          <a:xfrm>
            <a:off x="8940775" y="5772150"/>
            <a:ext cx="379981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Tests completed</a:t>
            </a:r>
            <a:endParaRPr lang="en-US" sz="1800" dirty="0"/>
          </a:p>
        </p:txBody>
      </p:sp>
      <p:sp>
        <p:nvSpPr>
          <p:cNvPr id="23" name="Shape 20"/>
          <p:cNvSpPr/>
          <p:nvPr/>
        </p:nvSpPr>
        <p:spPr>
          <a:xfrm>
            <a:off x="12909500" y="4781550"/>
            <a:ext cx="4025875" cy="1619250"/>
          </a:xfrm>
          <a:prstGeom prst="roundRect">
            <a:avLst>
              <a:gd name="adj" fmla="val 8235"/>
            </a:avLst>
          </a:prstGeom>
          <a:solidFill>
            <a:srgbClr val="FFFFFF"/>
          </a:solidFill>
          <a:ln w="19050">
            <a:solidFill>
              <a:srgbClr val="EFECE7"/>
            </a:solidFill>
            <a:prstDash val="solid"/>
          </a:ln>
        </p:spPr>
      </p:sp>
      <p:sp>
        <p:nvSpPr>
          <p:cNvPr id="24" name="Text 21"/>
          <p:cNvSpPr/>
          <p:nvPr/>
        </p:nvSpPr>
        <p:spPr>
          <a:xfrm>
            <a:off x="13195250" y="5067300"/>
            <a:ext cx="3799813" cy="666750"/>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1A1917"/>
                </a:solidFill>
                <a:latin typeface="Poppins" pitchFamily="34" charset="0"/>
                <a:ea typeface="Poppins" pitchFamily="34" charset="-122"/>
                <a:cs typeface="Poppins" pitchFamily="34" charset="-120"/>
              </a:rPr>
              <a:t>26d</a:t>
            </a:r>
            <a:endParaRPr lang="en-US" sz="3300" dirty="0"/>
          </a:p>
        </p:txBody>
      </p:sp>
      <p:sp>
        <p:nvSpPr>
          <p:cNvPr id="25" name="Text 22"/>
          <p:cNvSpPr/>
          <p:nvPr/>
        </p:nvSpPr>
        <p:spPr>
          <a:xfrm>
            <a:off x="13195250" y="5772150"/>
            <a:ext cx="3799813" cy="381000"/>
          </a:xfrm>
          <a:prstGeom prst="rect">
            <a:avLst/>
          </a:prstGeom>
          <a:noFill/>
          <a:ln/>
        </p:spPr>
        <p:txBody>
          <a:bodyPr wrap="square" lIns="25400" tIns="25400" rIns="25400" bIns="25400" rtlCol="0" anchor="t">
            <a:normAutofit/>
          </a:bodyPr>
          <a:lstStyle/>
          <a:p>
            <a:pPr algn="l" indent="0" marL="0">
              <a:buNone/>
            </a:pPr>
            <a:r>
              <a:rPr lang="en-US" sz="1800" dirty="0">
                <a:solidFill>
                  <a:srgbClr val="6A655C"/>
                </a:solidFill>
                <a:latin typeface="Poppins" pitchFamily="34" charset="0"/>
                <a:ea typeface="Poppins" pitchFamily="34" charset="-122"/>
                <a:cs typeface="Poppins" pitchFamily="34" charset="-120"/>
              </a:rPr>
              <a:t>Until exam day</a:t>
            </a:r>
            <a:endParaRPr lang="en-US" sz="1800" dirty="0"/>
          </a:p>
        </p:txBody>
      </p:sp>
      <p:sp>
        <p:nvSpPr>
          <p:cNvPr id="26" name="Shape 23"/>
          <p:cNvSpPr/>
          <p:nvPr/>
        </p:nvSpPr>
        <p:spPr>
          <a:xfrm>
            <a:off x="4400550" y="6705600"/>
            <a:ext cx="12534900" cy="2181225"/>
          </a:xfrm>
          <a:prstGeom prst="roundRect">
            <a:avLst>
              <a:gd name="adj" fmla="val 6114"/>
            </a:avLst>
          </a:prstGeom>
          <a:solidFill>
            <a:srgbClr val="FFFFFF"/>
          </a:solidFill>
          <a:ln w="19050">
            <a:solidFill>
              <a:srgbClr val="EFECE7"/>
            </a:solidFill>
            <a:prstDash val="solid"/>
          </a:ln>
        </p:spPr>
      </p:sp>
      <p:sp>
        <p:nvSpPr>
          <p:cNvPr id="27" name="Text 24"/>
          <p:cNvSpPr/>
          <p:nvPr/>
        </p:nvSpPr>
        <p:spPr>
          <a:xfrm>
            <a:off x="4724400" y="7029450"/>
            <a:ext cx="13075920" cy="466725"/>
          </a:xfrm>
          <a:prstGeom prst="rect">
            <a:avLst/>
          </a:prstGeom>
          <a:noFill/>
          <a:ln/>
        </p:spPr>
        <p:txBody>
          <a:bodyPr wrap="square" lIns="25400" tIns="25400" rIns="25400" bIns="25400" rtlCol="0" anchor="t">
            <a:normAutofit/>
          </a:bodyPr>
          <a:lstStyle/>
          <a:p>
            <a:pPr algn="l" indent="0" marL="0">
              <a:buNone/>
            </a:pPr>
            <a:r>
              <a:rPr lang="en-US" sz="2250" b="1" dirty="0">
                <a:solidFill>
                  <a:srgbClr val="1A1917"/>
                </a:solidFill>
                <a:latin typeface="Poppins" pitchFamily="34" charset="0"/>
                <a:ea typeface="Poppins" pitchFamily="34" charset="-122"/>
                <a:cs typeface="Poppins" pitchFamily="34" charset="-120"/>
              </a:rPr>
              <a:t>Continue where you left off</a:t>
            </a:r>
            <a:endParaRPr lang="en-US" sz="2250" dirty="0"/>
          </a:p>
        </p:txBody>
      </p:sp>
      <p:sp>
        <p:nvSpPr>
          <p:cNvPr id="28" name="Shape 25"/>
          <p:cNvSpPr/>
          <p:nvPr/>
        </p:nvSpPr>
        <p:spPr>
          <a:xfrm>
            <a:off x="4724400" y="7686675"/>
            <a:ext cx="11887200" cy="876300"/>
          </a:xfrm>
          <a:prstGeom prst="roundRect">
            <a:avLst>
              <a:gd name="adj" fmla="val 10870"/>
            </a:avLst>
          </a:prstGeom>
          <a:solidFill>
            <a:srgbClr val="FFF5F0"/>
          </a:solidFill>
          <a:ln w="19050">
            <a:solidFill>
              <a:srgbClr val="FCA781"/>
            </a:solidFill>
            <a:prstDash val="solid"/>
          </a:ln>
        </p:spPr>
      </p:sp>
      <p:sp>
        <p:nvSpPr>
          <p:cNvPr id="29" name="Shape 26"/>
          <p:cNvSpPr/>
          <p:nvPr/>
        </p:nvSpPr>
        <p:spPr>
          <a:xfrm>
            <a:off x="4972050" y="7915275"/>
            <a:ext cx="419100" cy="419100"/>
          </a:xfrm>
          <a:prstGeom prst="ellipse">
            <a:avLst/>
          </a:prstGeom>
          <a:gradFill rotWithShape="1">
            <a:gsLst>
              <a:gs pos="0">
                <a:srgbClr val="E8402B">
                  <a:alpha val="100000"/>
                </a:srgbClr>
              </a:gs>
              <a:gs pos="52000">
                <a:srgbClr val="F0602A">
                  <a:alpha val="100000"/>
                </a:srgbClr>
              </a:gs>
              <a:gs pos="100000">
                <a:srgbClr val="F78B20">
                  <a:alpha val="100000"/>
                </a:srgbClr>
              </a:gs>
            </a:gsLst>
            <a:lin ang="2700000" scaled="0"/>
          </a:gradFill>
          <a:ln/>
        </p:spPr>
      </p:sp>
      <p:sp>
        <p:nvSpPr>
          <p:cNvPr id="30" name="Text 27"/>
          <p:cNvSpPr/>
          <p:nvPr/>
        </p:nvSpPr>
        <p:spPr>
          <a:xfrm>
            <a:off x="4933950" y="7915275"/>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Poppins" pitchFamily="34" charset="0"/>
                <a:ea typeface="Poppins" pitchFamily="34" charset="-122"/>
                <a:cs typeface="Poppins" pitchFamily="34" charset="-120"/>
              </a:rPr>
              <a:t>4</a:t>
            </a:r>
            <a:endParaRPr lang="en-US" sz="1800" dirty="0"/>
          </a:p>
        </p:txBody>
      </p:sp>
      <p:sp>
        <p:nvSpPr>
          <p:cNvPr id="31" name="Text 28"/>
          <p:cNvSpPr/>
          <p:nvPr/>
        </p:nvSpPr>
        <p:spPr>
          <a:xfrm>
            <a:off x="5581650" y="7922419"/>
            <a:ext cx="10670270" cy="442913"/>
          </a:xfrm>
          <a:prstGeom prst="rect">
            <a:avLst/>
          </a:prstGeom>
          <a:noFill/>
          <a:ln/>
        </p:spPr>
        <p:txBody>
          <a:bodyPr wrap="square" lIns="25400" tIns="25400" rIns="25400" bIns="25400" rtlCol="0" anchor="t">
            <a:normAutofit/>
          </a:bodyPr>
          <a:lstStyle/>
          <a:p>
            <a:pPr algn="l" indent="0" marL="0">
              <a:buNone/>
            </a:pPr>
            <a:r>
              <a:rPr lang="en-US" sz="2100" b="1" dirty="0">
                <a:solidFill>
                  <a:srgbClr val="1A1917"/>
                </a:solidFill>
                <a:latin typeface="Poppins" pitchFamily="34" charset="0"/>
                <a:ea typeface="Poppins" pitchFamily="34" charset="-122"/>
                <a:cs typeface="Poppins" pitchFamily="34" charset="-120"/>
              </a:rPr>
              <a:t>Full-length mock 2</a:t>
            </a:r>
            <a:endParaRPr lang="en-US" sz="2100" dirty="0"/>
          </a:p>
        </p:txBody>
      </p:sp>
      <p:sp>
        <p:nvSpPr>
          <p:cNvPr id="32" name="Text 29"/>
          <p:cNvSpPr/>
          <p:nvPr/>
        </p:nvSpPr>
        <p:spPr>
          <a:xfrm>
            <a:off x="15472395" y="7965281"/>
            <a:ext cx="96775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8A847A"/>
                </a:solidFill>
                <a:latin typeface="IBM Plex Mono" pitchFamily="34" charset="0"/>
                <a:ea typeface="IBM Plex Mono" pitchFamily="34" charset="-122"/>
                <a:cs typeface="IBM Plex Mono" pitchFamily="34" charset="-120"/>
              </a:rPr>
              <a:t>130:00</a:t>
            </a:r>
            <a:endParaRPr lang="en-US" sz="1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9F7F4"/>
        </a:solidFill>
      </p:bgPr>
    </p:bg>
    <p:spTree>
      <p:nvGrpSpPr>
        <p:cNvPr id="1" name=""/>
        <p:cNvGrpSpPr/>
        <p:nvPr/>
      </p:nvGrpSpPr>
      <p:grpSpPr>
        <a:xfrm>
          <a:off x="0" y="0"/>
          <a:ext cx="0" cy="0"/>
          <a:chOff x="0" y="0"/>
          <a:chExt cx="0" cy="0"/>
        </a:xfrm>
      </p:grpSpPr>
      <p:sp>
        <p:nvSpPr>
          <p:cNvPr id="2" name="Text 0"/>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A1917"/>
                </a:solidFill>
                <a:latin typeface="Poppins" pitchFamily="34" charset="0"/>
                <a:ea typeface="Poppins" pitchFamily="34" charset="-122"/>
                <a:cs typeface="Poppins" pitchFamily="34" charset="-120"/>
              </a:rPr>
              <a:t>Iconography</a:t>
            </a:r>
            <a:endParaRPr lang="en-US" sz="4800" dirty="0"/>
          </a:p>
        </p:txBody>
      </p:sp>
      <p:sp>
        <p:nvSpPr>
          <p:cNvPr id="3" name="Text 1"/>
          <p:cNvSpPr/>
          <p:nvPr/>
        </p:nvSpPr>
        <p:spPr>
          <a:xfrm>
            <a:off x="952500" y="2019300"/>
            <a:ext cx="12328510" cy="1019175"/>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Lucide at 2px stroke, routed through a single </a:t>
            </a:r>
            <a:pPr algn="l" indent="0" marL="0">
              <a:lnSpc>
                <a:spcPct val="100000"/>
              </a:lnSpc>
              <a:buNone/>
            </a:pPr>
            <a:r>
              <a:rPr lang="en-US" sz="2550" dirty="0">
                <a:solidFill>
                  <a:srgbClr val="4E4A43"/>
                </a:solidFill>
                <a:latin typeface="IBM Plex Mono" pitchFamily="34" charset="0"/>
                <a:ea typeface="IBM Plex Mono" pitchFamily="34" charset="-122"/>
                <a:cs typeface="IBM Plex Mono" pitchFamily="34" charset="-120"/>
              </a:rPr>
              <a:t>Icon </a:t>
            </a:r>
            <a:pPr algn="l" indent="0" marL="0">
              <a:lnSpc>
                <a:spcPct val="100000"/>
              </a:lnSpc>
              <a:buNone/>
            </a:pPr>
            <a:r>
              <a:rPr lang="en-US" sz="2550" dirty="0">
                <a:solidFill>
                  <a:srgbClr val="4E4A43"/>
                </a:solidFill>
                <a:latin typeface="Poppins" pitchFamily="34" charset="0"/>
                <a:ea typeface="Poppins" pitchFamily="34" charset="-122"/>
                <a:cs typeface="Poppins" pitchFamily="34" charset="-120"/>
              </a:rPr>
              <a:t>component. Sizes 16 to 24. No emoji, anywhere.</a:t>
            </a:r>
            <a:endParaRPr lang="en-US" sz="2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571875"/>
            <a:ext cx="533400" cy="533400"/>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81200" y="3571875"/>
            <a:ext cx="533400" cy="533400"/>
          </a:xfrm>
          <a:prstGeom prst="rect">
            <a:avLst/>
          </a:prstGeom>
        </p:spPr>
      </p:pic>
      <p:pic>
        <p:nvPicPr>
          <p:cNvPr id="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9900" y="3571875"/>
            <a:ext cx="533400" cy="533400"/>
          </a:xfrm>
          <a:prstGeom prst="rect">
            <a:avLst/>
          </a:prstGeom>
        </p:spPr>
      </p:pic>
      <p:pic>
        <p:nvPicPr>
          <p:cNvPr id="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38600" y="3571875"/>
            <a:ext cx="533400" cy="533400"/>
          </a:xfrm>
          <a:prstGeom prst="rect">
            <a:avLst/>
          </a:prstGeom>
        </p:spPr>
      </p:pic>
      <p:pic>
        <p:nvPicPr>
          <p:cNvPr id="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67300" y="3571875"/>
            <a:ext cx="533400" cy="533400"/>
          </a:xfrm>
          <a:prstGeom prst="rect">
            <a:avLst/>
          </a:prstGeom>
        </p:spPr>
      </p:pic>
      <p:pic>
        <p:nvPicPr>
          <p:cNvPr id="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6000" y="3571875"/>
            <a:ext cx="533400" cy="533400"/>
          </a:xfrm>
          <a:prstGeom prst="rect">
            <a:avLst/>
          </a:prstGeom>
        </p:spPr>
      </p:pic>
      <p:pic>
        <p:nvPicPr>
          <p:cNvPr id="1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124700" y="3571875"/>
            <a:ext cx="533400" cy="533400"/>
          </a:xfrm>
          <a:prstGeom prst="rect">
            <a:avLst/>
          </a:prstGeom>
        </p:spPr>
      </p:pic>
      <p:pic>
        <p:nvPicPr>
          <p:cNvPr id="1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153400" y="3571875"/>
            <a:ext cx="533400" cy="533400"/>
          </a:xfrm>
          <a:prstGeom prst="rect">
            <a:avLst/>
          </a:prstGeom>
        </p:spPr>
      </p:pic>
      <p:pic>
        <p:nvPicPr>
          <p:cNvPr id="12"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182100" y="3571875"/>
            <a:ext cx="533400" cy="533400"/>
          </a:xfrm>
          <a:prstGeom prst="rect">
            <a:avLst/>
          </a:prstGeom>
        </p:spPr>
      </p:pic>
      <p:pic>
        <p:nvPicPr>
          <p:cNvPr id="13"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210800" y="3571875"/>
            <a:ext cx="533400" cy="533400"/>
          </a:xfrm>
          <a:prstGeom prst="rect">
            <a:avLst/>
          </a:prstGeom>
        </p:spPr>
      </p:pic>
      <p:pic>
        <p:nvPicPr>
          <p:cNvPr id="14"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239500" y="3571875"/>
            <a:ext cx="533400" cy="533400"/>
          </a:xfrm>
          <a:prstGeom prst="rect">
            <a:avLst/>
          </a:prstGeom>
        </p:spPr>
      </p:pic>
      <p:pic>
        <p:nvPicPr>
          <p:cNvPr id="15"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268200" y="3571875"/>
            <a:ext cx="533400" cy="533400"/>
          </a:xfrm>
          <a:prstGeom prst="rect">
            <a:avLst/>
          </a:prstGeom>
        </p:spPr>
      </p:pic>
      <p:pic>
        <p:nvPicPr>
          <p:cNvPr id="16"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3296900" y="3571875"/>
            <a:ext cx="533400" cy="533400"/>
          </a:xfrm>
          <a:prstGeom prst="rect">
            <a:avLst/>
          </a:prstGeom>
        </p:spPr>
      </p:pic>
      <p:pic>
        <p:nvPicPr>
          <p:cNvPr id="17"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4325600" y="3571875"/>
            <a:ext cx="533400" cy="533400"/>
          </a:xfrm>
          <a:prstGeom prst="rect">
            <a:avLst/>
          </a:prstGeom>
        </p:spPr>
      </p:pic>
      <p:sp>
        <p:nvSpPr>
          <p:cNvPr id="18" name="Shape 2"/>
          <p:cNvSpPr/>
          <p:nvPr/>
        </p:nvSpPr>
        <p:spPr>
          <a:xfrm>
            <a:off x="952500" y="4638675"/>
            <a:ext cx="12561540" cy="19050"/>
          </a:xfrm>
          <a:prstGeom prst="rect">
            <a:avLst/>
          </a:prstGeom>
          <a:solidFill>
            <a:srgbClr val="E2DED7"/>
          </a:solidFill>
          <a:ln/>
        </p:spPr>
      </p:sp>
      <p:sp>
        <p:nvSpPr>
          <p:cNvPr id="19" name="Text 3"/>
          <p:cNvSpPr/>
          <p:nvPr/>
        </p:nvSpPr>
        <p:spPr>
          <a:xfrm>
            <a:off x="952500" y="5000625"/>
            <a:ext cx="12938386" cy="952500"/>
          </a:xfrm>
          <a:prstGeom prst="rect">
            <a:avLst/>
          </a:prstGeom>
          <a:noFill/>
          <a:ln/>
        </p:spPr>
        <p:txBody>
          <a:bodyPr wrap="square" lIns="25400" tIns="25400" rIns="25400" bIns="25400" rtlCol="0" anchor="t">
            <a:normAutofit/>
          </a:bodyPr>
          <a:lstStyle/>
          <a:p>
            <a:pPr algn="l" indent="0" marL="0">
              <a:lnSpc>
                <a:spcPct val="106667"/>
              </a:lnSpc>
              <a:buNone/>
            </a:pPr>
            <a:r>
              <a:rPr lang="en-US" sz="2250" dirty="0">
                <a:solidFill>
                  <a:srgbClr val="6A655C"/>
                </a:solidFill>
                <a:latin typeface="Poppins" pitchFamily="34" charset="0"/>
                <a:ea typeface="Poppins" pitchFamily="34" charset="-122"/>
                <a:cs typeface="Poppins" pitchFamily="34" charset="-120"/>
              </a:rPr>
              <a:t>This is a documented substitution — no Whizlabs icon set was supplied. Send the real set and it swaps in behind the same component.</a:t>
            </a:r>
            <a:endParaRPr lang="en-US" sz="2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917"/>
        </a:solidFill>
      </p:bgPr>
    </p:bg>
    <p:spTree>
      <p:nvGrpSpPr>
        <p:cNvPr id="1" name=""/>
        <p:cNvGrpSpPr/>
        <p:nvPr/>
      </p:nvGrpSpPr>
      <p:grpSpPr>
        <a:xfrm>
          <a:off x="0" y="0"/>
          <a:ext cx="0" cy="0"/>
          <a:chOff x="0" y="0"/>
          <a:chExt cx="0" cy="0"/>
        </a:xfrm>
      </p:grpSpPr>
      <p:sp>
        <p:nvSpPr>
          <p:cNvPr id="2" name="Shape 0"/>
          <p:cNvSpPr/>
          <p:nvPr/>
        </p:nvSpPr>
        <p:spPr>
          <a:xfrm>
            <a:off x="0" y="10191750"/>
            <a:ext cx="18288000" cy="95250"/>
          </a:xfrm>
          <a:prstGeom prst="rect">
            <a:avLst/>
          </a:prstGeom>
          <a:gradFill rotWithShape="1">
            <a:gsLst>
              <a:gs pos="0">
                <a:srgbClr val="E8402B">
                  <a:alpha val="100000"/>
                </a:srgbClr>
              </a:gs>
              <a:gs pos="52000">
                <a:srgbClr val="F0602A">
                  <a:alpha val="100000"/>
                </a:srgbClr>
              </a:gs>
              <a:gs pos="100000">
                <a:srgbClr val="F78B20">
                  <a:alpha val="100000"/>
                </a:srgbClr>
              </a:gs>
            </a:gsLst>
            <a:lin ang="0" scaled="0"/>
          </a:gradFill>
          <a:ln/>
        </p:spPr>
      </p:sp>
      <p:sp>
        <p:nvSpPr>
          <p:cNvPr id="3" name="Text 1"/>
          <p:cNvSpPr/>
          <p:nvPr/>
        </p:nvSpPr>
        <p:spPr>
          <a:xfrm>
            <a:off x="952500" y="952500"/>
            <a:ext cx="18021300" cy="9525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FFFFF"/>
                </a:solidFill>
                <a:latin typeface="Poppins" pitchFamily="34" charset="0"/>
                <a:ea typeface="Poppins" pitchFamily="34" charset="-122"/>
                <a:cs typeface="Poppins" pitchFamily="34" charset="-120"/>
              </a:rPr>
              <a:t>Open items</a:t>
            </a:r>
            <a:endParaRPr lang="en-US" sz="4800" dirty="0"/>
          </a:p>
        </p:txBody>
      </p:sp>
      <p:sp>
        <p:nvSpPr>
          <p:cNvPr id="4" name="Shape 2"/>
          <p:cNvSpPr/>
          <p:nvPr/>
        </p:nvSpPr>
        <p:spPr>
          <a:xfrm>
            <a:off x="952500" y="4008165"/>
            <a:ext cx="5105400" cy="19050"/>
          </a:xfrm>
          <a:prstGeom prst="rect">
            <a:avLst/>
          </a:prstGeom>
          <a:solidFill>
            <a:srgbClr val="4E4A43"/>
          </a:solidFill>
          <a:ln/>
        </p:spPr>
      </p:sp>
      <p:sp>
        <p:nvSpPr>
          <p:cNvPr id="5" name="Text 3"/>
          <p:cNvSpPr/>
          <p:nvPr/>
        </p:nvSpPr>
        <p:spPr>
          <a:xfrm>
            <a:off x="952500" y="4293915"/>
            <a:ext cx="561594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The mono</a:t>
            </a:r>
            <a:endParaRPr lang="en-US" sz="2700" dirty="0"/>
          </a:p>
        </p:txBody>
      </p:sp>
      <p:sp>
        <p:nvSpPr>
          <p:cNvPr id="6" name="Text 4"/>
          <p:cNvSpPr/>
          <p:nvPr/>
        </p:nvSpPr>
        <p:spPr>
          <a:xfrm>
            <a:off x="952500" y="4941615"/>
            <a:ext cx="5258562" cy="89148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IBM Plex Mono is a proposal. Confirm it, replace it, or drop it for Poppins.</a:t>
            </a:r>
            <a:endParaRPr lang="en-US" sz="2100" dirty="0"/>
          </a:p>
        </p:txBody>
      </p:sp>
      <p:sp>
        <p:nvSpPr>
          <p:cNvPr id="7" name="Shape 5"/>
          <p:cNvSpPr/>
          <p:nvPr/>
        </p:nvSpPr>
        <p:spPr>
          <a:xfrm>
            <a:off x="6591300" y="4008165"/>
            <a:ext cx="5105400" cy="19050"/>
          </a:xfrm>
          <a:prstGeom prst="rect">
            <a:avLst/>
          </a:prstGeom>
          <a:solidFill>
            <a:srgbClr val="4E4A43"/>
          </a:solidFill>
          <a:ln/>
        </p:spPr>
      </p:sp>
      <p:sp>
        <p:nvSpPr>
          <p:cNvPr id="8" name="Text 6"/>
          <p:cNvSpPr/>
          <p:nvPr/>
        </p:nvSpPr>
        <p:spPr>
          <a:xfrm>
            <a:off x="6591300" y="4293915"/>
            <a:ext cx="561594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The icon set</a:t>
            </a:r>
            <a:endParaRPr lang="en-US" sz="2700" dirty="0"/>
          </a:p>
        </p:txBody>
      </p:sp>
      <p:sp>
        <p:nvSpPr>
          <p:cNvPr id="9" name="Text 7"/>
          <p:cNvSpPr/>
          <p:nvPr/>
        </p:nvSpPr>
        <p:spPr>
          <a:xfrm>
            <a:off x="6591300" y="4941615"/>
            <a:ext cx="5258562" cy="891480"/>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Lucide stands in until the real SVG sprite or font arrives.</a:t>
            </a:r>
            <a:endParaRPr lang="en-US" sz="2100" dirty="0"/>
          </a:p>
        </p:txBody>
      </p:sp>
      <p:sp>
        <p:nvSpPr>
          <p:cNvPr id="10" name="Shape 8"/>
          <p:cNvSpPr/>
          <p:nvPr/>
        </p:nvSpPr>
        <p:spPr>
          <a:xfrm>
            <a:off x="12230100" y="4008165"/>
            <a:ext cx="5105400" cy="19050"/>
          </a:xfrm>
          <a:prstGeom prst="rect">
            <a:avLst/>
          </a:prstGeom>
          <a:solidFill>
            <a:srgbClr val="4E4A43"/>
          </a:solidFill>
          <a:ln/>
        </p:spPr>
      </p:sp>
      <p:sp>
        <p:nvSpPr>
          <p:cNvPr id="11" name="Text 9"/>
          <p:cNvSpPr/>
          <p:nvPr/>
        </p:nvSpPr>
        <p:spPr>
          <a:xfrm>
            <a:off x="12230100" y="4293915"/>
            <a:ext cx="5615940" cy="552450"/>
          </a:xfrm>
          <a:prstGeom prst="rect">
            <a:avLst/>
          </a:prstGeom>
          <a:noFill/>
          <a:ln/>
        </p:spPr>
        <p:txBody>
          <a:bodyPr wrap="square" lIns="25400" tIns="25400" rIns="25400" bIns="25400" rtlCol="0" anchor="t">
            <a:normAutofit/>
          </a:bodyPr>
          <a:lstStyle/>
          <a:p>
            <a:pPr algn="l" indent="0" marL="0">
              <a:buNone/>
            </a:pPr>
            <a:r>
              <a:rPr lang="en-US" sz="2700" b="1" dirty="0">
                <a:solidFill>
                  <a:srgbClr val="FFFFFF"/>
                </a:solidFill>
                <a:latin typeface="Poppins" pitchFamily="34" charset="0"/>
                <a:ea typeface="Poppins" pitchFamily="34" charset="-122"/>
                <a:cs typeface="Poppins" pitchFamily="34" charset="-120"/>
              </a:rPr>
              <a:t>The screens</a:t>
            </a:r>
            <a:endParaRPr lang="en-US" sz="2700" dirty="0"/>
          </a:p>
        </p:txBody>
      </p:sp>
      <p:sp>
        <p:nvSpPr>
          <p:cNvPr id="12" name="Text 10"/>
          <p:cNvSpPr/>
          <p:nvPr/>
        </p:nvSpPr>
        <p:spPr>
          <a:xfrm>
            <a:off x="12230100" y="4941615"/>
            <a:ext cx="5258562" cy="1318171"/>
          </a:xfrm>
          <a:prstGeom prst="rect">
            <a:avLst/>
          </a:prstGeom>
          <a:noFill/>
          <a:ln/>
        </p:spPr>
        <p:txBody>
          <a:bodyPr wrap="square" lIns="25400" tIns="25400" rIns="25400" bIns="25400" rtlCol="0" anchor="t">
            <a:normAutofit/>
          </a:bodyPr>
          <a:lstStyle/>
          <a:p>
            <a:pPr algn="l" indent="0" marL="0">
              <a:lnSpc>
                <a:spcPct val="105412"/>
              </a:lnSpc>
              <a:buNone/>
            </a:pPr>
            <a:r>
              <a:rPr lang="en-US" sz="2100" dirty="0">
                <a:solidFill>
                  <a:srgbClr val="ACA69C"/>
                </a:solidFill>
                <a:latin typeface="Poppins" pitchFamily="34" charset="0"/>
                <a:ea typeface="Poppins" pitchFamily="34" charset="-122"/>
                <a:cs typeface="Poppins" pitchFamily="34" charset="-120"/>
              </a:rPr>
              <a:t>Both UI kits are reasoned reconstructions. Real screens or Figma make them accurate.</a:t>
            </a:r>
            <a:endParaRPr lang="en-US" sz="2100" dirty="0"/>
          </a:p>
        </p:txBody>
      </p:sp>
      <p:sp>
        <p:nvSpPr>
          <p:cNvPr id="13" name="Text 11"/>
          <p:cNvSpPr/>
          <p:nvPr/>
        </p:nvSpPr>
        <p:spPr>
          <a:xfrm>
            <a:off x="952500" y="8362950"/>
            <a:ext cx="13150467" cy="1009650"/>
          </a:xfrm>
          <a:prstGeom prst="rect">
            <a:avLst/>
          </a:prstGeom>
          <a:noFill/>
          <a:ln/>
        </p:spPr>
        <p:txBody>
          <a:bodyPr wrap="square" lIns="25400" tIns="25400" rIns="25400" bIns="25400" rtlCol="0" anchor="t">
            <a:normAutofit/>
          </a:bodyPr>
          <a:lstStyle/>
          <a:p>
            <a:pPr algn="l" indent="0" marL="0">
              <a:lnSpc>
                <a:spcPct val="100000"/>
              </a:lnSpc>
              <a:buNone/>
            </a:pPr>
            <a:r>
              <a:rPr lang="en-US" sz="2550" dirty="0">
                <a:solidFill>
                  <a:srgbClr val="CBC6BD"/>
                </a:solidFill>
                <a:latin typeface="Poppins" pitchFamily="34" charset="0"/>
                <a:ea typeface="Poppins" pitchFamily="34" charset="-122"/>
                <a:cs typeface="Poppins" pitchFamily="34" charset="-120"/>
              </a:rPr>
              <a:t>The logo, the gradient's three stops and Poppins are confirmed and exact. Everything else is a first draft built to be corrected.</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2026-08-20T03:37:27Z</dcterms:created>
  <dcterms:modified xsi:type="dcterms:W3CDTF">2026-08-20T03:37:27Z</dcterms:modified>
</cp:coreProperties>
</file>